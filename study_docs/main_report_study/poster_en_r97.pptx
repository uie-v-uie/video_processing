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54E7D10-CC6E-4DB2-821B-34736D3EF13B}"/>
              </a:ext>
            </a:extLst>
          </p:cNvPr>
          <p:cNvSpPr/>
          <p:nvPr/>
        </p:nvSpPr>
        <p:spPr>
          <a:xfrm>
            <a:off x="9048750" y="247650"/>
            <a:ext cx="1409700" cy="876300"/>
          </a:xfrm>
          <a:prstGeom prst="rect">
            <a:avLst/>
          </a:prstGeom>
          <a:solidFill>
            <a:srgbClr val="DCE6F2"/>
          </a:solidFill>
          <a:ln w="12700">
            <a:solidFill>
              <a:srgbClr val="B4C4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6515AE8-C11F-42D7-A6C1-5A723A136EA6}"/>
              </a:ext>
            </a:extLst>
          </p:cNvPr>
          <p:cNvSpPr/>
          <p:nvPr/>
        </p:nvSpPr>
        <p:spPr>
          <a:xfrm>
            <a:off x="10496550" y="247650"/>
            <a:ext cx="1409700" cy="876300"/>
          </a:xfrm>
          <a:prstGeom prst="rect">
            <a:avLst/>
          </a:prstGeom>
          <a:solidFill>
            <a:srgbClr val="F7DFCE"/>
          </a:solidFill>
          <a:ln w="12700">
            <a:solidFill>
              <a:srgbClr val="DDB695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2E7290B-9D5B-4831-AAE7-1B7CB9249BB4}"/>
              </a:ext>
            </a:extLst>
          </p:cNvPr>
          <p:cNvSpPr/>
          <p:nvPr/>
        </p:nvSpPr>
        <p:spPr>
          <a:xfrm>
            <a:off x="10429875" y="247650"/>
            <a:ext cx="47625" cy="876300"/>
          </a:xfrm>
          <a:prstGeom prst="rect">
            <a:avLst/>
          </a:prstGeom>
          <a:solidFill>
            <a:srgbClr val="C2410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23CDC2D-1761-4EDA-A5BB-2FE8CB71CB0B}"/>
              </a:ext>
            </a:extLst>
          </p:cNvPr>
          <p:cNvSpPr/>
          <p:nvPr/>
        </p:nvSpPr>
        <p:spPr>
          <a:xfrm>
            <a:off x="381000" y="1924050"/>
            <a:ext cx="11430000" cy="64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E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ED193DF-6078-46CC-BA95-217DBA2CDAEE}"/>
              </a:ext>
            </a:extLst>
          </p:cNvPr>
          <p:cNvSpPr/>
          <p:nvPr/>
        </p:nvSpPr>
        <p:spPr>
          <a:xfrm>
            <a:off x="381000" y="2705100"/>
            <a:ext cx="6324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E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B736B06-720F-4784-8BD4-3BB864BB8545}"/>
              </a:ext>
            </a:extLst>
          </p:cNvPr>
          <p:cNvSpPr/>
          <p:nvPr/>
        </p:nvSpPr>
        <p:spPr>
          <a:xfrm>
            <a:off x="6896100" y="2705100"/>
            <a:ext cx="49149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E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9852279-0A7B-4FFB-90C9-0E1E1B555C90}"/>
              </a:ext>
            </a:extLst>
          </p:cNvPr>
          <p:cNvSpPr/>
          <p:nvPr/>
        </p:nvSpPr>
        <p:spPr>
          <a:xfrm>
            <a:off x="381000" y="5581650"/>
            <a:ext cx="11430000" cy="7048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E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898D8E-AD8E-4CA0-861C-937C0B5015D0}"/>
              </a:ext>
            </a:extLst>
          </p:cNvPr>
          <p:cNvSpPr txBox="1"/>
          <p:nvPr/>
        </p:nvSpPr>
        <p:spPr>
          <a:xfrm>
            <a:off x="381000" y="228600"/>
            <a:ext cx="8382000" cy="876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2300" b="1">
                <a:solidFill>
                  <a:srgbClr val="15243A"/>
                </a:solidFill>
                <a:latin typeface="Arial"/>
                <a:ea typeface="Arial"/>
              </a:rPr>
              <a:t>Same-Frame Pixel-Level A/B Display: turning the picture itself into an instrument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84D6BC8-54A4-4CE8-B2EC-8A5738CCF509}"/>
              </a:ext>
            </a:extLst>
          </p:cNvPr>
          <p:cNvSpPr txBox="1"/>
          <p:nvPr/>
        </p:nvSpPr>
        <p:spPr>
          <a:xfrm>
            <a:off x="381000" y="1162050"/>
            <a:ext cx="8477250" cy="647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950">
                <a:solidFill>
                  <a:srgbClr val="33455C"/>
                </a:solidFill>
                <a:latin typeface="Arial"/>
                <a:ea typeface="Arial"/>
              </a:rPr>
              <a:t>A Zynq-7020 SoC takes 512×300 video over GbE, an SD card or its own generated pattern, runs geometry and a nine-stage effect chain entirely in the PL, and drives 1024×600 HDMI where everything left of an adjustable seam is the unprocessed frame and everything right is the processed one - same read address, same clock cycle, same column.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7C2E841-F179-4578-BD94-FB8B1F842AC6}"/>
              </a:ext>
            </a:extLst>
          </p:cNvPr>
          <p:cNvSpPr txBox="1"/>
          <p:nvPr/>
        </p:nvSpPr>
        <p:spPr>
          <a:xfrm>
            <a:off x="9048750" y="1181100"/>
            <a:ext cx="28194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850">
                <a:solidFill>
                  <a:srgbClr val="33455C"/>
                </a:solidFill>
                <a:latin typeface="Arial"/>
                <a:ea typeface="Arial"/>
              </a:rPr>
              <a:t>One scanline, two taps. Seam position is a control bit, not a second stream.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50" b="1">
                <a:solidFill>
                  <a:srgbClr val="1F5FA8"/>
                </a:solidFill>
                <a:latin typeface="Arial"/>
                <a:ea typeface="Arial"/>
              </a:rPr>
              <a:t>Board build r97 - bit md5 ef03eea4886e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234B3C-C023-44D5-BAC6-6D8AD82BC603}"/>
              </a:ext>
            </a:extLst>
          </p:cNvPr>
          <p:cNvSpPr txBox="1"/>
          <p:nvPr/>
        </p:nvSpPr>
        <p:spPr>
          <a:xfrm>
            <a:off x="533400" y="2019300"/>
            <a:ext cx="1114425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4000"/>
              </a:lnSpc>
            </a:pPr>
            <a:r>
              <a:rPr sz="900" b="1">
                <a:solidFill>
                  <a:srgbClr val="1F5FA8"/>
                </a:solidFill>
                <a:latin typeface="Arial"/>
                <a:ea typeface="Arial"/>
              </a:rPr>
              <a:t>PIPELINE  </a:t>
            </a:r>
            <a:r>
              <a:rPr sz="900">
                <a:solidFill>
                  <a:srgbClr val="2B3A4D"/>
                </a:solidFill>
                <a:latin typeface="Arial"/>
                <a:ea typeface="Arial"/>
              </a:rPr>
              <a:t>RGMII -&gt; self-written UDP/IP/MAC receive chain -&gt; DDR frame buffers (ping-pong) -&gt; geometry (zoom 0.25-2.00x; rotation with angle-driven auto-fit so the rotated frame always stays on panel; bilinear interpolation on both the zoom and the rotation path) -&gt; 9-stage effect chain (15-cycle fixed) -&gt; A/B seam mixer -&gt; OSD -&gt; HDMI/TMDS, with a bare-metal PS control plane (a few hundred lines) and a hardware link-health engine read out three ways: on screen, over JTAG, over serial.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FBC97DA-1160-4C6E-B565-1D778E31B0B2}"/>
              </a:ext>
            </a:extLst>
          </p:cNvPr>
          <p:cNvSpPr txBox="1"/>
          <p:nvPr/>
        </p:nvSpPr>
        <p:spPr>
          <a:xfrm>
            <a:off x="533400" y="2800350"/>
            <a:ext cx="600075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50" b="1">
                <a:solidFill>
                  <a:srgbClr val="15243A"/>
                </a:solidFill>
                <a:latin typeface="Arial"/>
                <a:ea typeface="Arial"/>
              </a:rPr>
              <a:t>What is new - four claims, each falsifiable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DB5F86F-298F-4CEB-ADB4-B2E8816B2F48}"/>
              </a:ext>
            </a:extLst>
          </p:cNvPr>
          <p:cNvSpPr txBox="1"/>
          <p:nvPr/>
        </p:nvSpPr>
        <p:spPr>
          <a:xfrm>
            <a:off x="533400" y="3067050"/>
            <a:ext cx="6019800" cy="2286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950" b="1">
                <a:solidFill>
                  <a:srgbClr val="1F5FA8"/>
                </a:solidFill>
                <a:latin typeface="Arial"/>
                <a:ea typeface="Arial"/>
              </a:rPr>
              <a:t>1  The display is the measurement. </a:t>
            </a:r>
            <a:r>
              <a:rPr sz="950">
                <a:solidFill>
                  <a:srgbClr val="2B3A4D"/>
                </a:solidFill>
                <a:latin typeface="Arial"/>
                <a:ea typeface="Arial"/>
              </a:rPr>
              <a:t>Per-pixel A-B on one scanline; the seam can be fixed, swept, or pinned in image domain so it follows zoom and rotation instead of sliding across the picture.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950" b="1">
                <a:solidFill>
                  <a:srgbClr val="1F5FA8"/>
                </a:solidFill>
                <a:latin typeface="Arial"/>
                <a:ea typeface="Arial"/>
              </a:rPr>
              <a:t>2  Health is counted in hardware, not asserted in a report. </a:t>
            </a:r>
            <a:r>
              <a:rPr sz="950">
                <a:solidFill>
                  <a:srgbClr val="2B3A4D"/>
                </a:solidFill>
                <a:latin typeface="Arial"/>
                <a:ea typeface="Arial"/>
              </a:rPr>
              <a:t>Received / dropped / corrupt / CRC / frame-gap statistics with three independent read-outs, and a source arbiter whose state is machine-readable - SRC:ETH|SD|TEST on screen is the actually selected source.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950" b="1">
                <a:solidFill>
                  <a:srgbClr val="1F5FA8"/>
                </a:solidFill>
                <a:latin typeface="Arial"/>
                <a:ea typeface="Arial"/>
              </a:rPr>
              <a:t>3  Bad frames do not reach the panel. </a:t>
            </a:r>
            <a:r>
              <a:rPr sz="950">
                <a:solidFill>
                  <a:srgbClr val="2B3A4D"/>
                </a:solidFill>
                <a:latin typeface="Arial"/>
                <a:ea typeface="Arial"/>
              </a:rPr>
              <a:t>Triple commit gate (row bitmap and byte budget and no-corrupt-flag) plus a blanking-window-atomic copy with a watchdog: a torn update is discarded and the previous frame is kept.</a:t>
            </a:r>
          </a:p>
          <a:p>
            <a:pPr algn="l">
              <a:lnSpc>
                <a:spcPct val="112000"/>
              </a:lnSpc>
            </a:pPr>
            <a:r>
              <a:rPr sz="950" b="1">
                <a:solidFill>
                  <a:srgbClr val="1F5FA8"/>
                </a:solidFill>
                <a:latin typeface="Arial"/>
                <a:ea typeface="Arial"/>
              </a:rPr>
              <a:t>4  Reproducibility is engineered, not claimed. </a:t>
            </a:r>
            <a:r>
              <a:rPr sz="950">
                <a:solidFill>
                  <a:srgbClr val="2B3A4D"/>
                </a:solidFill>
                <a:latin typeface="Arial"/>
                <a:ea typeface="Arial"/>
              </a:rPr>
              <a:t>One command runs the 20-item gate suite (timing, resources, port widths, CDC pairs, document encoding / currency / line-citations) plus full-frame testbenches pinned by md5 to the RTL they checked; every criterion must be able to turn red, and every fix has a mutation control.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B1EAE92-2FBD-461E-A37D-A610998090B3}"/>
              </a:ext>
            </a:extLst>
          </p:cNvPr>
          <p:cNvSpPr txBox="1"/>
          <p:nvPr/>
        </p:nvSpPr>
        <p:spPr>
          <a:xfrm>
            <a:off x="7048500" y="2800350"/>
            <a:ext cx="46101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50" b="1">
                <a:solidFill>
                  <a:srgbClr val="15243A"/>
                </a:solidFill>
                <a:latin typeface="Arial"/>
                <a:ea typeface="Arial"/>
              </a:rPr>
              <a:t>Key metrics - from data/metrics.csv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1E025AE-6E1E-4BC5-A826-37EB5087B42F}"/>
              </a:ext>
            </a:extLst>
          </p:cNvPr>
          <p:cNvSpPr txBox="1"/>
          <p:nvPr/>
        </p:nvSpPr>
        <p:spPr>
          <a:xfrm>
            <a:off x="7048500" y="3067050"/>
            <a:ext cx="4629150" cy="248564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Pixel clock / panel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50 MHz, 1024x600 @ 59.5 Hz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End-to-end latency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33.34 ms mean (min/avg/max 20 / 33.34 / 51), PC to screen at 30 fps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Frame-interval jitter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33.33 ms mean (22 / 33.33 / 45)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Ingress, zero loss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0 dropped, 0 corrupt in 9000 frames over 300 s at 15 MB/s (RGB565)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Overload, not yet lossy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116.7 fps (about 36 MB/s, 287 Mbps) with no lost word - no maximum fps is claimed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SD playback rate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29.8 - 30.0 fps from a pre-converted frame sequence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Timing (post-route)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setup WNS +0.720 ns, hold WHS +0.033 ns, 0 of 50890 endpoints failing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Resources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LUT 14379 (27.03 %), FF 8079 (7.59 %), BRAM 95/140 (67.86 %), DSP 19/220</a:t>
            </a:r>
          </a:p>
          <a:p>
            <a:pPr algn="l">
              <a:lnSpc>
                <a:spcPct val="106000"/>
              </a:lnSpc>
            </a:pPr>
            <a:r>
              <a:rPr sz="900">
                <a:solidFill>
                  <a:srgbClr val="5A6B80"/>
                </a:solidFill>
                <a:latin typeface="Arial"/>
                <a:ea typeface="Arial"/>
              </a:rPr>
              <a:t>Power / temperature  </a:t>
            </a:r>
            <a:r>
              <a:rPr sz="900" b="1">
                <a:solidFill>
                  <a:srgbClr val="15243A"/>
                </a:solidFill>
                <a:latin typeface="Arial"/>
                <a:ea typeface="Arial"/>
              </a:rPr>
              <a:t>2.207 W dynamic and 52.5 C estimated junction (tool confidence Low); on-die XADC reads 63.1 - 63.4 C on the board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62245BE-F607-48A3-B978-0BF4A3C5F5DC}"/>
              </a:ext>
            </a:extLst>
          </p:cNvPr>
          <p:cNvSpPr txBox="1"/>
          <p:nvPr/>
        </p:nvSpPr>
        <p:spPr>
          <a:xfrm>
            <a:off x="533400" y="5676900"/>
            <a:ext cx="11125200" cy="5524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C2410C"/>
                </a:solidFill>
                <a:latin typeface="Arial"/>
                <a:ea typeface="Arial"/>
              </a:rPr>
              <a:t>HONEST BOUNDARIES  </a:t>
            </a:r>
            <a:r>
              <a:rPr sz="900">
                <a:solidFill>
                  <a:srgbClr val="2B3A4D"/>
                </a:solidFill>
                <a:latin typeface="Arial"/>
                <a:ea typeface="Arial"/>
              </a:rPr>
              <a:t>Absolute WNS / WHS deltas are neither gain nor loss here - equivalent sources measured a 0.4 ns placement swing between builds. One per-pixel criterion is left deliberately red, documenting an unfixed frame-head wrap-around. Only xsim is available, so simulation-only divergences are closed out with on-board evidence. End-to-end figures are one round's measurement, not a fleet.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14A96A7-E8D3-4912-9DA1-1675A9A2CA05}"/>
              </a:ext>
            </a:extLst>
          </p:cNvPr>
          <p:cNvSpPr txBox="1"/>
          <p:nvPr/>
        </p:nvSpPr>
        <p:spPr>
          <a:xfrm>
            <a:off x="381000" y="6400800"/>
            <a:ext cx="114300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850">
                <a:solidFill>
                  <a:srgbClr val="5A6B80"/>
                </a:solidFill>
                <a:latin typeface="Arial"/>
                <a:ea typeface="Arial"/>
              </a:rPr>
              <a:t>Tool chain: Vivado / Vitis 2025.2.1 - device xc7z020clg484-2 - sources on GitHub (MIT). Every number above names the report it came from (timing_summary.rpt, utilization.rpt, power.rpt, data/metrics.csv), reconciled row by row by src/host/metric_recheck.mjs: 9 rows judged, 0 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