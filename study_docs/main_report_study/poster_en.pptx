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66131D6-A520-4ACE-88A6-5BE5AF00DFB2}"/>
              </a:ext>
            </a:extLst>
          </p:cNvPr>
          <p:cNvSpPr txBox="1"/>
          <p:nvPr/>
        </p:nvSpPr>
        <p:spPr>
          <a:xfrm>
            <a:off x="609600" y="285750"/>
            <a:ext cx="10477500" cy="4572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E6EDF3"/>
                </a:solidFill>
                <a:latin typeface="Segoe UI Semibold"/>
                <a:ea typeface="Segoe UI Semibold"/>
              </a:rPr>
              <a:t>Same-Frame Pixel-Level A/B Display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E0AA199-960F-4678-B766-F8DAEC21DCFF}"/>
              </a:ext>
            </a:extLst>
          </p:cNvPr>
          <p:cNvSpPr txBox="1"/>
          <p:nvPr/>
        </p:nvSpPr>
        <p:spPr>
          <a:xfrm>
            <a:off x="609600" y="762000"/>
            <a:ext cx="109728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8FA3B8"/>
                </a:solidFill>
                <a:latin typeface="Segoe UI"/>
                <a:ea typeface="Segoe UI"/>
              </a:rPr>
              <a:t>A Zynq-7020 programmable-logic video pipeline that turns the picture itself into an instrument</a:t>
            </a:r>
          </a:p>
        </p:txBody>
      </p:sp>
      <p:cxnSp>
        <p:nvCxnSpPr>
          <p:cNvPr id="5" name="Straight Connector 5">
            <a:extLst>
              <a:ext uri="{FF2B5EF4-FFF2-40B4-BE49-F238E27FC236}">
                <a16:creationId xmlns:a16="http://schemas.microsoft.com/office/drawing/2014/main" id="{7C8790E4-B7A6-45B4-ABCF-0E3E552A1CDE}"/>
              </a:ext>
            </a:extLst>
          </p:cNvPr>
          <p:cNvCxnSpPr/>
          <p:nvPr/>
        </p:nvCxnSpPr>
        <p:spPr>
          <a:xfrm>
            <a:off x="609600" y="1104900"/>
            <a:ext cx="10972800" cy="9525"/>
          </a:xfrm>
          <a:prstGeom prst="line">
            <a:avLst/>
          </a:prstGeom>
          <a:ln w="12700" cap="flat">
            <a:solidFill>
              <a:srgbClr val="2A3B5A"/>
            </a:solidFill>
          </a:ln>
        </p:spPr>
      </p:cxnSp>
      <p:sp>
        <p:nvSpPr>
          <p:cNvPr id="6" name="TextBox 6">
            <a:extLst>
              <a:ext uri="{FF2B5EF4-FFF2-40B4-BE49-F238E27FC236}">
                <a16:creationId xmlns:a16="http://schemas.microsoft.com/office/drawing/2014/main" id="{20025269-0BC5-4371-B0A6-1F7C77D842DB}"/>
              </a:ext>
            </a:extLst>
          </p:cNvPr>
          <p:cNvSpPr txBox="1"/>
          <p:nvPr/>
        </p:nvSpPr>
        <p:spPr>
          <a:xfrm>
            <a:off x="609600" y="1257300"/>
            <a:ext cx="476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2DD4BF"/>
                </a:solidFill>
                <a:latin typeface="Segoe UI Semibold"/>
                <a:ea typeface="Segoe UI Semibold"/>
              </a:rPr>
              <a:t>DATA PATH - entirely in the PL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3680BCF2-D437-4FE2-807A-EDA02BA2A839}"/>
              </a:ext>
            </a:extLst>
          </p:cNvPr>
          <p:cNvSpPr/>
          <p:nvPr/>
        </p:nvSpPr>
        <p:spPr>
          <a:xfrm>
            <a:off x="609600" y="1524000"/>
            <a:ext cx="1447800" cy="495300"/>
          </a:xfrm>
          <a:prstGeom prst="chevron">
            <a:avLst/>
          </a:prstGeom>
          <a:solidFill>
            <a:srgbClr val="17223A"/>
          </a:solidFill>
          <a:ln w="12700">
            <a:solidFill>
              <a:srgbClr val="2A3B5A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000" b="1">
                <a:solidFill>
                  <a:srgbClr val="E6EDF3"/>
                </a:solidFill>
                <a:latin typeface="Segoe UI"/>
                <a:ea typeface="Segoe UI"/>
              </a:rPr>
              <a:t>RGMII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AAF7045B-27D4-44E3-9B79-FE664EF54D79}"/>
              </a:ext>
            </a:extLst>
          </p:cNvPr>
          <p:cNvSpPr/>
          <p:nvPr/>
        </p:nvSpPr>
        <p:spPr>
          <a:xfrm>
            <a:off x="2133600" y="1524000"/>
            <a:ext cx="1447800" cy="495300"/>
          </a:xfrm>
          <a:prstGeom prst="chevron">
            <a:avLst/>
          </a:prstGeom>
          <a:solidFill>
            <a:srgbClr val="17223A"/>
          </a:solidFill>
          <a:ln w="12700">
            <a:solidFill>
              <a:srgbClr val="2A3B5A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900" b="1">
                <a:solidFill>
                  <a:srgbClr val="E6EDF3"/>
                </a:solidFill>
                <a:latin typeface="Segoe UI"/>
                <a:ea typeface="Segoe UI"/>
              </a:rPr>
              <a:t>UDP / IP / MAC  self-written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5362CCA1-B683-43A4-B21E-E7A368EC91A9}"/>
              </a:ext>
            </a:extLst>
          </p:cNvPr>
          <p:cNvSpPr/>
          <p:nvPr/>
        </p:nvSpPr>
        <p:spPr>
          <a:xfrm>
            <a:off x="3657600" y="1524000"/>
            <a:ext cx="1447800" cy="495300"/>
          </a:xfrm>
          <a:prstGeom prst="chevron">
            <a:avLst/>
          </a:prstGeom>
          <a:solidFill>
            <a:srgbClr val="17223A"/>
          </a:solidFill>
          <a:ln w="12700">
            <a:solidFill>
              <a:srgbClr val="2A3B5A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900" b="1">
                <a:solidFill>
                  <a:srgbClr val="E6EDF3"/>
                </a:solidFill>
                <a:latin typeface="Segoe UI"/>
                <a:ea typeface="Segoe UI"/>
              </a:rPr>
              <a:t>DDR ping-pong buffers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8D2756CF-79E3-4DE8-AF92-07972ECEB3DC}"/>
              </a:ext>
            </a:extLst>
          </p:cNvPr>
          <p:cNvSpPr/>
          <p:nvPr/>
        </p:nvSpPr>
        <p:spPr>
          <a:xfrm>
            <a:off x="5181600" y="1524000"/>
            <a:ext cx="1447800" cy="495300"/>
          </a:xfrm>
          <a:prstGeom prst="chevron">
            <a:avLst/>
          </a:prstGeom>
          <a:solidFill>
            <a:srgbClr val="17223A"/>
          </a:solidFill>
          <a:ln w="12700">
            <a:solidFill>
              <a:srgbClr val="2A3B5A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900" b="1">
                <a:solidFill>
                  <a:srgbClr val="E6EDF3"/>
                </a:solidFill>
                <a:latin typeface="Segoe UI"/>
                <a:ea typeface="Segoe UI"/>
              </a:rPr>
              <a:t>zoom 0.25-2x + rotate auto-fit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D53331E9-F7F5-41AC-825A-EA7FD8C9E3CB}"/>
              </a:ext>
            </a:extLst>
          </p:cNvPr>
          <p:cNvSpPr/>
          <p:nvPr/>
        </p:nvSpPr>
        <p:spPr>
          <a:xfrm>
            <a:off x="6705600" y="1524000"/>
            <a:ext cx="1447800" cy="495300"/>
          </a:xfrm>
          <a:prstGeom prst="chevron">
            <a:avLst/>
          </a:prstGeom>
          <a:solidFill>
            <a:srgbClr val="17223A"/>
          </a:solidFill>
          <a:ln w="12700">
            <a:solidFill>
              <a:srgbClr val="2A3B5A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900" b="1">
                <a:solidFill>
                  <a:srgbClr val="E6EDF3"/>
                </a:solidFill>
                <a:latin typeface="Segoe UI"/>
                <a:ea typeface="Segoe UI"/>
              </a:rPr>
              <a:t>9-stage effect chain, fixed 15 cycles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1F909D88-E2D8-40DA-90D5-573CA8626665}"/>
              </a:ext>
            </a:extLst>
          </p:cNvPr>
          <p:cNvSpPr/>
          <p:nvPr/>
        </p:nvSpPr>
        <p:spPr>
          <a:xfrm>
            <a:off x="8229600" y="1524000"/>
            <a:ext cx="1447800" cy="495300"/>
          </a:xfrm>
          <a:prstGeom prst="chevron">
            <a:avLst/>
          </a:prstGeom>
          <a:solidFill>
            <a:srgbClr val="17223A"/>
          </a:solidFill>
          <a:ln w="12700">
            <a:solidFill>
              <a:srgbClr val="2A3B5A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900" b="1">
                <a:solidFill>
                  <a:srgbClr val="E6EDF3"/>
                </a:solidFill>
                <a:latin typeface="Segoe UI"/>
                <a:ea typeface="Segoe UI"/>
              </a:rPr>
              <a:t>A/B seam mixer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06052D75-A23D-4827-B48A-7EC3C0661458}"/>
              </a:ext>
            </a:extLst>
          </p:cNvPr>
          <p:cNvSpPr/>
          <p:nvPr/>
        </p:nvSpPr>
        <p:spPr>
          <a:xfrm>
            <a:off x="9753600" y="1524000"/>
            <a:ext cx="1447800" cy="495300"/>
          </a:xfrm>
          <a:prstGeom prst="chevron">
            <a:avLst/>
          </a:prstGeom>
          <a:solidFill>
            <a:srgbClr val="17223A"/>
          </a:solidFill>
          <a:ln w="12700">
            <a:solidFill>
              <a:srgbClr val="2A3B5A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900" b="1">
                <a:solidFill>
                  <a:srgbClr val="E6EDF3"/>
                </a:solidFill>
                <a:latin typeface="Segoe UI"/>
                <a:ea typeface="Segoe UI"/>
              </a:rPr>
              <a:t>OSD + HDMI 1024x600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9222D9A-4F26-4D4A-BE36-6CC6010BF67C}"/>
              </a:ext>
            </a:extLst>
          </p:cNvPr>
          <p:cNvSpPr txBox="1"/>
          <p:nvPr/>
        </p:nvSpPr>
        <p:spPr>
          <a:xfrm>
            <a:off x="609600" y="2114550"/>
            <a:ext cx="109728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00">
                <a:solidFill>
                  <a:srgbClr val="B8C7DA"/>
                </a:solidFill>
                <a:latin typeface="Segoe UI"/>
                <a:ea typeface="Segoe UI"/>
              </a:rPr>
              <a:t>PS runs a few hundred lines of bare-metal control only; link health is counted in hardware and readable three ways - on screen, over JTAG, over serial.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D6622145-1F3C-4E23-9523-3E21DAFB5A15}"/>
              </a:ext>
            </a:extLst>
          </p:cNvPr>
          <p:cNvSpPr txBox="1"/>
          <p:nvPr/>
        </p:nvSpPr>
        <p:spPr>
          <a:xfrm>
            <a:off x="609600" y="2533650"/>
            <a:ext cx="5143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2DD4BF"/>
                </a:solidFill>
                <a:latin typeface="Segoe UI Semibold"/>
                <a:ea typeface="Segoe UI Semibold"/>
              </a:rPr>
              <a:t>What is new - each item is falsifiable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C0F9DA6D-AB58-4046-9F08-6F430C97D61A}"/>
              </a:ext>
            </a:extLst>
          </p:cNvPr>
          <p:cNvSpPr txBox="1"/>
          <p:nvPr/>
        </p:nvSpPr>
        <p:spPr>
          <a:xfrm>
            <a:off x="609600" y="2857500"/>
            <a:ext cx="5143500" cy="7429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E6EDF3"/>
                </a:solidFill>
                <a:latin typeface="Segoe UI Semibold"/>
                <a:ea typeface="Segoe UI Semibold"/>
              </a:rPr>
              <a:t>1  The display is the measurement</a:t>
            </a:r>
          </a:p>
          <a:p>
            <a:pPr algn="l">
              <a:lnSpc>
                <a:spcPct val="112000"/>
              </a:lnSpc>
            </a:pPr>
            <a:r>
              <a:rPr sz="1050">
                <a:solidFill>
                  <a:srgbClr val="B8C7DA"/>
                </a:solidFill>
                <a:latin typeface="Segoe UI"/>
                <a:ea typeface="Segoe UI"/>
              </a:rPr>
              <a:t>Unprocessed left, processed right, same read address and clock cycle. The seam is fixed, auto-swept, or pinned in image domain so it follows zoom and rotation.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C0BD0899-271C-40D4-B84A-0B247B05A941}"/>
              </a:ext>
            </a:extLst>
          </p:cNvPr>
          <p:cNvSpPr txBox="1"/>
          <p:nvPr/>
        </p:nvSpPr>
        <p:spPr>
          <a:xfrm>
            <a:off x="609600" y="3619500"/>
            <a:ext cx="5143500" cy="7429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E6EDF3"/>
                </a:solidFill>
                <a:latin typeface="Segoe UI Semibold"/>
                <a:ea typeface="Segoe UI Semibold"/>
              </a:rPr>
              <a:t>2  Health counted by hardware</a:t>
            </a:r>
          </a:p>
          <a:p>
            <a:pPr algn="l">
              <a:lnSpc>
                <a:spcPct val="112000"/>
              </a:lnSpc>
            </a:pPr>
            <a:r>
              <a:rPr sz="1050">
                <a:solidFill>
                  <a:srgbClr val="B8C7DA"/>
                </a:solidFill>
                <a:latin typeface="Segoe UI"/>
                <a:ea typeface="Segoe UI"/>
              </a:rPr>
              <a:t>Received / dropped / corrupt / CRC / frame-gap statistics with three independent read-outs, and an arbiter whose reported source is the source actually on screen.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3B9284C-B0F8-46C7-99D0-EA285AC9DCF0}"/>
              </a:ext>
            </a:extLst>
          </p:cNvPr>
          <p:cNvSpPr txBox="1"/>
          <p:nvPr/>
        </p:nvSpPr>
        <p:spPr>
          <a:xfrm>
            <a:off x="609600" y="4381500"/>
            <a:ext cx="5143500" cy="7429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E6EDF3"/>
                </a:solidFill>
                <a:latin typeface="Segoe UI Semibold"/>
                <a:ea typeface="Segoe UI Semibold"/>
              </a:rPr>
              <a:t>3  Bad frames never reach the panel</a:t>
            </a:r>
          </a:p>
          <a:p>
            <a:pPr algn="l">
              <a:lnSpc>
                <a:spcPct val="112000"/>
              </a:lnSpc>
            </a:pPr>
            <a:r>
              <a:rPr sz="1050">
                <a:solidFill>
                  <a:srgbClr val="B8C7DA"/>
                </a:solidFill>
                <a:latin typeface="Segoe UI"/>
                <a:ea typeface="Segoe UI"/>
              </a:rPr>
              <a:t>Triple commit gate - row bitmap, byte budget, no corrupt flag - plus a blanking-window-atomic copy with a watchdog: a torn update is dropped, the old frame is kept.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5EA739DE-E373-4CE1-BC54-4A118C0F0146}"/>
              </a:ext>
            </a:extLst>
          </p:cNvPr>
          <p:cNvSpPr txBox="1"/>
          <p:nvPr/>
        </p:nvSpPr>
        <p:spPr>
          <a:xfrm>
            <a:off x="609600" y="5143500"/>
            <a:ext cx="5143500" cy="766267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E6EDF3"/>
                </a:solidFill>
                <a:latin typeface="Segoe UI Semibold"/>
                <a:ea typeface="Segoe UI Semibold"/>
              </a:rPr>
              <a:t>4  Reproducibility engineered, not claimed</a:t>
            </a:r>
          </a:p>
          <a:p>
            <a:pPr algn="l">
              <a:lnSpc>
                <a:spcPct val="112000"/>
              </a:lnSpc>
            </a:pPr>
            <a:r>
              <a:rPr sz="1050">
                <a:solidFill>
                  <a:srgbClr val="B8C7DA"/>
                </a:solidFill>
                <a:latin typeface="Segoe UI"/>
                <a:ea typeface="Segoe UI"/>
              </a:rPr>
              <a:t>One command runs the gate suite and two full-frame testbenches pinned by md5 to the RTL they check; every criterion must be able to turn red, and every fix has a mutation control.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487E77C1-02FB-4F4A-A647-D3C08BAD7C6E}"/>
              </a:ext>
            </a:extLst>
          </p:cNvPr>
          <p:cNvSpPr txBox="1"/>
          <p:nvPr/>
        </p:nvSpPr>
        <p:spPr>
          <a:xfrm>
            <a:off x="6096000" y="2533650"/>
            <a:ext cx="54864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2DD4BF"/>
                </a:solidFill>
                <a:latin typeface="Segoe UI Semibold"/>
                <a:ea typeface="Segoe UI Semibold"/>
              </a:rPr>
              <a:t>Measured on the board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8BCEFABB-0153-4C8C-BF5B-3233D4602B46}"/>
              </a:ext>
            </a:extLst>
          </p:cNvPr>
          <p:cNvSpPr/>
          <p:nvPr/>
        </p:nvSpPr>
        <p:spPr>
          <a:xfrm>
            <a:off x="6096000" y="2857500"/>
            <a:ext cx="1695450" cy="819150"/>
          </a:xfrm>
          <a:prstGeom prst="roundRect">
            <a:avLst/>
          </a:prstGeom>
          <a:solidFill>
            <a:srgbClr val="17223A"/>
          </a:solidFill>
          <a:ln w="12700">
            <a:solidFill>
              <a:srgbClr val="2A3B5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C3A2612B-2E3A-413C-BDEF-51D9424BC22A}"/>
              </a:ext>
            </a:extLst>
          </p:cNvPr>
          <p:cNvSpPr txBox="1"/>
          <p:nvPr/>
        </p:nvSpPr>
        <p:spPr>
          <a:xfrm>
            <a:off x="6248400" y="2971800"/>
            <a:ext cx="139065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E6EDF3"/>
                </a:solidFill>
                <a:latin typeface="Segoe UI Semibold"/>
                <a:ea typeface="Segoe UI Semibold"/>
              </a:rPr>
              <a:t>+0.553 ns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17959B02-AD33-42E5-A712-2DC9BB76646E}"/>
              </a:ext>
            </a:extLst>
          </p:cNvPr>
          <p:cNvSpPr txBox="1"/>
          <p:nvPr/>
        </p:nvSpPr>
        <p:spPr>
          <a:xfrm>
            <a:off x="6248400" y="3295650"/>
            <a:ext cx="1428750" cy="3429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8FA3B8"/>
                </a:solidFill>
                <a:latin typeface="Segoe UI"/>
                <a:ea typeface="Segoe UI"/>
              </a:rPr>
              <a:t>setup WNS after route,</a:t>
            </a:r>
          </a:p>
          <a:p>
            <a:pPr algn="l"/>
            <a:r>
              <a:rPr sz="1000">
                <a:solidFill>
                  <a:srgbClr val="8FA3B8"/>
                </a:solidFill>
                <a:latin typeface="Segoe UI"/>
                <a:ea typeface="Segoe UI"/>
              </a:rPr>
              <a:t>board build r94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BC7CDB62-F6A7-4728-82C9-74B744D303AE}"/>
              </a:ext>
            </a:extLst>
          </p:cNvPr>
          <p:cNvSpPr/>
          <p:nvPr/>
        </p:nvSpPr>
        <p:spPr>
          <a:xfrm>
            <a:off x="7981950" y="2857500"/>
            <a:ext cx="1695450" cy="819150"/>
          </a:xfrm>
          <a:prstGeom prst="roundRect">
            <a:avLst/>
          </a:prstGeom>
          <a:solidFill>
            <a:srgbClr val="17223A"/>
          </a:solidFill>
          <a:ln w="12700">
            <a:solidFill>
              <a:srgbClr val="2A3B5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6CBFBAFC-0C22-4906-BCC8-FD2FBE82781F}"/>
              </a:ext>
            </a:extLst>
          </p:cNvPr>
          <p:cNvSpPr txBox="1"/>
          <p:nvPr/>
        </p:nvSpPr>
        <p:spPr>
          <a:xfrm>
            <a:off x="8134350" y="2971800"/>
            <a:ext cx="139065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E6EDF3"/>
                </a:solidFill>
                <a:latin typeface="Segoe UI Semibold"/>
                <a:ea typeface="Segoe UI Semibold"/>
              </a:rPr>
              <a:t>0 / 50883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93B55067-0BE7-47CD-BC32-A26C881885B7}"/>
              </a:ext>
            </a:extLst>
          </p:cNvPr>
          <p:cNvSpPr txBox="1"/>
          <p:nvPr/>
        </p:nvSpPr>
        <p:spPr>
          <a:xfrm>
            <a:off x="8134350" y="3295650"/>
            <a:ext cx="1428750" cy="342900"/>
          </a:xfrm>
        </p:spPr>
        <p:txBody>
          <a:bodyPr wrap="square" rtlCol="0" lIns="0" tIns="0" rIns="0" bIns="0" anchor="t"/>
          <a:lstStyle/>
          <a:p>
            <a:pPr algn="l"/>
            <a:r>
              <a:rPr sz="950">
                <a:solidFill>
                  <a:srgbClr val="8FA3B8"/>
                </a:solidFill>
                <a:latin typeface="Segoe UI"/>
                <a:ea typeface="Segoe UI"/>
              </a:rPr>
              <a:t>failing setup endpoints</a:t>
            </a: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AAF17827-1AEA-4921-AB8C-A8E0977A103B}"/>
              </a:ext>
            </a:extLst>
          </p:cNvPr>
          <p:cNvSpPr/>
          <p:nvPr/>
        </p:nvSpPr>
        <p:spPr>
          <a:xfrm>
            <a:off x="9867900" y="2857500"/>
            <a:ext cx="1695450" cy="819150"/>
          </a:xfrm>
          <a:prstGeom prst="roundRect">
            <a:avLst/>
          </a:prstGeom>
          <a:solidFill>
            <a:srgbClr val="17223A"/>
          </a:solidFill>
          <a:ln w="12700">
            <a:solidFill>
              <a:srgbClr val="2A3B5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EF2F5052-B18D-443C-83E2-F531F4094EAB}"/>
              </a:ext>
            </a:extLst>
          </p:cNvPr>
          <p:cNvSpPr txBox="1"/>
          <p:nvPr/>
        </p:nvSpPr>
        <p:spPr>
          <a:xfrm>
            <a:off x="10020300" y="2971800"/>
            <a:ext cx="139065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E6EDF3"/>
                </a:solidFill>
                <a:latin typeface="Segoe UI Semibold"/>
                <a:ea typeface="Segoe UI Semibold"/>
              </a:rPr>
              <a:t>27.02 %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422D3E3-5F81-4D5F-AB24-3C04B2F6B2C8}"/>
              </a:ext>
            </a:extLst>
          </p:cNvPr>
          <p:cNvSpPr txBox="1"/>
          <p:nvPr/>
        </p:nvSpPr>
        <p:spPr>
          <a:xfrm>
            <a:off x="10020300" y="3295650"/>
            <a:ext cx="1428750" cy="342900"/>
          </a:xfrm>
        </p:spPr>
        <p:txBody>
          <a:bodyPr wrap="square" rtlCol="0" lIns="0" tIns="0" rIns="0" bIns="0" anchor="t"/>
          <a:lstStyle/>
          <a:p>
            <a:pPr algn="l"/>
            <a:r>
              <a:rPr sz="950">
                <a:solidFill>
                  <a:srgbClr val="8FA3B8"/>
                </a:solidFill>
                <a:latin typeface="Segoe UI"/>
                <a:ea typeface="Segoe UI"/>
              </a:rPr>
              <a:t>Slice LUT (FF 7.59 %, BRAM 67.86 %)</a:t>
            </a:r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D626EE12-07B9-43BF-9EE5-43CEBD1F9C1F}"/>
              </a:ext>
            </a:extLst>
          </p:cNvPr>
          <p:cNvSpPr/>
          <p:nvPr/>
        </p:nvSpPr>
        <p:spPr>
          <a:xfrm>
            <a:off x="6096000" y="3829050"/>
            <a:ext cx="1695450" cy="819150"/>
          </a:xfrm>
          <a:prstGeom prst="roundRect">
            <a:avLst/>
          </a:prstGeom>
          <a:solidFill>
            <a:srgbClr val="17223A"/>
          </a:solidFill>
          <a:ln w="12700">
            <a:solidFill>
              <a:srgbClr val="2A3B5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56985A9B-2517-4365-B117-A63FFB337436}"/>
              </a:ext>
            </a:extLst>
          </p:cNvPr>
          <p:cNvSpPr txBox="1"/>
          <p:nvPr/>
        </p:nvSpPr>
        <p:spPr>
          <a:xfrm>
            <a:off x="6248400" y="3943350"/>
            <a:ext cx="139065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E6EDF3"/>
                </a:solidFill>
                <a:latin typeface="Segoe UI Semibold"/>
                <a:ea typeface="Segoe UI Semibold"/>
              </a:rPr>
              <a:t>33.34 ms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2B4A2B11-DCF7-4F49-94E5-D784E3B9EA81}"/>
              </a:ext>
            </a:extLst>
          </p:cNvPr>
          <p:cNvSpPr txBox="1"/>
          <p:nvPr/>
        </p:nvSpPr>
        <p:spPr>
          <a:xfrm>
            <a:off x="6248400" y="4267200"/>
            <a:ext cx="1428750" cy="342900"/>
          </a:xfrm>
        </p:spPr>
        <p:txBody>
          <a:bodyPr wrap="square" rtlCol="0" lIns="0" tIns="0" rIns="0" bIns="0" anchor="t"/>
          <a:lstStyle/>
          <a:p>
            <a:pPr algn="l"/>
            <a:r>
              <a:rPr sz="950">
                <a:solidFill>
                  <a:srgbClr val="8FA3B8"/>
                </a:solidFill>
                <a:latin typeface="Segoe UI"/>
                <a:ea typeface="Segoe UI"/>
              </a:rPr>
              <a:t>PC-to-screen mean (min/max 20 / 51 ms)</a:t>
            </a:r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7854401B-56D5-40B5-B4D3-BE8287F859F8}"/>
              </a:ext>
            </a:extLst>
          </p:cNvPr>
          <p:cNvSpPr/>
          <p:nvPr/>
        </p:nvSpPr>
        <p:spPr>
          <a:xfrm>
            <a:off x="7981950" y="3829050"/>
            <a:ext cx="1695450" cy="819150"/>
          </a:xfrm>
          <a:prstGeom prst="roundRect">
            <a:avLst/>
          </a:prstGeom>
          <a:solidFill>
            <a:srgbClr val="17223A"/>
          </a:solidFill>
          <a:ln w="12700">
            <a:solidFill>
              <a:srgbClr val="2A3B5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E56CF834-0E67-49C7-8952-A77E674CB7C7}"/>
              </a:ext>
            </a:extLst>
          </p:cNvPr>
          <p:cNvSpPr txBox="1"/>
          <p:nvPr/>
        </p:nvSpPr>
        <p:spPr>
          <a:xfrm>
            <a:off x="8134350" y="3943350"/>
            <a:ext cx="139065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E6EDF3"/>
                </a:solidFill>
                <a:latin typeface="Segoe UI Semibold"/>
                <a:ea typeface="Segoe UI Semibold"/>
              </a:rPr>
              <a:t>0 of 9000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8D9BE2AD-CED4-4870-A7E4-D51455C2C889}"/>
              </a:ext>
            </a:extLst>
          </p:cNvPr>
          <p:cNvSpPr txBox="1"/>
          <p:nvPr/>
        </p:nvSpPr>
        <p:spPr>
          <a:xfrm>
            <a:off x="8134350" y="4267200"/>
            <a:ext cx="1428750" cy="342900"/>
          </a:xfrm>
        </p:spPr>
        <p:txBody>
          <a:bodyPr wrap="square" rtlCol="0" lIns="0" tIns="0" rIns="0" bIns="0" anchor="t"/>
          <a:lstStyle/>
          <a:p>
            <a:pPr algn="l"/>
            <a:r>
              <a:rPr sz="950">
                <a:solidFill>
                  <a:srgbClr val="8FA3B8"/>
                </a:solidFill>
                <a:latin typeface="Segoe UI"/>
                <a:ea typeface="Segoe UI"/>
              </a:rPr>
              <a:t>frames dropped or corrupt in 300 s at 15 MB/s</a:t>
            </a:r>
          </a:p>
        </p:txBody>
      </p:sp>
      <p:sp>
        <p:nvSpPr>
          <p:cNvPr id="36" name="Shape 36">
            <a:extLst>
              <a:ext uri="{FF2B5EF4-FFF2-40B4-BE49-F238E27FC236}">
                <a16:creationId xmlns:a16="http://schemas.microsoft.com/office/drawing/2014/main" id="{E63EF741-1D71-4A4B-910A-C9FF6A534CA5}"/>
              </a:ext>
            </a:extLst>
          </p:cNvPr>
          <p:cNvSpPr/>
          <p:nvPr/>
        </p:nvSpPr>
        <p:spPr>
          <a:xfrm>
            <a:off x="9867900" y="3829050"/>
            <a:ext cx="1695450" cy="819150"/>
          </a:xfrm>
          <a:prstGeom prst="roundRect">
            <a:avLst/>
          </a:prstGeom>
          <a:solidFill>
            <a:srgbClr val="17223A"/>
          </a:solidFill>
          <a:ln w="12700">
            <a:solidFill>
              <a:srgbClr val="2A3B5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894AE0F1-F0BB-4F22-9279-7C6F0B49400E}"/>
              </a:ext>
            </a:extLst>
          </p:cNvPr>
          <p:cNvSpPr txBox="1"/>
          <p:nvPr/>
        </p:nvSpPr>
        <p:spPr>
          <a:xfrm>
            <a:off x="10020300" y="3943350"/>
            <a:ext cx="139065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E6EDF3"/>
                </a:solidFill>
                <a:latin typeface="Segoe UI Semibold"/>
                <a:ea typeface="Segoe UI Semibold"/>
              </a:rPr>
              <a:t>116.7 fps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D972CC1-5177-44D4-8AE4-7C5A2943C071}"/>
              </a:ext>
            </a:extLst>
          </p:cNvPr>
          <p:cNvSpPr txBox="1"/>
          <p:nvPr/>
        </p:nvSpPr>
        <p:spPr>
          <a:xfrm>
            <a:off x="10020300" y="4267200"/>
            <a:ext cx="1428750" cy="342900"/>
          </a:xfrm>
        </p:spPr>
        <p:txBody>
          <a:bodyPr wrap="square" rtlCol="0" lIns="0" tIns="0" rIns="0" bIns="0" anchor="t"/>
          <a:lstStyle/>
          <a:p>
            <a:pPr algn="l"/>
            <a:r>
              <a:rPr sz="950">
                <a:solidFill>
                  <a:srgbClr val="8FA3B8"/>
                </a:solidFill>
                <a:latin typeface="Segoe UI"/>
                <a:ea typeface="Segoe UI"/>
              </a:rPr>
              <a:t>unthrottled, still no lost word - no max fps claimed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241A4F6A-2D47-466C-8542-1E4A836B1CF4}"/>
              </a:ext>
            </a:extLst>
          </p:cNvPr>
          <p:cNvSpPr txBox="1"/>
          <p:nvPr/>
        </p:nvSpPr>
        <p:spPr>
          <a:xfrm>
            <a:off x="6096000" y="4800600"/>
            <a:ext cx="5486400" cy="1066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>
                <a:solidFill>
                  <a:srgbClr val="B8C7DA"/>
                </a:solidFill>
                <a:latin typeface="Segoe UI"/>
                <a:ea typeface="Segoe UI"/>
              </a:rPr>
              <a:t>Also measured: SD playback 29.8-30.0 fps (100-frame window) - frame-interval jitter 22 / 33.33 / 45 ms at 30 fps - DSP48 19 of 220 - dynamic power 2.206 W, estimated junction temperature 52.5 C (tool confidence Low).</a:t>
            </a:r>
          </a:p>
          <a:p>
            <a:pPr algn="l">
              <a:lnSpc>
                <a:spcPct val="118000"/>
              </a:lnSpc>
            </a:pPr>
            <a:r>
              <a:rPr sz="1100">
                <a:solidFill>
                  <a:srgbClr val="B8C7DA"/>
                </a:solidFill>
                <a:latin typeface="Segoe UI"/>
                <a:ea typeface="Segoe UI"/>
              </a:rPr>
              <a:t>Panel 1024x600 at 59.5 Hz, H_TOTAL 1344; source 512x300 RGB565; three sources - GbE, SD card, self-generated test card - arbitrated in the PL.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B631AABB-1417-4124-91F8-6224EBC2F1AB}"/>
              </a:ext>
            </a:extLst>
          </p:cNvPr>
          <p:cNvSpPr txBox="1"/>
          <p:nvPr/>
        </p:nvSpPr>
        <p:spPr>
          <a:xfrm>
            <a:off x="609600" y="5924550"/>
            <a:ext cx="10972800" cy="857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Segoe UI Semibold"/>
                <a:ea typeface="Segoe UI Semibold"/>
              </a:rPr>
              <a:t>Honest boundaries: </a:t>
            </a:r>
            <a:r>
              <a:rPr sz="1100">
                <a:solidFill>
                  <a:srgbClr val="B8C7DA"/>
                </a:solidFill>
                <a:latin typeface="Segoe UI"/>
                <a:ea typeface="Segoe UI"/>
              </a:rPr>
              <a:t> absolute WNS/WHS deltas are neither gain nor loss here - equivalent sources measured a 0.4 ns placement swing between builds. One per-pixel criterion is left deliberately red, documenting an unfixed frame-head wrap-around. Simulation is xsim only, so out-of-array writes are closed out with on-board evidence. r94 is not gate-frozen yet (frozen set: r75).</a:t>
            </a:r>
          </a:p>
          <a:p>
            <a:pPr algn="l"/>
            <a:r>
              <a:rPr sz="1100">
                <a:solidFill>
                  <a:srgbClr val="8FA3B8"/>
                </a:solidFill>
                <a:latin typeface="Segoe UI"/>
                <a:ea typeface="Segoe UI"/>
              </a:rPr>
              <a:t>Vivado / Vitis 2025.2.1 - device xc7z020clg484-2 - sources on GitHub, MIT - every number names the report file it came from (data/metrics.csv).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