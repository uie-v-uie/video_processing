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259" cy="106920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259" cy="2240280"/>
          </a:xfrm>
          <a:prstGeom prst="rect">
            <a:avLst/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 i="0">
                <a:solidFill>
                  <a:srgbClr val="111827"/>
                </a:solidFill>
                <a:latin typeface="Bahnschrift"/>
              </a:rPr>
              <a:t>AMD FPGA INNOVATION DESIGN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6280" y="28346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60" b="0" i="0">
                <a:solidFill>
                  <a:srgbClr val="4B5563"/>
                </a:solidFill>
                <a:latin typeface="Bahnschrift"/>
              </a:rPr>
              <a:t>PRIMARY GROUP   ·   SELF-DEFINED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11696" y="228600"/>
            <a:ext cx="58521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1827"/>
                </a:solidFill>
                <a:latin typeface="Bahnschrift"/>
              </a:rPr>
              <a:t>AMD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7260336" y="274320"/>
            <a:ext cx="137160" cy="106984"/>
          </a:xfrm>
          <a:prstGeom prst="triangle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493776"/>
            <a:ext cx="6601968" cy="7315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21792"/>
            <a:ext cx="5852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55221"/>
                </a:solidFill>
                <a:latin typeface="Bahnschrift"/>
              </a:rPr>
              <a:t>ZYNQ-7020   ·   A FULLY HARDWARE VIDEO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859536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111827"/>
                </a:solidFill>
                <a:latin typeface="Bahnschrift"/>
              </a:rPr>
              <a:t>ONE FRAME.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243584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C55221"/>
                </a:solidFill>
                <a:latin typeface="Bahnschrift"/>
              </a:rPr>
              <a:t>TWO TRUTHS.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700784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4B5563"/>
                </a:solidFill>
                <a:latin typeface="Bahnschrift"/>
              </a:rPr>
              <a:t>Original and processed pixels leave one frame buffer in the same clock; the seam compares content, not screenshots. The node reports what it did on the wire at 1 Hz.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2240280"/>
            <a:ext cx="7560259" cy="365760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313432"/>
            <a:ext cx="6583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SAME 512×300 FRAME   /   SOBEL   /   0°   /   NO ROTATION</a:t>
            </a:r>
          </a:p>
        </p:txBody>
      </p:sp>
      <p:pic>
        <p:nvPicPr>
          <p:cNvPr id="14" name="Picture 13" descr="poster_fra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724912"/>
            <a:ext cx="6601968" cy="386791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75488" y="2724912"/>
            <a:ext cx="6601968" cy="3867912"/>
          </a:xfrm>
          <a:prstGeom prst="rect">
            <a:avLst/>
          </a:prstGeom>
          <a:noFill/>
          <a:ln w="10160">
            <a:solidFill>
              <a:srgbClr val="C55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656832"/>
            <a:ext cx="6583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4B5563"/>
                </a:solidFill>
                <a:latin typeface="Bahnschrift"/>
              </a:rPr>
              <a:t>Rendered from the same test frame; two panes, one frame identity.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7560259" cy="1536192"/>
          </a:xfrm>
          <a:prstGeom prst="rect">
            <a:avLst/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69128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55221"/>
                </a:solidFill>
                <a:latin typeface="Bahnschrift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691286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11827"/>
                </a:solidFill>
                <a:latin typeface="Bahnschrift"/>
              </a:rPr>
              <a:t>SAME-FRAME A/B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7205472"/>
            <a:ext cx="199339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Bahnschrift"/>
              </a:rPr>
              <a:t>Fixed 15-cycle chain; the seam is a pixel decision.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69128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55221"/>
                </a:solidFill>
                <a:latin typeface="Bahnschrif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691286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11827"/>
                </a:solidFill>
                <a:latin typeface="Bahnschrift"/>
              </a:rPr>
              <a:t>TELEMETRY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7205472"/>
            <a:ext cx="199339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Bahnschrift"/>
              </a:rPr>
              <a:t>Frames, aborts, rows, latency, pane and gaps at 1 Hz.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691286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55221"/>
                </a:solidFill>
                <a:latin typeface="Bahnschrif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691286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11827"/>
                </a:solidFill>
                <a:latin typeface="Bahnschrift"/>
              </a:rPr>
              <a:t>FAULT INJECTION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7205472"/>
            <a:ext cx="199339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Bahnschrift"/>
              </a:rPr>
              <a:t>Drop 1 in 100; aborts move; recovery returns.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8321040"/>
            <a:ext cx="7560259" cy="987552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Bahnschrift Light"/>
              </a:rPr>
              <a:t>1.341 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setup WNS · 0 failing endpoints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Bahnschrift Light"/>
              </a:rPr>
              <a:t>0.025 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hold WHS · tightest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752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Bahnschrift Light"/>
              </a:rPr>
              <a:t>70.00%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30752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BRAM · 98 of 140 tiles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8383" y="8439912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FFFFF"/>
                </a:solidFill>
                <a:latin typeface="Bahnschrift Light"/>
              </a:rPr>
              <a:t>15 cycles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58383" y="886053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7ED"/>
                </a:solidFill>
                <a:latin typeface="Bahnschrift"/>
              </a:rPr>
              <a:t>fixed effect latency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9491472"/>
            <a:ext cx="66019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C8800"/>
                </a:solidFill>
                <a:latin typeface="Consolas"/>
              </a:rPr>
              <a:t>RGMII  →  MAC  →  UDP  →  DDR  →  GEOMETRY  →  6-STAGE EFFECTS  →  A/B SEAM  →  HDMI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9692640"/>
            <a:ext cx="66019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B5563"/>
                </a:solidFill>
                <a:latin typeface="Bahnschrift"/>
              </a:rPr>
              <a:t>512×300 RGB565 at 30 fps  →  1024×600 at 59.5 Hz   ·   xc7z020clg484-2   ·   1 GbE UDP ingest   ·   SD and test-pattern fallback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9948672"/>
            <a:ext cx="66019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11827"/>
                </a:solidFill>
                <a:latin typeface="Consolas"/>
              </a:rPr>
              <a:t>29.95 FPS   ·   PANE_BAD=0   ·   QSPI COLD BOOT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" y="10323576"/>
            <a:ext cx="6601968" cy="5486"/>
          </a:xfrm>
          <a:prstGeom prst="rect">
            <a:avLst/>
          </a:prstGeom>
          <a:solidFill>
            <a:srgbClr val="C55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103875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550" b="0" i="0">
                <a:solidFill>
                  <a:srgbClr val="4B5563"/>
                </a:solidFill>
                <a:latin typeface="Bahnschrift"/>
              </a:rPr>
              <a:t>AMD, the AMD Arrow logo and combinations thereof are trademarks of Advanced Micro Devices, Inc. Zynq is a trademark of AMD. All other trademarks are the property of their respective owners.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1038758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560" b="0" i="0">
                <a:solidFill>
                  <a:srgbClr val="4B5563"/>
                </a:solidFill>
                <a:latin typeface="Bahnschrift"/>
              </a:rPr>
              <a:t>Zynq-7020  ·  1024×600 HDMI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cp:lastModifiedBy/>
  <cp:revision>1</cp:revision>
  <cp:category/>
</cp:coreProperties>
</file>