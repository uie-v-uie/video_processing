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7560259" cy="10692079"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TextBox 1"/>
          <p:cNvSpPr txBox="1"/>
          <p:nvPr/>
        </p:nvSpPr>
        <p:spPr>
          <a:xfrm>
            <a:off x="502920" y="301752"/>
            <a:ext cx="4480560" cy="182880"/>
          </a:xfrm>
          <a:prstGeom prst="rect">
            <a:avLst/>
          </a:prstGeom>
          <a:noFill/>
        </p:spPr>
        <p:txBody>
          <a:bodyPr wrap="square" lIns="0" rIns="0" tIns="0" bIns="0" anchor="t">
            <a:spAutoFit/>
          </a:bodyPr>
          <a:lstStyle/>
          <a:p>
            <a:pPr algn="l">
              <a:lnSpc>
                <a:spcPct val="100000"/>
              </a:lnSpc>
              <a:spcAft>
                <a:spcPts val="0"/>
              </a:spcAft>
            </a:pPr>
            <a:r>
              <a:rPr sz="750" b="1" i="0">
                <a:solidFill>
                  <a:srgbClr val="1C1917"/>
                </a:solidFill>
                <a:latin typeface="Segoe UI"/>
              </a:rPr>
              <a:t>AMD FPGA INNOVATION DESIGN COMPETITION</a:t>
            </a:r>
          </a:p>
        </p:txBody>
      </p:sp>
      <p:sp>
        <p:nvSpPr>
          <p:cNvPr id="3" name="TextBox 2"/>
          <p:cNvSpPr txBox="1"/>
          <p:nvPr/>
        </p:nvSpPr>
        <p:spPr>
          <a:xfrm>
            <a:off x="4572000" y="310896"/>
            <a:ext cx="2057400" cy="182880"/>
          </a:xfrm>
          <a:prstGeom prst="rect">
            <a:avLst/>
          </a:prstGeom>
          <a:noFill/>
        </p:spPr>
        <p:txBody>
          <a:bodyPr wrap="square" lIns="0" rIns="0" tIns="0" bIns="0" anchor="t">
            <a:spAutoFit/>
          </a:bodyPr>
          <a:lstStyle/>
          <a:p>
            <a:pPr algn="r">
              <a:lnSpc>
                <a:spcPct val="100000"/>
              </a:lnSpc>
              <a:spcAft>
                <a:spcPts val="0"/>
              </a:spcAft>
            </a:pPr>
            <a:r>
              <a:rPr sz="680" b="0" i="0">
                <a:solidFill>
                  <a:srgbClr val="57534E"/>
                </a:solidFill>
                <a:latin typeface="Segoe UI"/>
              </a:rPr>
              <a:t>PRIMARY GROUP   ·   SELF-DEFINED TRACK</a:t>
            </a:r>
          </a:p>
        </p:txBody>
      </p:sp>
      <p:sp>
        <p:nvSpPr>
          <p:cNvPr id="4" name="TextBox 3"/>
          <p:cNvSpPr txBox="1"/>
          <p:nvPr/>
        </p:nvSpPr>
        <p:spPr>
          <a:xfrm>
            <a:off x="6711696" y="246888"/>
            <a:ext cx="585216" cy="274320"/>
          </a:xfrm>
          <a:prstGeom prst="rect">
            <a:avLst/>
          </a:prstGeom>
          <a:noFill/>
        </p:spPr>
        <p:txBody>
          <a:bodyPr wrap="square" lIns="0" rIns="0" tIns="0" bIns="0" anchor="t">
            <a:spAutoFit/>
          </a:bodyPr>
          <a:lstStyle/>
          <a:p>
            <a:pPr algn="l">
              <a:lnSpc>
                <a:spcPct val="100000"/>
              </a:lnSpc>
              <a:spcAft>
                <a:spcPts val="0"/>
              </a:spcAft>
            </a:pPr>
            <a:r>
              <a:rPr sz="1700" b="1" i="0">
                <a:solidFill>
                  <a:srgbClr val="1C1917"/>
                </a:solidFill>
                <a:latin typeface="Segoe UI"/>
              </a:rPr>
              <a:t>AMD</a:t>
            </a:r>
          </a:p>
        </p:txBody>
      </p:sp>
      <p:sp>
        <p:nvSpPr>
          <p:cNvPr id="5" name="Isosceles Triangle 4"/>
          <p:cNvSpPr/>
          <p:nvPr/>
        </p:nvSpPr>
        <p:spPr>
          <a:xfrm rot="5400000">
            <a:off x="7260336" y="292608"/>
            <a:ext cx="146304" cy="114117"/>
          </a:xfrm>
          <a:prstGeom prst="triangle">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512064"/>
            <a:ext cx="6556248" cy="7315"/>
          </a:xfrm>
          <a:prstGeom prst="rect">
            <a:avLst/>
          </a:prstGeom>
          <a:solidFill>
            <a:srgbClr val="D8C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0080"/>
            <a:ext cx="5486400" cy="182880"/>
          </a:xfrm>
          <a:prstGeom prst="rect">
            <a:avLst/>
          </a:prstGeom>
          <a:noFill/>
        </p:spPr>
        <p:txBody>
          <a:bodyPr wrap="square" lIns="0" rIns="0" tIns="0" bIns="0" anchor="t">
            <a:spAutoFit/>
          </a:bodyPr>
          <a:lstStyle/>
          <a:p>
            <a:pPr algn="l">
              <a:lnSpc>
                <a:spcPct val="100000"/>
              </a:lnSpc>
              <a:spcAft>
                <a:spcPts val="0"/>
              </a:spcAft>
            </a:pPr>
            <a:r>
              <a:rPr sz="800" b="1" i="0">
                <a:solidFill>
                  <a:srgbClr val="B45309"/>
                </a:solidFill>
                <a:latin typeface="Segoe UI"/>
              </a:rPr>
              <a:t>ZYNQ-7020   ·   A FULLY HARDWARE VIDEO NODE</a:t>
            </a:r>
          </a:p>
        </p:txBody>
      </p:sp>
      <p:sp>
        <p:nvSpPr>
          <p:cNvPr id="8" name="TextBox 7"/>
          <p:cNvSpPr txBox="1"/>
          <p:nvPr/>
        </p:nvSpPr>
        <p:spPr>
          <a:xfrm>
            <a:off x="502920" y="859536"/>
            <a:ext cx="6492240" cy="603504"/>
          </a:xfrm>
          <a:prstGeom prst="rect">
            <a:avLst/>
          </a:prstGeom>
          <a:noFill/>
        </p:spPr>
        <p:txBody>
          <a:bodyPr wrap="square" lIns="0" rIns="0" tIns="0" bIns="0" anchor="t">
            <a:spAutoFit/>
          </a:bodyPr>
          <a:lstStyle/>
          <a:p>
            <a:pPr algn="l">
              <a:lnSpc>
                <a:spcPct val="100000"/>
              </a:lnSpc>
              <a:spcAft>
                <a:spcPts val="0"/>
              </a:spcAft>
            </a:pPr>
            <a:r>
              <a:rPr sz="4000" b="1" i="0">
                <a:solidFill>
                  <a:srgbClr val="1C1917"/>
                </a:solidFill>
                <a:latin typeface="Georgia"/>
              </a:rPr>
              <a:t>One frame.</a:t>
            </a:r>
          </a:p>
        </p:txBody>
      </p:sp>
      <p:sp>
        <p:nvSpPr>
          <p:cNvPr id="9" name="TextBox 8"/>
          <p:cNvSpPr txBox="1"/>
          <p:nvPr/>
        </p:nvSpPr>
        <p:spPr>
          <a:xfrm>
            <a:off x="502920" y="1399032"/>
            <a:ext cx="6492240" cy="603504"/>
          </a:xfrm>
          <a:prstGeom prst="rect">
            <a:avLst/>
          </a:prstGeom>
          <a:noFill/>
        </p:spPr>
        <p:txBody>
          <a:bodyPr wrap="square" lIns="0" rIns="0" tIns="0" bIns="0" anchor="t">
            <a:spAutoFit/>
          </a:bodyPr>
          <a:lstStyle/>
          <a:p>
            <a:pPr algn="l">
              <a:lnSpc>
                <a:spcPct val="100000"/>
              </a:lnSpc>
              <a:spcAft>
                <a:spcPts val="0"/>
              </a:spcAft>
            </a:pPr>
            <a:r>
              <a:rPr sz="4000" b="0" i="1">
                <a:solidFill>
                  <a:srgbClr val="B45309"/>
                </a:solidFill>
                <a:latin typeface="Georgia"/>
              </a:rPr>
              <a:t>Two truths.</a:t>
            </a:r>
          </a:p>
        </p:txBody>
      </p:sp>
      <p:sp>
        <p:nvSpPr>
          <p:cNvPr id="10" name="TextBox 9"/>
          <p:cNvSpPr txBox="1"/>
          <p:nvPr/>
        </p:nvSpPr>
        <p:spPr>
          <a:xfrm>
            <a:off x="502920" y="2084831"/>
            <a:ext cx="6446520" cy="603504"/>
          </a:xfrm>
          <a:prstGeom prst="rect">
            <a:avLst/>
          </a:prstGeom>
          <a:noFill/>
        </p:spPr>
        <p:txBody>
          <a:bodyPr wrap="square" lIns="0" rIns="0" tIns="0" bIns="0" anchor="t">
            <a:spAutoFit/>
          </a:bodyPr>
          <a:lstStyle/>
          <a:p>
            <a:pPr algn="l">
              <a:lnSpc>
                <a:spcPct val="112000"/>
              </a:lnSpc>
              <a:spcAft>
                <a:spcPts val="0"/>
              </a:spcAft>
            </a:pPr>
            <a:r>
              <a:rPr sz="1050" b="0" i="0">
                <a:solidFill>
                  <a:srgbClr val="57534E"/>
                </a:solidFill>
                <a:latin typeface="Segoe UI"/>
              </a:rPr>
              <a:t>Original and processed pixels leave one frame buffer in the same clock, so the split screen compares content rather than screenshots. The node reports what it did on the wire at 1 Hz.</a:t>
            </a:r>
          </a:p>
        </p:txBody>
      </p:sp>
      <p:pic>
        <p:nvPicPr>
          <p:cNvPr id="11" name="Picture 10" descr="poster_frame_split.png"/>
          <p:cNvPicPr>
            <a:picLocks noChangeAspect="1"/>
          </p:cNvPicPr>
          <p:nvPr/>
        </p:nvPicPr>
        <p:blipFill>
          <a:blip r:embed="rId2"/>
          <a:stretch>
            <a:fillRect/>
          </a:stretch>
        </p:blipFill>
        <p:spPr>
          <a:xfrm>
            <a:off x="502920" y="2761488"/>
            <a:ext cx="6554419" cy="3840480"/>
          </a:xfrm>
          <a:prstGeom prst="rect">
            <a:avLst/>
          </a:prstGeom>
        </p:spPr>
      </p:pic>
      <p:sp>
        <p:nvSpPr>
          <p:cNvPr id="12" name="TextBox 11"/>
          <p:cNvSpPr txBox="1"/>
          <p:nvPr/>
        </p:nvSpPr>
        <p:spPr>
          <a:xfrm>
            <a:off x="502920" y="6647688"/>
            <a:ext cx="6492240" cy="146304"/>
          </a:xfrm>
          <a:prstGeom prst="rect">
            <a:avLst/>
          </a:prstGeom>
          <a:noFill/>
        </p:spPr>
        <p:txBody>
          <a:bodyPr wrap="square" lIns="0" rIns="0" tIns="0" bIns="0" anchor="t">
            <a:spAutoFit/>
          </a:bodyPr>
          <a:lstStyle/>
          <a:p>
            <a:pPr algn="l">
              <a:lnSpc>
                <a:spcPct val="100000"/>
              </a:lnSpc>
              <a:spcAft>
                <a:spcPts val="0"/>
              </a:spcAft>
            </a:pPr>
            <a:r>
              <a:rPr sz="680" b="0" i="1">
                <a:solidFill>
                  <a:srgbClr val="57534E"/>
                </a:solidFill>
                <a:latin typeface="Segoe UI"/>
              </a:rPr>
              <a:t>Rendered from the same 512×300 test frame through the implemented Sobel chain at 0°, no rotation.</a:t>
            </a:r>
          </a:p>
        </p:txBody>
      </p:sp>
      <p:sp>
        <p:nvSpPr>
          <p:cNvPr id="13" name="Rectangle 12"/>
          <p:cNvSpPr/>
          <p:nvPr/>
        </p:nvSpPr>
        <p:spPr>
          <a:xfrm>
            <a:off x="502920" y="6903720"/>
            <a:ext cx="2048256" cy="7315"/>
          </a:xfrm>
          <a:prstGeom prst="rect">
            <a:avLst/>
          </a:prstGeom>
          <a:solidFill>
            <a:srgbClr val="1C19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6986016"/>
            <a:ext cx="2048256" cy="164592"/>
          </a:xfrm>
          <a:prstGeom prst="rect">
            <a:avLst/>
          </a:prstGeom>
          <a:noFill/>
        </p:spPr>
        <p:txBody>
          <a:bodyPr wrap="square" lIns="0" rIns="0" tIns="0" bIns="0" anchor="t">
            <a:spAutoFit/>
          </a:bodyPr>
          <a:lstStyle/>
          <a:p>
            <a:pPr algn="l">
              <a:lnSpc>
                <a:spcPct val="100000"/>
              </a:lnSpc>
              <a:spcAft>
                <a:spcPts val="0"/>
              </a:spcAft>
            </a:pPr>
            <a:r>
              <a:rPr sz="819" b="1" i="0">
                <a:solidFill>
                  <a:srgbClr val="B45309"/>
                </a:solidFill>
                <a:latin typeface="Segoe UI"/>
              </a:rPr>
              <a:t>01   SAME-FRAME A/B</a:t>
            </a:r>
          </a:p>
        </p:txBody>
      </p:sp>
      <p:sp>
        <p:nvSpPr>
          <p:cNvPr id="15" name="TextBox 14"/>
          <p:cNvSpPr txBox="1"/>
          <p:nvPr/>
        </p:nvSpPr>
        <p:spPr>
          <a:xfrm>
            <a:off x="502920" y="7178040"/>
            <a:ext cx="2048256" cy="868680"/>
          </a:xfrm>
          <a:prstGeom prst="rect">
            <a:avLst/>
          </a:prstGeom>
          <a:noFill/>
        </p:spPr>
        <p:txBody>
          <a:bodyPr wrap="square" lIns="0" rIns="0" tIns="0" bIns="0" anchor="t">
            <a:spAutoFit/>
          </a:bodyPr>
          <a:lstStyle/>
          <a:p>
            <a:pPr algn="l">
              <a:lnSpc>
                <a:spcPct val="114000"/>
              </a:lnSpc>
              <a:spcAft>
                <a:spcPts val="0"/>
              </a:spcAft>
            </a:pPr>
            <a:r>
              <a:rPr sz="800" b="0" i="0">
                <a:solidFill>
                  <a:srgbClr val="57534E"/>
                </a:solidFill>
                <a:latin typeface="Segoe UI"/>
              </a:rPr>
              <a:t>A fixed 15-cycle effect chain sits behind both halves. The seam is a pixel decision, not a compositing trick.</a:t>
            </a:r>
          </a:p>
        </p:txBody>
      </p:sp>
      <p:sp>
        <p:nvSpPr>
          <p:cNvPr id="16" name="Rectangle 15"/>
          <p:cNvSpPr/>
          <p:nvPr/>
        </p:nvSpPr>
        <p:spPr>
          <a:xfrm>
            <a:off x="2756916" y="6903720"/>
            <a:ext cx="2048256" cy="7315"/>
          </a:xfrm>
          <a:prstGeom prst="rect">
            <a:avLst/>
          </a:prstGeom>
          <a:solidFill>
            <a:srgbClr val="1C19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56916" y="6986016"/>
            <a:ext cx="2048256" cy="164592"/>
          </a:xfrm>
          <a:prstGeom prst="rect">
            <a:avLst/>
          </a:prstGeom>
          <a:noFill/>
        </p:spPr>
        <p:txBody>
          <a:bodyPr wrap="square" lIns="0" rIns="0" tIns="0" bIns="0" anchor="t">
            <a:spAutoFit/>
          </a:bodyPr>
          <a:lstStyle/>
          <a:p>
            <a:pPr algn="l">
              <a:lnSpc>
                <a:spcPct val="100000"/>
              </a:lnSpc>
              <a:spcAft>
                <a:spcPts val="0"/>
              </a:spcAft>
            </a:pPr>
            <a:r>
              <a:rPr sz="819" b="1" i="0">
                <a:solidFill>
                  <a:srgbClr val="B45309"/>
                </a:solidFill>
                <a:latin typeface="Segoe UI"/>
              </a:rPr>
              <a:t>02   CAUSE-BEARING TELEMETRY</a:t>
            </a:r>
          </a:p>
        </p:txBody>
      </p:sp>
      <p:sp>
        <p:nvSpPr>
          <p:cNvPr id="18" name="TextBox 17"/>
          <p:cNvSpPr txBox="1"/>
          <p:nvPr/>
        </p:nvSpPr>
        <p:spPr>
          <a:xfrm>
            <a:off x="2756916" y="7178040"/>
            <a:ext cx="2048256" cy="868680"/>
          </a:xfrm>
          <a:prstGeom prst="rect">
            <a:avLst/>
          </a:prstGeom>
          <a:noFill/>
        </p:spPr>
        <p:txBody>
          <a:bodyPr wrap="square" lIns="0" rIns="0" tIns="0" bIns="0" anchor="t">
            <a:spAutoFit/>
          </a:bodyPr>
          <a:lstStyle/>
          <a:p>
            <a:pPr algn="l">
              <a:lnSpc>
                <a:spcPct val="114000"/>
              </a:lnSpc>
              <a:spcAft>
                <a:spcPts val="0"/>
              </a:spcAft>
            </a:pPr>
            <a:r>
              <a:rPr sz="800" b="0" i="0">
                <a:solidFill>
                  <a:srgbClr val="57534E"/>
                </a:solidFill>
                <a:latin typeface="Segoe UI"/>
              </a:rPr>
              <a:t>Frames, aborts, missing rows, PL latency, pane integrity and frame gaps arrive as a 1 Hz UDP beacon, not just FPS.</a:t>
            </a:r>
          </a:p>
        </p:txBody>
      </p:sp>
      <p:sp>
        <p:nvSpPr>
          <p:cNvPr id="19" name="Rectangle 18"/>
          <p:cNvSpPr/>
          <p:nvPr/>
        </p:nvSpPr>
        <p:spPr>
          <a:xfrm>
            <a:off x="5010912" y="6903720"/>
            <a:ext cx="2048256" cy="7315"/>
          </a:xfrm>
          <a:prstGeom prst="rect">
            <a:avLst/>
          </a:prstGeom>
          <a:solidFill>
            <a:srgbClr val="1C19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10912" y="6986016"/>
            <a:ext cx="2048256" cy="164592"/>
          </a:xfrm>
          <a:prstGeom prst="rect">
            <a:avLst/>
          </a:prstGeom>
          <a:noFill/>
        </p:spPr>
        <p:txBody>
          <a:bodyPr wrap="square" lIns="0" rIns="0" tIns="0" bIns="0" anchor="t">
            <a:spAutoFit/>
          </a:bodyPr>
          <a:lstStyle/>
          <a:p>
            <a:pPr algn="l">
              <a:lnSpc>
                <a:spcPct val="100000"/>
              </a:lnSpc>
              <a:spcAft>
                <a:spcPts val="0"/>
              </a:spcAft>
            </a:pPr>
            <a:r>
              <a:rPr sz="819" b="1" i="0">
                <a:solidFill>
                  <a:srgbClr val="B45309"/>
                </a:solidFill>
                <a:latin typeface="Segoe UI"/>
              </a:rPr>
              <a:t>03   CALIBRATED BY FAULT INJECTION</a:t>
            </a:r>
          </a:p>
        </p:txBody>
      </p:sp>
      <p:sp>
        <p:nvSpPr>
          <p:cNvPr id="21" name="TextBox 20"/>
          <p:cNvSpPr txBox="1"/>
          <p:nvPr/>
        </p:nvSpPr>
        <p:spPr>
          <a:xfrm>
            <a:off x="5010912" y="7178040"/>
            <a:ext cx="2048256" cy="868680"/>
          </a:xfrm>
          <a:prstGeom prst="rect">
            <a:avLst/>
          </a:prstGeom>
          <a:noFill/>
        </p:spPr>
        <p:txBody>
          <a:bodyPr wrap="square" lIns="0" rIns="0" tIns="0" bIns="0" anchor="t">
            <a:spAutoFit/>
          </a:bodyPr>
          <a:lstStyle/>
          <a:p>
            <a:pPr algn="l">
              <a:lnSpc>
                <a:spcPct val="114000"/>
              </a:lnSpc>
              <a:spcAft>
                <a:spcPts val="0"/>
              </a:spcAft>
            </a:pPr>
            <a:r>
              <a:rPr sz="800" b="0" i="0">
                <a:solidFill>
                  <a:srgbClr val="57534E"/>
                </a:solidFill>
                <a:latin typeface="Segoe UI"/>
              </a:rPr>
              <a:t>Inject 1-in-100 packet loss: aborts and missed rows must move, FPS must fall, recovery must return to baseline.</a:t>
            </a:r>
          </a:p>
        </p:txBody>
      </p:sp>
      <p:sp>
        <p:nvSpPr>
          <p:cNvPr id="22" name="Rectangle 21"/>
          <p:cNvSpPr/>
          <p:nvPr/>
        </p:nvSpPr>
        <p:spPr>
          <a:xfrm>
            <a:off x="502920" y="8183879"/>
            <a:ext cx="6556248" cy="7315"/>
          </a:xfrm>
          <a:prstGeom prst="rect">
            <a:avLst/>
          </a:prstGeom>
          <a:solidFill>
            <a:srgbClr val="D8C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8247888"/>
            <a:ext cx="5486400" cy="146304"/>
          </a:xfrm>
          <a:prstGeom prst="rect">
            <a:avLst/>
          </a:prstGeom>
          <a:noFill/>
        </p:spPr>
        <p:txBody>
          <a:bodyPr wrap="square" lIns="0" rIns="0" tIns="0" bIns="0" anchor="t">
            <a:spAutoFit/>
          </a:bodyPr>
          <a:lstStyle/>
          <a:p>
            <a:pPr algn="l">
              <a:lnSpc>
                <a:spcPct val="100000"/>
              </a:lnSpc>
              <a:spcAft>
                <a:spcPts val="0"/>
              </a:spcAft>
            </a:pPr>
            <a:r>
              <a:rPr sz="720" b="1" i="0">
                <a:solidFill>
                  <a:srgbClr val="57534E"/>
                </a:solidFill>
                <a:latin typeface="Segoe UI"/>
              </a:rPr>
              <a:t>THE NUMBERS   ·   ROUTED BUILD</a:t>
            </a:r>
          </a:p>
        </p:txBody>
      </p:sp>
      <p:sp>
        <p:nvSpPr>
          <p:cNvPr id="24" name="TextBox 23"/>
          <p:cNvSpPr txBox="1"/>
          <p:nvPr/>
        </p:nvSpPr>
        <p:spPr>
          <a:xfrm>
            <a:off x="502920" y="8430768"/>
            <a:ext cx="1572768" cy="384048"/>
          </a:xfrm>
          <a:prstGeom prst="rect">
            <a:avLst/>
          </a:prstGeom>
          <a:noFill/>
        </p:spPr>
        <p:txBody>
          <a:bodyPr wrap="square" lIns="0" rIns="0" tIns="0" bIns="0" anchor="ctr">
            <a:spAutoFit/>
          </a:bodyPr>
          <a:lstStyle/>
          <a:p>
            <a:pPr algn="ctr">
              <a:lnSpc>
                <a:spcPct val="100000"/>
              </a:lnSpc>
              <a:spcAft>
                <a:spcPts val="0"/>
              </a:spcAft>
            </a:pPr>
            <a:r>
              <a:rPr sz="2000" b="1" i="0">
                <a:solidFill>
                  <a:srgbClr val="1C1917"/>
                </a:solidFill>
                <a:latin typeface="Georgia"/>
              </a:rPr>
              <a:t>1.341 ns</a:t>
            </a:r>
          </a:p>
        </p:txBody>
      </p:sp>
      <p:sp>
        <p:nvSpPr>
          <p:cNvPr id="25" name="TextBox 24"/>
          <p:cNvSpPr txBox="1"/>
          <p:nvPr/>
        </p:nvSpPr>
        <p:spPr>
          <a:xfrm>
            <a:off x="502920" y="8851392"/>
            <a:ext cx="1572768" cy="274320"/>
          </a:xfrm>
          <a:prstGeom prst="rect">
            <a:avLst/>
          </a:prstGeom>
          <a:noFill/>
        </p:spPr>
        <p:txBody>
          <a:bodyPr wrap="square" lIns="0" rIns="0" tIns="0" bIns="0" anchor="ctr">
            <a:spAutoFit/>
          </a:bodyPr>
          <a:lstStyle/>
          <a:p>
            <a:pPr algn="ctr">
              <a:lnSpc>
                <a:spcPct val="105000"/>
              </a:lnSpc>
              <a:spcAft>
                <a:spcPts val="0"/>
              </a:spcAft>
            </a:pPr>
            <a:r>
              <a:rPr sz="680" b="0" i="0">
                <a:solidFill>
                  <a:srgbClr val="57534E"/>
                </a:solidFill>
                <a:latin typeface="Segoe UI"/>
              </a:rPr>
              <a:t>setup WNS · 0 failing endpoints</a:t>
            </a:r>
          </a:p>
        </p:txBody>
      </p:sp>
      <p:sp>
        <p:nvSpPr>
          <p:cNvPr id="26" name="TextBox 25"/>
          <p:cNvSpPr txBox="1"/>
          <p:nvPr/>
        </p:nvSpPr>
        <p:spPr>
          <a:xfrm>
            <a:off x="2139696" y="8430768"/>
            <a:ext cx="1572768" cy="384048"/>
          </a:xfrm>
          <a:prstGeom prst="rect">
            <a:avLst/>
          </a:prstGeom>
          <a:noFill/>
        </p:spPr>
        <p:txBody>
          <a:bodyPr wrap="square" lIns="0" rIns="0" tIns="0" bIns="0" anchor="ctr">
            <a:spAutoFit/>
          </a:bodyPr>
          <a:lstStyle/>
          <a:p>
            <a:pPr algn="ctr">
              <a:lnSpc>
                <a:spcPct val="100000"/>
              </a:lnSpc>
              <a:spcAft>
                <a:spcPts val="0"/>
              </a:spcAft>
            </a:pPr>
            <a:r>
              <a:rPr sz="2000" b="1" i="0">
                <a:solidFill>
                  <a:srgbClr val="3F6212"/>
                </a:solidFill>
                <a:latin typeface="Georgia"/>
              </a:rPr>
              <a:t>0.025 ns</a:t>
            </a:r>
          </a:p>
        </p:txBody>
      </p:sp>
      <p:sp>
        <p:nvSpPr>
          <p:cNvPr id="27" name="TextBox 26"/>
          <p:cNvSpPr txBox="1"/>
          <p:nvPr/>
        </p:nvSpPr>
        <p:spPr>
          <a:xfrm>
            <a:off x="2139696" y="8851392"/>
            <a:ext cx="1572768" cy="274320"/>
          </a:xfrm>
          <a:prstGeom prst="rect">
            <a:avLst/>
          </a:prstGeom>
          <a:noFill/>
        </p:spPr>
        <p:txBody>
          <a:bodyPr wrap="square" lIns="0" rIns="0" tIns="0" bIns="0" anchor="ctr">
            <a:spAutoFit/>
          </a:bodyPr>
          <a:lstStyle/>
          <a:p>
            <a:pPr algn="ctr">
              <a:lnSpc>
                <a:spcPct val="105000"/>
              </a:lnSpc>
              <a:spcAft>
                <a:spcPts val="0"/>
              </a:spcAft>
            </a:pPr>
            <a:r>
              <a:rPr sz="680" b="0" i="0">
                <a:solidFill>
                  <a:srgbClr val="57534E"/>
                </a:solidFill>
                <a:latin typeface="Segoe UI"/>
              </a:rPr>
              <a:t>hold WHS · tightest path</a:t>
            </a:r>
          </a:p>
        </p:txBody>
      </p:sp>
      <p:sp>
        <p:nvSpPr>
          <p:cNvPr id="28" name="TextBox 27"/>
          <p:cNvSpPr txBox="1"/>
          <p:nvPr/>
        </p:nvSpPr>
        <p:spPr>
          <a:xfrm>
            <a:off x="3776472" y="8430768"/>
            <a:ext cx="1572768" cy="384048"/>
          </a:xfrm>
          <a:prstGeom prst="rect">
            <a:avLst/>
          </a:prstGeom>
          <a:noFill/>
        </p:spPr>
        <p:txBody>
          <a:bodyPr wrap="square" lIns="0" rIns="0" tIns="0" bIns="0" anchor="ctr">
            <a:spAutoFit/>
          </a:bodyPr>
          <a:lstStyle/>
          <a:p>
            <a:pPr algn="ctr">
              <a:lnSpc>
                <a:spcPct val="100000"/>
              </a:lnSpc>
              <a:spcAft>
                <a:spcPts val="0"/>
              </a:spcAft>
            </a:pPr>
            <a:r>
              <a:rPr sz="2000" b="1" i="0">
                <a:solidFill>
                  <a:srgbClr val="1C1917"/>
                </a:solidFill>
                <a:latin typeface="Georgia"/>
              </a:rPr>
              <a:t>70.00%</a:t>
            </a:r>
          </a:p>
        </p:txBody>
      </p:sp>
      <p:sp>
        <p:nvSpPr>
          <p:cNvPr id="29" name="TextBox 28"/>
          <p:cNvSpPr txBox="1"/>
          <p:nvPr/>
        </p:nvSpPr>
        <p:spPr>
          <a:xfrm>
            <a:off x="3776472" y="8851392"/>
            <a:ext cx="1572768" cy="274320"/>
          </a:xfrm>
          <a:prstGeom prst="rect">
            <a:avLst/>
          </a:prstGeom>
          <a:noFill/>
        </p:spPr>
        <p:txBody>
          <a:bodyPr wrap="square" lIns="0" rIns="0" tIns="0" bIns="0" anchor="ctr">
            <a:spAutoFit/>
          </a:bodyPr>
          <a:lstStyle/>
          <a:p>
            <a:pPr algn="ctr">
              <a:lnSpc>
                <a:spcPct val="105000"/>
              </a:lnSpc>
              <a:spcAft>
                <a:spcPts val="0"/>
              </a:spcAft>
            </a:pPr>
            <a:r>
              <a:rPr sz="680" b="0" i="0">
                <a:solidFill>
                  <a:srgbClr val="57534E"/>
                </a:solidFill>
                <a:latin typeface="Segoe UI"/>
              </a:rPr>
              <a:t>BRAM · 98 of 140 tiles</a:t>
            </a:r>
          </a:p>
        </p:txBody>
      </p:sp>
      <p:sp>
        <p:nvSpPr>
          <p:cNvPr id="30" name="TextBox 29"/>
          <p:cNvSpPr txBox="1"/>
          <p:nvPr/>
        </p:nvSpPr>
        <p:spPr>
          <a:xfrm>
            <a:off x="5413248" y="8430768"/>
            <a:ext cx="1572768" cy="384048"/>
          </a:xfrm>
          <a:prstGeom prst="rect">
            <a:avLst/>
          </a:prstGeom>
          <a:noFill/>
        </p:spPr>
        <p:txBody>
          <a:bodyPr wrap="square" lIns="0" rIns="0" tIns="0" bIns="0" anchor="ctr">
            <a:spAutoFit/>
          </a:bodyPr>
          <a:lstStyle/>
          <a:p>
            <a:pPr algn="ctr">
              <a:lnSpc>
                <a:spcPct val="100000"/>
              </a:lnSpc>
              <a:spcAft>
                <a:spcPts val="0"/>
              </a:spcAft>
            </a:pPr>
            <a:r>
              <a:rPr sz="2000" b="1" i="0">
                <a:solidFill>
                  <a:srgbClr val="1C1917"/>
                </a:solidFill>
                <a:latin typeface="Georgia"/>
              </a:rPr>
              <a:t>15 cycles</a:t>
            </a:r>
          </a:p>
        </p:txBody>
      </p:sp>
      <p:sp>
        <p:nvSpPr>
          <p:cNvPr id="31" name="TextBox 30"/>
          <p:cNvSpPr txBox="1"/>
          <p:nvPr/>
        </p:nvSpPr>
        <p:spPr>
          <a:xfrm>
            <a:off x="5413248" y="8851392"/>
            <a:ext cx="1572768" cy="274320"/>
          </a:xfrm>
          <a:prstGeom prst="rect">
            <a:avLst/>
          </a:prstGeom>
          <a:noFill/>
        </p:spPr>
        <p:txBody>
          <a:bodyPr wrap="square" lIns="0" rIns="0" tIns="0" bIns="0" anchor="ctr">
            <a:spAutoFit/>
          </a:bodyPr>
          <a:lstStyle/>
          <a:p>
            <a:pPr algn="ctr">
              <a:lnSpc>
                <a:spcPct val="105000"/>
              </a:lnSpc>
              <a:spcAft>
                <a:spcPts val="0"/>
              </a:spcAft>
            </a:pPr>
            <a:r>
              <a:rPr sz="680" b="0" i="0">
                <a:solidFill>
                  <a:srgbClr val="57534E"/>
                </a:solidFill>
                <a:latin typeface="Segoe UI"/>
              </a:rPr>
              <a:t>fixed effect latency</a:t>
            </a:r>
          </a:p>
        </p:txBody>
      </p:sp>
      <p:sp>
        <p:nvSpPr>
          <p:cNvPr id="32" name="TextBox 31"/>
          <p:cNvSpPr txBox="1"/>
          <p:nvPr/>
        </p:nvSpPr>
        <p:spPr>
          <a:xfrm>
            <a:off x="502920" y="9235440"/>
            <a:ext cx="6556248" cy="182880"/>
          </a:xfrm>
          <a:prstGeom prst="rect">
            <a:avLst/>
          </a:prstGeom>
          <a:noFill/>
        </p:spPr>
        <p:txBody>
          <a:bodyPr wrap="square" lIns="0" rIns="0" tIns="0" bIns="0" anchor="t">
            <a:spAutoFit/>
          </a:bodyPr>
          <a:lstStyle/>
          <a:p>
            <a:pPr algn="l">
              <a:lnSpc>
                <a:spcPct val="100000"/>
              </a:lnSpc>
              <a:spcAft>
                <a:spcPts val="0"/>
              </a:spcAft>
            </a:pPr>
            <a:r>
              <a:rPr sz="720" b="1" i="0">
                <a:solidFill>
                  <a:srgbClr val="B45309"/>
                </a:solidFill>
                <a:latin typeface="Segoe UI"/>
              </a:rPr>
              <a:t>RGMII  →  MAC  →  UDP  →  DDR  →  GEOMETRY  →  6-STAGE EFFECTS  →  A/B SEAM  →  HDMI</a:t>
            </a:r>
          </a:p>
        </p:txBody>
      </p:sp>
      <p:sp>
        <p:nvSpPr>
          <p:cNvPr id="33" name="TextBox 32"/>
          <p:cNvSpPr txBox="1"/>
          <p:nvPr/>
        </p:nvSpPr>
        <p:spPr>
          <a:xfrm>
            <a:off x="502920" y="9418320"/>
            <a:ext cx="6556248" cy="182880"/>
          </a:xfrm>
          <a:prstGeom prst="rect">
            <a:avLst/>
          </a:prstGeom>
          <a:noFill/>
        </p:spPr>
        <p:txBody>
          <a:bodyPr wrap="square" lIns="0" rIns="0" tIns="0" bIns="0" anchor="t">
            <a:spAutoFit/>
          </a:bodyPr>
          <a:lstStyle/>
          <a:p>
            <a:pPr algn="l">
              <a:lnSpc>
                <a:spcPct val="100000"/>
              </a:lnSpc>
              <a:spcAft>
                <a:spcPts val="0"/>
              </a:spcAft>
            </a:pPr>
            <a:r>
              <a:rPr sz="680" b="0" i="0">
                <a:solidFill>
                  <a:srgbClr val="57534E"/>
                </a:solidFill>
                <a:latin typeface="Segoe UI"/>
              </a:rPr>
              <a:t>512×300 RGB565 at 30 fps  →  1024×600 at 59.5 Hz   ·   xc7z020clg484-2   ·   1 GbE UDP ingest   ·   SD and test-pattern fallback</a:t>
            </a:r>
          </a:p>
        </p:txBody>
      </p:sp>
      <p:sp>
        <p:nvSpPr>
          <p:cNvPr id="34" name="Rectangle 33"/>
          <p:cNvSpPr/>
          <p:nvPr/>
        </p:nvSpPr>
        <p:spPr>
          <a:xfrm>
            <a:off x="502920" y="10332720"/>
            <a:ext cx="6556248" cy="7315"/>
          </a:xfrm>
          <a:prstGeom prst="rect">
            <a:avLst/>
          </a:prstGeom>
          <a:solidFill>
            <a:srgbClr val="D8C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2920" y="10387584"/>
            <a:ext cx="5394960" cy="274320"/>
          </a:xfrm>
          <a:prstGeom prst="rect">
            <a:avLst/>
          </a:prstGeom>
          <a:noFill/>
        </p:spPr>
        <p:txBody>
          <a:bodyPr wrap="square" lIns="0" rIns="0" tIns="0" bIns="0" anchor="t">
            <a:spAutoFit/>
          </a:bodyPr>
          <a:lstStyle/>
          <a:p>
            <a:pPr algn="l">
              <a:lnSpc>
                <a:spcPct val="105000"/>
              </a:lnSpc>
              <a:spcAft>
                <a:spcPts val="0"/>
              </a:spcAft>
            </a:pPr>
            <a:r>
              <a:rPr sz="560" b="0" i="0">
                <a:solidFill>
                  <a:srgbClr val="57534E"/>
                </a:solidFill>
                <a:latin typeface="Segoe UI"/>
              </a:rPr>
              <a:t>AMD, the AMD Arrow logo and combinations thereof are trademarks of Advanced Micro Devices, Inc. Zynq is a trademark of AMD. All other trademarks are the property of their respective owners.</a:t>
            </a:r>
          </a:p>
        </p:txBody>
      </p:sp>
      <p:sp>
        <p:nvSpPr>
          <p:cNvPr id="36" name="TextBox 35"/>
          <p:cNvSpPr txBox="1"/>
          <p:nvPr/>
        </p:nvSpPr>
        <p:spPr>
          <a:xfrm>
            <a:off x="5394960" y="10387584"/>
            <a:ext cx="1645920" cy="182880"/>
          </a:xfrm>
          <a:prstGeom prst="rect">
            <a:avLst/>
          </a:prstGeom>
          <a:noFill/>
        </p:spPr>
        <p:txBody>
          <a:bodyPr wrap="square" lIns="0" rIns="0" tIns="0" bIns="0" anchor="t">
            <a:spAutoFit/>
          </a:bodyPr>
          <a:lstStyle/>
          <a:p>
            <a:pPr algn="r">
              <a:lnSpc>
                <a:spcPct val="100000"/>
              </a:lnSpc>
              <a:spcAft>
                <a:spcPts val="0"/>
              </a:spcAft>
            </a:pPr>
            <a:r>
              <a:rPr sz="580" b="0" i="0">
                <a:solidFill>
                  <a:srgbClr val="57534E"/>
                </a:solidFill>
                <a:latin typeface="Segoe UI"/>
              </a:rPr>
              <a:t>Zynq-7020  ·  1024×600 HDMI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多源视频流多效果变换处理系统</dc:title>
  <dc:subject>基于 Zynq-7020 的全硬件视频通路</dc:subject>
  <dc:creator/>
  <cp:keywords/>
  <cp:lastModifiedBy/>
  <cp:revision>1</cp:revision>
  <cp:category/>
</cp:coreProperties>
</file>