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2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2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4" Type="http://schemas.openxmlformats.org/officeDocument/2006/relationships/slide" Target="slides/slide14.xml" /><Relationship Id="rId19" Type="http://schemas.openxmlformats.org/officeDocument/2006/relationships/slide" Target="slides/slide19.xml" /><Relationship Id="rId0" Type="http://schemas.openxmlformats.org/officeDocument/2006/relationships/slideMaster" Target="slideMasters/slideMaster1.xml" /><Relationship Id="rId8" Type="http://schemas.openxmlformats.org/officeDocument/2006/relationships/slide" Target="slides/slide8.xml" /><Relationship Id="rId1" Type="http://schemas.openxmlformats.org/officeDocument/2006/relationships/slide" Target="slides/slide1.xml" /><Relationship Id="rId15" Type="http://schemas.openxmlformats.org/officeDocument/2006/relationships/slide" Target="slides/slide15.xml" /><Relationship Id="rId26" Type="http://schemas.openxmlformats.org/officeDocument/2006/relationships/presProps" Target="presProps.xml" /><Relationship Id="rId13" Type="http://schemas.openxmlformats.org/officeDocument/2006/relationships/slide" Target="slides/slide13.xml" /><Relationship Id="rId9" Type="http://schemas.openxmlformats.org/officeDocument/2006/relationships/slide" Target="slides/slide9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6" Type="http://schemas.openxmlformats.org/officeDocument/2006/relationships/slide" Target="slides/slide16.xml" /><Relationship Id="rId12" Type="http://schemas.openxmlformats.org/officeDocument/2006/relationships/slide" Target="slides/slide12.xml" /><Relationship Id="rId2" Type="http://schemas.openxmlformats.org/officeDocument/2006/relationships/slide" Target="slides/slide2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20" Type="http://schemas.openxmlformats.org/officeDocument/2006/relationships/slide" Target="slides/slide20.xml" /><Relationship Id="rId23" Type="http://schemas.openxmlformats.org/officeDocument/2006/relationships/slide" Target="slides/slide23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29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各位评委老师好，我们的作品是《面向共享单车的北斗可信电子围栏》。</a:t>
            </a:r>
          </a:p>
          <a:p>
            <a:r>
              <a:rPr lang="zh-CN" dirty="0"/>
              <a:t>先说我们要解决的问题。共享单车停在划定的停车框里，本来不该扣费。但在地铁口、商圈这类高楼密集的地方，北斗信号被楼体反射形成多径，解算出来的坐标会漂出框外十几米。平台看到"在框外"，就判违停，扣五到二十块钱的调度费。用户明明停对了地方，却要自己去申诉。</a:t>
            </a:r>
          </a:p>
          <a:p>
            <a:r>
              <a:rPr lang="zh-CN" dirty="0"/>
              <a:t>我们的方案只改了一个前提：在判断"在不在框里"之前，先判断"这个位置可不可信"。不可信就不扣费，进人工复核；可信了再严格判围栏。</a:t>
            </a:r>
          </a:p>
          <a:p>
            <a:r>
              <a:rPr lang="zh-CN" dirty="0"/>
              <a:t>评委老师手上的方案报告有完整推导。这里我重点讲清楚三件事：痛点是不是真的、规则改在哪里、指标能不能复现。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整个汇报按方案报告的六个部分来走。</a:t>
            </a:r>
          </a:p>
          <a:p>
            <a:r>
              <a:rPr lang="zh-CN" dirty="0"/>
              <a:t>第一部分讲现状：电子围栏已经很普及，但它缺的不是精度，是对"位置可不可信"的判断。</a:t>
            </a:r>
          </a:p>
          <a:p>
            <a:r>
              <a:rPr lang="zh-CN" dirty="0"/>
              <a:t>第二部分讲目标：我们要建立的是一套三态计费规则，以及它对应的验收口径。</a:t>
            </a:r>
          </a:p>
          <a:p>
            <a:r>
              <a:rPr lang="zh-CN" dirty="0"/>
              <a:t>第三部分讲创新：我们不发明新的检测理论，创新在业务语义和可复现的评估方法上。</a:t>
            </a:r>
          </a:p>
          <a:p>
            <a:r>
              <a:rPr lang="zh-CN" dirty="0"/>
              <a:t>第四部分是篇幅最重的，讲系统框架、定位与完好性判据、数字孪生测试集，以及实验结果。</a:t>
            </a:r>
          </a:p>
          <a:p>
            <a:r>
              <a:rPr lang="zh-CN" dirty="0"/>
              <a:t>第五部分讲应用前景，也就是谁受益、成本落在哪。</a:t>
            </a:r>
          </a:p>
          <a:p>
            <a:r>
              <a:rPr lang="zh-CN" dirty="0"/>
              <a:t>第六部分是我主动说明的边界和不确定性。这部分我讲得比较实，因为我认为把局限说清楚，比让评委自己发现更可信。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先看现状。</a:t>
            </a:r>
          </a:p>
          <a:p>
            <a:r>
              <a:rPr lang="zh-CN" dirty="0"/>
              <a:t>电子围栏已经是行业标配了。国内主流运营平台的做法基本都是"解算坐标加多边形包含"，开阔环境下效果不错。</a:t>
            </a:r>
          </a:p>
          <a:p>
            <a:r>
              <a:rPr lang="zh-CN" dirty="0"/>
              <a:t>问题出在城市里。围栏边界通常只有一到三米，而地铁口、商圈这种城市峡谷环境，伪距误差能到几米甚至十几米。误差量级和判定尺度是同一个数量级，所以边界附近的误判不是偶发，是结构性的。</a:t>
            </a:r>
          </a:p>
          <a:p>
            <a:r>
              <a:rPr lang="zh-CN" dirty="0"/>
              <a:t>国外微出行研究也在面对同样的问题，他们的思路是把航空导航里的完好性概念迁移过来：风险超限的时候，宁可拒绝输出或者降级服务，也不要给一个看起来正常、实际不可信的坐标。</a:t>
            </a:r>
          </a:p>
          <a:p>
            <a:r>
              <a:rPr lang="zh-CN" dirty="0"/>
              <a:t>现有四条路线——纯几何包含、蓝牙信标、多星座多频、云端轨迹后处理——都在想办法提高精度，但都没有回答"这一次到底能不能信"。这就是我们要补的位置。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共享单车解决了最后一公里出行，乱停乱放又影响市容和交通秩序。电子围栏就是把定位结果和调度费、信用分挂钩，判断车有没有停进指定区域。国内主流平台的做法是"解算坐标加多边形包含"，开阔环境下效果是好的。</a:t>
            </a:r>
          </a:p>
          <a:p>
            <a:r>
              <a:rPr lang="zh-CN" dirty="0"/>
              <a:t>但在地铁口、商圈这类城市峡谷，这个策略有个结构性缺陷：它默认解算出来的坐标是可信的，只判断点落在框内还是框外，从来不评估这个点本身可不可靠。多径让坐标漂移的时候，系统会给出一个看起来很正常、实际上错误的框外结论，用户就被扣费了。</a:t>
            </a:r>
          </a:p>
          <a:p>
            <a:r>
              <a:rPr lang="zh-CN" dirty="0"/>
              <a:t>国外微出行研究也在面对同样的问题，他们的思路是把航空导航的完好性概念迁移过来：风险超限时，宁可拒绝输出或降级服务。而且他们的评估依赖标准化场景和公开指标，比如误判率、虚警率、误差分布。</a:t>
            </a:r>
          </a:p>
          <a:p>
            <a:r>
              <a:rPr lang="zh-CN" dirty="0"/>
              <a:t>我们沿用的就是这条思路，区别在于把"降级"落成了具体的计费语义。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这一页想说明痛点到底有多严重。</a:t>
            </a:r>
          </a:p>
          <a:p>
            <a:r>
              <a:rPr lang="zh-CN" dirty="0"/>
              <a:t>我们把车停在停车框里、但被判违停扣费的情况，定义成"误扣费率"。在城市多径场景下，旧逻辑的误扣率是百分之八十四点二。</a:t>
            </a:r>
          </a:p>
          <a:p>
            <a:r>
              <a:rPr lang="zh-CN" dirty="0"/>
              <a:t>这个数字意味着什么？它不是个别投诉。四分之三以上的边界停车都会被误判成违停，用户几乎每次停在地铁口都要自己去申诉。</a:t>
            </a:r>
          </a:p>
          <a:p>
            <a:r>
              <a:rPr lang="zh-CN" dirty="0"/>
              <a:t>我们把这个过程拆成五步：骑车到地铁口，把车停进框的边缘，高楼多径让解算坐标漂出框外十几米，平台看到在框外就判违停、扣五到二十块调度费，最后用户申诉，平台付客服成本、丢口碑。</a:t>
            </a:r>
          </a:p>
          <a:p>
            <a:r>
              <a:rPr lang="zh-CN" dirty="0"/>
              <a:t>所以我一直在强调，运营侧真正缺的不是更高的精度，而是"不可信、待复核"这第三个状态。只要没有这个状态，系统就必须在"合规"和"违停"之间二选一，边界上就一定会错。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我们把现有方案拆成四条路线来看。</a:t>
            </a:r>
          </a:p>
          <a:p>
            <a:r>
              <a:rPr lang="zh-CN" dirty="0"/>
              <a:t>第一条是纯多边形包含，也就是现在的做法。它零增量成本，但完全依赖解算精度，边界一到三米，多径一来就错。</a:t>
            </a:r>
          </a:p>
          <a:p>
            <a:r>
              <a:rPr lang="zh-CN" dirty="0"/>
              <a:t>第二条是蓝牙信标或者 UWB，能做到厘米级，但需要近场部署，密度和运维成本都高。</a:t>
            </a:r>
          </a:p>
          <a:p>
            <a:r>
              <a:rPr lang="zh-CN" dirty="0"/>
              <a:t>第三条是多星座加多频 RTK，开阔环境下能到分米级，但锁端成本高、初始化慢，而且它不解决欺骗问题。</a:t>
            </a:r>
          </a:p>
          <a:p>
            <a:r>
              <a:rPr lang="zh-CN" dirty="0"/>
              <a:t>第四条是云端轨迹后处理，属于事后修正，有延迟，也有隐私顾虑。</a:t>
            </a:r>
          </a:p>
          <a:p>
            <a:r>
              <a:rPr lang="zh-CN" dirty="0"/>
              <a:t>四条路线有一个共同点：它们都在想办法把坐标做得更准。但没有一条回答"这一次的坐标能不能信"。</a:t>
            </a:r>
          </a:p>
          <a:p>
            <a:r>
              <a:rPr lang="zh-CN" dirty="0"/>
              <a:t>我们的定位不是第五种提高精度的方案，而是给这四条路线补上一个前提判断。算法运行在既有锁端算力之内，不增加硬件。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第二部分讲目标。</a:t>
            </a:r>
          </a:p>
          <a:p>
            <a:r>
              <a:rPr lang="zh-CN" dirty="0"/>
              <a:t>我们的目标分三层。业务层，是把"位置是否可信"写进计费流程，形成合规、违停、不可信这三态语义，并且把误扣率作为可交付、可复算的指标。</a:t>
            </a:r>
          </a:p>
          <a:p>
            <a:r>
              <a:rPr lang="zh-CN" dirty="0"/>
              <a:t>方法层，是建立一套可复现的数字孪生测试集，覆盖贴边停车、城市多径、慢拉欺骗和局部拒止。不买天线、不跑外场，任何人都能重跑复算。</a:t>
            </a:r>
          </a:p>
          <a:p>
            <a:r>
              <a:rPr lang="zh-CN" dirty="0"/>
              <a:t>工程层，是让规则和硬件载体解耦。量产锁控走低功耗 MCU 或者 GNSS 模组，Zynq 只作为研发验证的一种形态，不作为方案成立的前提。</a:t>
            </a:r>
          </a:p>
          <a:p>
            <a:r>
              <a:rPr lang="zh-CN" dirty="0"/>
              <a:t>这三层看起来目标不同，但验收口径是同一个：误扣费率。这也是我们认为这个作品能被检验的地方——它不靠形容词，靠一个可以重算的数字。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这是我们整个方案最核心的一页。</a:t>
            </a:r>
          </a:p>
          <a:p>
            <a:r>
              <a:rPr lang="zh-CN" dirty="0"/>
              <a:t>旧规则只有一个问题：解算点在框里就合规，在框外就违停扣费。我们的规则在前面加了一步——先判断这个位置可不可信。</a:t>
            </a:r>
          </a:p>
          <a:p>
            <a:r>
              <a:rPr lang="zh-CN" dirty="0"/>
              <a:t>于是业务上就有了三个状态。</a:t>
            </a:r>
          </a:p>
          <a:p>
            <a:r>
              <a:rPr lang="zh-CN" dirty="0"/>
              <a:t>第一个状态，可信且在框内，判合规，不扣费。</a:t>
            </a:r>
          </a:p>
          <a:p>
            <a:r>
              <a:rPr lang="zh-CN" dirty="0"/>
              <a:t>第二个状态，可信但在框外，判违停，扣调度费。这一条和旧逻辑是一样的，我们没有放松对真违停的判定。</a:t>
            </a:r>
          </a:p>
          <a:p>
            <a:r>
              <a:rPr lang="zh-CN" dirty="0"/>
              <a:t>第三个状态，也是新增的状态：位置不可信，不管是可疑还是拒止，一律不扣费，进入人工复核队列。</a:t>
            </a:r>
          </a:p>
          <a:p>
            <a:r>
              <a:rPr lang="zh-CN" dirty="0"/>
              <a:t>关键在于，判定的前提从"点在不在框里"换成了"这个点能不能信"。误扣在这一步就被拦下来了，而不是等用户申诉才补救。</a:t>
            </a:r>
          </a:p>
          <a:p>
            <a:r>
              <a:rPr lang="zh-CN" dirty="0"/>
              <a:t>下面这条链路是它的执行顺序：观测进来，做 WLS 定位并算残差 RMS，用残差一致性判三态；只有可信的历元才会走到围栏包含判定，最后输出计费标志。不可信的历元根本不会进入扣费分支。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目标分三层，每一层我都给了一个可以检验的口径。</a:t>
            </a:r>
          </a:p>
          <a:p>
            <a:r>
              <a:rPr lang="zh-CN" dirty="0"/>
              <a:t>业务层，把"不可信就不扣费"写进计费流程。验收口径是误扣费率——车辆真值在框内却被扣费的比例，越低越好。</a:t>
            </a:r>
          </a:p>
          <a:p>
            <a:r>
              <a:rPr lang="zh-CN" dirty="0"/>
              <a:t>方法层，建立贴边停车加城市多径、慢拉欺骗、局部拒止的数字孪生测试集。验收口径是这套场景库能不能被第三方重跑复现，不需要买天线、不需要跑外场。</a:t>
            </a:r>
          </a:p>
          <a:p>
            <a:r>
              <a:rPr lang="zh-CN" dirty="0"/>
              <a:t>工程层，让规则和载体解耦。验收口径是同一套逻辑在 PC 和边缘 SoC 上跑出同数量级的指标。</a:t>
            </a:r>
          </a:p>
          <a:p>
            <a:r>
              <a:rPr lang="zh-CN" dirty="0"/>
              <a:t>三层目标看起来不一样，但最终都落在误扣费率这一个数字上。我们认为这是这个作品能被检验的地方——它不靠形容词，靠一个别人可以重算的数字。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第三部分讲创新性。这里我想先划清一条边界：我们不发明新的检测理论。</a:t>
            </a:r>
          </a:p>
          <a:p>
            <a:r>
              <a:rPr lang="zh-CN" dirty="0"/>
              <a:t>基线用的就是残差一致性，也就是 RAIM 的思想，这是成熟方法。我们的创新在四个地方。</a:t>
            </a:r>
          </a:p>
          <a:p>
            <a:r>
              <a:rPr lang="zh-CN" dirty="0"/>
              <a:t>第一是业务创新：把完好性前置到扣费之前。以前完好性是一个内部标志位，现在它是一个有业务后果的状态——不扣费、进复核。</a:t>
            </a:r>
          </a:p>
          <a:p>
            <a:r>
              <a:rPr lang="zh-CN" dirty="0"/>
              <a:t>第二是方法创新：用残差一致性这些中间量去驱动三态判决，而且和围栏几何完全解耦。这意味着算法可以替换、阈值可以标定，不是黑盒。</a:t>
            </a:r>
          </a:p>
          <a:p>
            <a:r>
              <a:rPr lang="zh-CN" dirty="0"/>
              <a:t>第三是工程创新：规则和载体解耦。同一套逻辑在 PC 上、在 MCU 上、在 Zynq 上跑，指标口径不变。</a:t>
            </a:r>
          </a:p>
          <a:p>
            <a:r>
              <a:rPr lang="zh-CN" dirty="0"/>
              <a:t>第四是验证创新：我们做的是数字孪生测试集加业务可读指标。我们报的是误扣率，不是只报坐标误差的 RMSE。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四个创新点，我逐个说。</a:t>
            </a:r>
          </a:p>
          <a:p>
            <a:r>
              <a:rPr lang="zh-CN" dirty="0"/>
              <a:t>第一个是业务创新。以前完好性只是接收机内部的一个标志位，没人管它。我们把它前置到扣费之前，让它变成一个有业务后果的状态：不可信就不扣费，进复核队列。误扣率因此从百分之八十四点二降到百分之十点五。</a:t>
            </a:r>
          </a:p>
          <a:p>
            <a:r>
              <a:rPr lang="zh-CN" dirty="0"/>
              <a:t>第二个是方法创新。三态判决和围栏几何是完全解耦的，判据是去均值之后的残差 RMS。好处是算法可以替换、阈值可以按运营的 ROC 曲线标定，不是黑盒。</a:t>
            </a:r>
          </a:p>
          <a:p>
            <a:r>
              <a:rPr lang="zh-CN" dirty="0"/>
              <a:t>第三个是工程创新。同一套逻辑可以跑在 PC 上、跑在低功耗 MCU 上、也跑在 Zynq 的 PS 上，指标口径不变。载体可以换，指标不变，这一点对落地很重要。</a:t>
            </a:r>
          </a:p>
          <a:p>
            <a:r>
              <a:rPr lang="zh-CN" dirty="0"/>
              <a:t>第四个是验证创新。我们报的主指标是误扣费率，不是坐标 RMSE。因为 RMSE 再小，用户被扣钱这件事还是发生了。场景参数写在代码里，第三方可以拿同一套测试集重算。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这一页我想把"新在哪"说得准确一点，因为评委会追问。</a:t>
            </a:r>
          </a:p>
          <a:p>
            <a:r>
              <a:rPr lang="zh-CN" dirty="0"/>
              <a:t>我们的检测层用的是残差一致性，也就是 RAIM 的思想。这是航空完好性监测的成熟方法，我们不主张在这个层面发明新理论。</a:t>
            </a:r>
          </a:p>
          <a:p>
            <a:r>
              <a:rPr lang="zh-CN" dirty="0"/>
              <a:t>但我们和航空 RAIM 的目标完全不同。航空 RAIM 服务的是航电认证，输出是完好性告警，失效代价是不可接受的。我们服务的是计费业务，输出是三态计费标志，失效代价是用户被误扣、平台付申诉成本。目标不同，阈值策略和工程约束也就完全不同。</a:t>
            </a:r>
          </a:p>
          <a:p>
            <a:r>
              <a:rPr lang="zh-CN" dirty="0"/>
              <a:t>真正的创新在业务层，有两处。</a:t>
            </a:r>
          </a:p>
          <a:p>
            <a:r>
              <a:rPr lang="zh-CN" dirty="0"/>
              <a:t>第一，我们把完好性输出接到了计费语义上。HOLD 不是一个标志位，它是一个有业务后果的状态：这次不扣钱，转人工复核。</a:t>
            </a:r>
          </a:p>
          <a:p>
            <a:r>
              <a:rPr lang="zh-CN" dirty="0"/>
              <a:t>第二，我们把多径、欺骗、拒止的复合剧本做成了一个可复现、可回归的评估集。这样"相对改善"这个结论，第三方拿同一份数据就能复算出来。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第四部分是篇幅最重的一块，讲我们具体怎么做的。</a:t>
            </a:r>
          </a:p>
          <a:p>
            <a:r>
              <a:rPr lang="zh-CN" dirty="0"/>
              <a:t>先说系统框架。整个链路分五层：观测接入、定位与完好性、围栏决策、业务与运营，以及最底下的部署载体。L2 到 L4 是这个作品的本体，L0 载体是可以替换的，这是设计原则。</a:t>
            </a:r>
          </a:p>
          <a:p>
            <a:r>
              <a:rPr lang="zh-CN" dirty="0"/>
              <a:t>再说定位与完好性。用伪距做加权最小二乘解算，取去公共钟差之后的残差 RMS 作为一致性判据，据此判三态。</a:t>
            </a:r>
          </a:p>
          <a:p>
            <a:r>
              <a:rPr lang="zh-CN" dirty="0"/>
              <a:t>第三是数字孪生测试集。四个剧本：清洁、城市多径、多径加慢拉欺骗、局部拒止。参数都写在代码里，谁都可以重跑。</a:t>
            </a:r>
          </a:p>
          <a:p>
            <a:r>
              <a:rPr lang="zh-CN" dirty="0"/>
              <a:t>最后是实验和验证。PC 上跑出完整的误扣率对比，板端用同一套测试集验证规则可以在边缘 SoC 上运行。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这是整个技术路线。</a:t>
            </a:r>
          </a:p>
          <a:p>
            <a:r>
              <a:rPr lang="zh-CN" dirty="0"/>
              <a:t>从左到右：场景库提供多径、欺骗、拒止三类剧本；在真值轨迹上注入伪距观测；然后做 WLS 定位并计算残差 RMS；残差进入完好性三态判决；只有可信的历元才进入围栏决策，输出 OK、FEE 或者 HOLD；最后汇成业务指标，也就是误扣费率。</a:t>
            </a:r>
          </a:p>
          <a:p>
            <a:r>
              <a:rPr lang="zh-CN" dirty="0"/>
              <a:t>这套路线有三个特点我想强调。</a:t>
            </a:r>
          </a:p>
          <a:p>
            <a:r>
              <a:rPr lang="zh-CN" dirty="0"/>
              <a:t>第一，它不依赖射频前端和外设。PC 上就能批量评估，出指标、出图。</a:t>
            </a:r>
          </a:p>
          <a:p>
            <a:r>
              <a:rPr lang="zh-CN" dirty="0"/>
              <a:t>第二，规则可以在 MCU 或者边缘 SoC 上落地，不是只能在 PC 上跑的仿真。</a:t>
            </a:r>
          </a:p>
          <a:p>
            <a:r>
              <a:rPr lang="zh-CN" dirty="0"/>
              <a:t>第三，也是最关键的：整条链路的载体是可以替换的。L2 到 L4 是这个作品的本体，L0 只是承载它的形态。换载体不换结论，这是我们的设计原则。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这一页讲判据怎么来的。</a:t>
            </a:r>
          </a:p>
          <a:p>
            <a:r>
              <a:rPr lang="zh-CN" dirty="0"/>
              <a:t>第一步是伪距观测。接收机测到的不是真实距离，而是伪距：几何距离加上接收机钟差，再加上各种误差。未知数是接收机的三维坐标和钟差，一共四个，所以至少要四颗星。</a:t>
            </a:r>
          </a:p>
          <a:p>
            <a:r>
              <a:rPr lang="zh-CN" dirty="0"/>
              <a:t>第二步是解算。我们用迭代加权最小二乘。设计矩阵 H 的每一行是视线单位矢量的反向加上钟差项，解出坐标和钟差的增量，迭代到收敛。解完之后做一次残差剔野，把明显偏离的通道剔除，再重解。</a:t>
            </a:r>
          </a:p>
          <a:p>
            <a:r>
              <a:rPr lang="zh-CN" dirty="0"/>
              <a:t>第三步是关键。把公共钟差去掉之后，剩下的残差反映的是各通道之间的不一致性。我们取它的均方根作为判据。</a:t>
            </a:r>
          </a:p>
          <a:p>
            <a:r>
              <a:rPr lang="zh-CN" dirty="0"/>
              <a:t>RMS 小，说明观测之间自洽，判可信，正常走围栏判定；RMS 中等，说明有多径或者欺骗的迹象，判可疑；RMS 超过上限，或者可用星不足四颗，判拒止。</a:t>
            </a:r>
          </a:p>
          <a:p>
            <a:r>
              <a:rPr lang="zh-CN" dirty="0"/>
              <a:t>这个判据的好处是，它来自观测之间的自洽性，不需要外部基准，所以锁端可以独立运行。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所谓数字孪生，在这个作品里不是三维动画，而是三件事：可配置场景、可复现观测、可量化指标。</a:t>
            </a:r>
          </a:p>
          <a:p>
            <a:r>
              <a:rPr lang="zh-CN" dirty="0"/>
              <a:t>我们建了四个剧本。</a:t>
            </a:r>
          </a:p>
          <a:p>
            <a:r>
              <a:rPr lang="zh-CN" dirty="0"/>
              <a:t>第一个是清洁场景，只叠加观测噪声，噪声标准差一点二米。这是对照组。</a:t>
            </a:r>
          </a:p>
          <a:p>
            <a:r>
              <a:rPr lang="zh-CN" dirty="0"/>
              <a:t>第二个是城市多径，用慢变正弦加高斯包络模拟反射信号的起伏，幅值十二米。这是最常见的失效场景。</a:t>
            </a:r>
          </a:p>
          <a:p>
            <a:r>
              <a:rPr lang="zh-CN" dirty="0"/>
              <a:t>第三个是多径加慢拉欺骗，对部分卫星叠加一个随时间线性增长的公共偏置，速率零点三米每秒。它的特点是早期很难察觉，位置会慢慢被拉走。</a:t>
            </a:r>
          </a:p>
          <a:p>
            <a:r>
              <a:rPr lang="zh-CN" dirty="0"/>
              <a:t>第四个是局部拒止，三十五秒之后只保留三颗可用星，其余通道注入大噪声，模拟信号被遮挡或压制。</a:t>
            </a:r>
          </a:p>
          <a:p>
            <a:r>
              <a:rPr lang="zh-CN" dirty="0"/>
              <a:t>轨迹方面，车辆沿停车框下沿缓慢平移，覆盖框内、贴边和框外三个阶段，模拟用户"找车位、靠边停"的真实行为。每个场景一百二十一个历元，一秒一个点。</a:t>
            </a:r>
          </a:p>
          <a:p>
            <a:r>
              <a:rPr lang="zh-CN" dirty="0"/>
              <a:t>所有这些参数都写在代码里。任何人拿到这个工程，都能重跑出同一份数据。这就是可复现的具体含义。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这是核心结果页。</a:t>
            </a:r>
          </a:p>
          <a:p>
            <a:r>
              <a:rPr lang="zh-CN" dirty="0"/>
              <a:t>四个场景，红柱是旧逻辑的误扣率，绿柱是本方案。</a:t>
            </a:r>
          </a:p>
          <a:p>
            <a:r>
              <a:rPr lang="zh-CN" dirty="0"/>
              <a:t>清洁场景，百分之五点三对百分之五点三，完全没有劣化。这一点很重要，说明我们的机制不会无差别触发，阈值确实卡在干扰上。</a:t>
            </a:r>
          </a:p>
          <a:p>
            <a:r>
              <a:rPr lang="zh-CN" dirty="0"/>
              <a:t>城市多径场景，从百分之八十四点二降到百分之十点五。</a:t>
            </a:r>
          </a:p>
          <a:p>
            <a:r>
              <a:rPr lang="zh-CN" dirty="0"/>
              <a:t>多径加慢拉欺骗，从百分之七十三点七降到零。</a:t>
            </a:r>
          </a:p>
          <a:p>
            <a:r>
              <a:rPr lang="zh-CN" dirty="0"/>
              <a:t>局部拒止，从百分之二十六点三降到百分之五点三。</a:t>
            </a:r>
          </a:p>
          <a:p>
            <a:r>
              <a:rPr lang="zh-CN" dirty="0"/>
              <a:t>但我想主动说清楚代价。误扣率下降，换来的是不可信占比升高：多径场景百分之四十三点八，欺骗场景百分之七十九点三，拒止场景百分之七十一点一。</a:t>
            </a:r>
          </a:p>
          <a:p>
            <a:r>
              <a:rPr lang="zh-CN" dirty="0"/>
              <a:t>也就是说，我们用"这次暂时不扣费、转人工复核"，换取了不冤枉用户。这个取舍是可以调的——如果运营更看重秩序，可以把阈值收紧，让 HOLD 的比例降下来，但误扣会回升。这是一条 ROC 曲线上的选择，不是技术限制。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这一页是空间角度的证据。</a:t>
            </a:r>
          </a:p>
          <a:p>
            <a:r>
              <a:rPr lang="zh-CN" dirty="0"/>
              <a:t>绿框是合规停车区，十六米乘十二米。蓝线是车辆真值轨迹——可以看到真值一直贴着框的下沿走，因为用户就是在框边找车位。橙线是北斗解算轨迹，被多径拉得明显偏出框外，来回抖动。</a:t>
            </a:r>
          </a:p>
          <a:p>
            <a:r>
              <a:rPr lang="zh-CN" dirty="0"/>
              <a:t>红点是旧逻辑的误扣风险点，一共八个：这些时刻车真在框里，但解算点在框外，旧逻辑就会扣费。紫点是我们选择不扣费的 HOLD，一共十八个，全部落在解算轨迹上那些抖动最剧烈的区段。</a:t>
            </a:r>
          </a:p>
          <a:p>
            <a:r>
              <a:rPr lang="zh-CN" dirty="0"/>
              <a:t>所以误扣的减少不是靠放宽阈值——阈值没动。我们做的是把"不确定"这个状态显式地标出来，而不是硬把它归到"框外"。这也是下一页要看的时序证据。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接着看时序证据。这张图把同一段一百二十一个历元的三种判定并排画出来。</a:t>
            </a:r>
          </a:p>
          <a:p>
            <a:r>
              <a:rPr lang="zh-CN" dirty="0"/>
              <a:t>最上面一行是车辆真值：绿色段表示车确实在框内，红色段表示真值已经在框外。可以看到大部分时间真值都在框内，只有末尾一小段真出去了。</a:t>
            </a:r>
          </a:p>
          <a:p>
            <a:r>
              <a:rPr lang="zh-CN" dirty="0"/>
              <a:t>中间一行是本方案：绿色是合规，橙色是可疑，紫色是 HOLD 不扣费。注意紫色的分布——它集中在解算轨迹抖动最剧烈的那一段。</a:t>
            </a:r>
          </a:p>
          <a:p>
            <a:r>
              <a:rPr lang="zh-CN" dirty="0"/>
              <a:t>最下面一行是旧逻辑：它只有框内框外两种颜色，在中间一大段里大面积判"框外"，而真值那时候其实还在框里。这一整片红色，就是误扣的来源。</a:t>
            </a:r>
          </a:p>
          <a:p>
            <a:r>
              <a:rPr lang="zh-CN" dirty="0"/>
              <a:t>对比中间和下面两行，结论很清楚：我们并没有把红色的区域改成绿色，而是把它变成了紫色。也就是说，面对不确定的历元，旧逻辑被迫二选一，我们多给了一个"先不判"的选项。</a:t>
            </a:r>
          </a:p>
          <a:p>
            <a:r>
              <a:rPr lang="zh-CN" dirty="0"/>
              <a:t>这就是"把不确定性显式建模"在时间轴上的样子。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这一页是工程层面的验证。我想先把它的边界说清楚。我们做了什么：把与 PC 完全同源的测试集——四个场景、每个场景一百二十一个历元——链接进 ELF，通过 JTAG 下载到 Zynq-7020 的 ARM 核上批处理，结果写进一个结果邮箱，再用调试接口读回来。截图上可以看到，读回来的魔数和场景数都是对的，清洁场景的误扣率是零点零五三，和 PC 金标准完全一致。我们没做什么：没有做射频全链路，没有天线，没有信道模拟。也没有做任何 FPGA 加速跑分。所以这一页证明的是"同一套规则可以在边缘 SoC 上运行"，而不是"必须用 FPGA"。量产锁控的主路径仍然是低功耗 MCU 或者 GNSS 模组，成本和功耗都远优于 Zynq。Zynq 在我们的方案里，只是研发验证和未来路侧 RSU 原型的一种形态。去掉它，误扣率的结论不变。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部分讲应用前景。对用户来说，最直接的价值就是少被冤枉扣钱。停对了地方就不该付调度费，这个纠纷量能显著下降。对城市治理来说，我们给出的是一套可量化的平衡工具。秩序和体验本来是一对矛盾，现在运营方可以看着误扣率和 HOLD 比例这两条曲线去调，而不是拍脑袋。对运营方来说，是降本。人工申诉的处理量会减少，而且 HOLD 样本本身是有价值的——它标记出了哪些点位定位不可靠，可以直接指导蓝牙信标补盲的选址，不用全域部署。对教学科研来说，这套可复现的场景库可以直接拿去做课程实验和回归测试，不依赖昂贵的硬件。成本方面，算法运行在既有锁控或者模组的算力之内，不增加硬件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这一页回答两个问题：谁受益，成本落在哪。</a:t>
            </a:r>
          </a:p>
          <a:p>
            <a:r>
              <a:rPr lang="zh-CN" dirty="0"/>
              <a:t>用户是最直接的受益方。停对了地方不被扣费，也不用为了几块钱去申诉。</a:t>
            </a:r>
          </a:p>
          <a:p>
            <a:r>
              <a:rPr lang="zh-CN" dirty="0"/>
              <a:t>城市治理是第二个。秩序和体验本来是一对矛盾，我们提供的是可量化的平衡工具，误扣率和 HOLD 比例这两条曲线可以直接拿给交管、城管看。</a:t>
            </a:r>
          </a:p>
          <a:p>
            <a:r>
              <a:rPr lang="zh-CN" dirty="0"/>
              <a:t>运营方是第三个。人工申诉的处理量下降，而且 HOLD 样本本身就是资产——它标出了哪些点位定位不可靠，可以指导蓝牙信标补盲的选址，不需要全域部署。</a:t>
            </a:r>
          </a:p>
          <a:p>
            <a:r>
              <a:rPr lang="zh-CN" dirty="0"/>
              <a:t>第四个是教学科研。这套场景库可复现、不依赖硬件，直接能用在课程实验和算法回归测试里。</a:t>
            </a:r>
          </a:p>
          <a:p>
            <a:r>
              <a:rPr lang="zh-CN" dirty="0"/>
              <a:t>成本上，算法跑在既有的锁控或模组算力之内，不增加硬件成本。可选的信标只用于 HOLD 之后的定点复核，部署密度可以远低于全程定位。这是我认为这个方案能真正落地的原因。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最后一部分，我主动说明边界和不确定性。我认为把局限讲清楚，比让评委自己发现更可信。</a:t>
            </a:r>
          </a:p>
          <a:p>
            <a:r>
              <a:rPr lang="zh-CN" dirty="0"/>
              <a:t>科学层面，我们用的是简化星座，几何真实性和真实星历有差距。所以绝对误差的量级只有参考意义，我们的结论强调的是相对改善，不是绝对精度。</a:t>
            </a:r>
          </a:p>
          <a:p>
            <a:r>
              <a:rPr lang="zh-CN" dirty="0"/>
              <a:t>技术层面，阈值现在是一个和噪声挂钩的倍数规则，是演示值。真正上线要按误扣和漏判的权衡做 ROC 式标定，这个必须由运营方来定。</a:t>
            </a:r>
          </a:p>
          <a:p>
            <a:r>
              <a:rPr lang="zh-CN" dirty="0"/>
              <a:t>攻击层面，我要诚实地说：如果欺骗信号对几乎所有卫星施加近似相同的偏差，那部分偏差会被钟差吸收，残差就抬不起来，可能漏检。要解决这个，需要引入多特征或者惯性器件的扩展。</a:t>
            </a:r>
          </a:p>
          <a:p>
            <a:r>
              <a:rPr lang="zh-CN" dirty="0"/>
              <a:t>工程层面，板端数值和 PC 没有完全对齐，实现细节有差异，我们的金标准以 PC 为准。</a:t>
            </a:r>
          </a:p>
          <a:p>
            <a:r>
              <a:rPr lang="zh-CN" dirty="0"/>
              <a:t>验证层面，我们还没有做实车和实采数据标定，当前的阈值是演示值。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这一页把边界讲得更具体一点，并且给出缓解路径。</a:t>
            </a:r>
          </a:p>
          <a:p>
            <a:r>
              <a:rPr lang="zh-CN" dirty="0"/>
              <a:t>几何真实性方面，我们用的是简化星座，绝对误差量级只能作参考。后续要用实采数据和精密星历重新标定。</a:t>
            </a:r>
          </a:p>
          <a:p>
            <a:r>
              <a:rPr lang="zh-CN" dirty="0"/>
              <a:t>阈值方面，现在是演示值。真正上线要按运营的误扣和漏判权衡去标，而且要分场景配置——地铁口和郊区的参数不该一样。</a:t>
            </a:r>
          </a:p>
          <a:p>
            <a:r>
              <a:rPr lang="zh-CN" dirty="0"/>
              <a:t>欺骗检测方面，近公共偏差是一个真实的弱点。我们的想法是增加多特征判据，同时引入低成本的 IMU，在 HOLD 期间做短时桥接。</a:t>
            </a:r>
          </a:p>
          <a:p>
            <a:r>
              <a:rPr lang="zh-CN" dirty="0"/>
              <a:t>板端一致性方面，和 PC 的数值没有完全对齐，我们明确以 PC 金标准为准，后续统一剔野和迭代的实现。</a:t>
            </a:r>
          </a:p>
          <a:p>
            <a:r>
              <a:rPr lang="zh-CN" dirty="0"/>
              <a:t>实车验证方面，目前还没有做，这是我们下一阶段最重要的工作。</a:t>
            </a:r>
          </a:p>
          <a:p>
            <a:r>
              <a:rPr lang="zh-CN" dirty="0"/>
              <a:t>我把这些列出来，是因为它们每一条都有明确的缓解路径，而不是含糊的"未来会更好"。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最后收束到一句话。</a:t>
            </a:r>
          </a:p>
          <a:p>
            <a:r>
              <a:rPr lang="zh-CN" dirty="0"/>
              <a:t>我们做的事情其实很简单：在扣费之前先问一句，这个位置可不可信。不可信，就不扣费。</a:t>
            </a:r>
          </a:p>
          <a:p>
            <a:r>
              <a:rPr lang="zh-CN" dirty="0"/>
              <a:t>城市多径场景下，误扣费率从百分之八十四点二降到百分之十点五；多径加欺骗场景从百分之七十三点七降到零。</a:t>
            </a:r>
          </a:p>
          <a:p>
            <a:r>
              <a:rPr lang="zh-CN" dirty="0"/>
              <a:t>这个方案不需要换硬件，规则可以跑在既有的锁控算力上。有 FPGA 是加分，没有方案也成立。</a:t>
            </a:r>
          </a:p>
          <a:p>
            <a:r>
              <a:rPr lang="zh-CN" dirty="0"/>
              <a:t>谢谢各位评委。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svg" 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5.svg" /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6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7.svg" /><Relationship Id="rIdNotes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Relationship Id="rIdNotes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Relationship Id="rIdNotes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png" /><Relationship Id="rIdNotes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png" /><Relationship Id="rIdNotes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png" /><Relationship Id="rIdNotes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Relationship Id="rIdNotes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Relationship Id="rIdNotes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Notes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Relationship Id="rId2" Type="http://schemas.openxmlformats.org/officeDocument/2006/relationships/image" Target="media/image12.svg" /><Relationship Id="rIdNotes" Type="http://schemas.openxmlformats.org/officeDocument/2006/relationships/notesSlide" Target="../notesSlides/notesSlide25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5772150"/>
            <a:ext cx="12192000" cy="1085850"/>
          </a:xfrm>
          <a:prstGeom prst="rect">
            <a:avLst/>
          </a:prstGeom>
          <a:solidFill>
            <a:srgbClr val="14499B"/>
          </a:solidFill>
          <a:ln/>
        </p:spPr>
        <p:txBody>
          <a:bodyPr/>
          <a:p>
            <a:pPr/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2000" y="6086475"/>
            <a:ext cx="4010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微软雅黑"/>
                <a:ea typeface="微软雅黑"/>
              </a:rPr>
              <a:t>参赛单位与团队成员（待填写）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6381750"/>
            <a:ext cx="4010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B4E8"/>
                </a:solidFill>
                <a:latin typeface="微软雅黑"/>
                <a:ea typeface="微软雅黑"/>
              </a:rPr>
              <a:t>方案报告　·　数字孪生仿真　·　证据图　·　边缘可部署性验证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0401300" y="6210300"/>
            <a:ext cx="1028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2026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年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9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704850"/>
            <a:ext cx="781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8FB4E8"/>
                </a:solidFill>
                <a:latin typeface="微软雅黑"/>
                <a:ea typeface="微软雅黑"/>
              </a:rPr>
              <a:t>第八届湖南省大学生智能导航科技创新大赛　·　科技创意类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1181100"/>
            <a:ext cx="7810500" cy="17716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650" b="1">
                <a:solidFill>
                  <a:srgbClr val="FFFFFF"/>
                </a:solidFill>
                <a:latin typeface="微软雅黑"/>
                <a:ea typeface="微软雅黑"/>
              </a:rPr>
              <a:t>面向共享单车的</a:t>
            </a:r>
            <a:endParaRPr/>
          </a:p>
          <a:p>
            <a:pPr>
              <a:lnSpc>
                <a:spcPct val="125000"/>
              </a:lnSpc>
            </a:pPr>
            <a:r>
              <a:rPr lang="zh-CN" sz="4650" b="1">
                <a:solidFill>
                  <a:srgbClr val="FFFFFF"/>
                </a:solidFill>
                <a:latin typeface="微软雅黑"/>
                <a:ea typeface="微软雅黑"/>
              </a:rPr>
              <a:t>北斗可信电子围栏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762000" y="3143250"/>
            <a:ext cx="9906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3429000"/>
            <a:ext cx="7810500" cy="4381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2025">
                <a:solidFill>
                  <a:srgbClr val="B5D4F4"/>
                </a:solidFill>
                <a:latin typeface="Times New Roman"/>
                <a:ea typeface="Times New Roman"/>
              </a:rPr>
              <a:t>A Trusted BeiDou Electronic Fence for Shared Bikes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62000" y="4000500"/>
            <a:ext cx="78105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>
                <a:solidFill>
                  <a:srgbClr val="D6E4F7"/>
                </a:solidFill>
                <a:latin typeface="微软雅黑"/>
                <a:ea typeface="微软雅黑"/>
              </a:rPr>
              <a:t>多径条件下的违停误判抑制与数字孪生验证</a:t>
            </a:r>
            <a:endParaRPr/>
          </a:p>
        </p:txBody>
      </p:sp>
      <p:pic>
        <p:nvPicPr>
          <p:cNvPr id="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57150"/>
            <a:ext cx="12192000" cy="5715000"/>
          </a:xfrm>
          <a:prstGeom prst="rect">
            <a:avLst/>
          </a:prstGeom>
          <a:ln/>
        </p:spPr>
      </p:pic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0" y="0"/>
            <a:ext cx="3238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57200" y="1257300"/>
            <a:ext cx="2476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457200" y="1981200"/>
            <a:ext cx="6858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457200" y="2228850"/>
            <a:ext cx="247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8FB4E8"/>
                </a:solidFill>
                <a:latin typeface="Times New Roman"/>
                <a:ea typeface="Times New Roman"/>
              </a:rPr>
              <a:t>CONTENTS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57200" y="2809875"/>
            <a:ext cx="2476500" cy="12382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8FB4E8"/>
                </a:solidFill>
                <a:latin typeface="微软雅黑"/>
                <a:ea typeface="微软雅黑"/>
              </a:rPr>
              <a:t>共享单车北斗可信电子围栏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8FB4E8"/>
                </a:solidFill>
                <a:latin typeface="微软雅黑"/>
                <a:ea typeface="微软雅黑"/>
              </a:rPr>
              <a:t>第八届湖南省大学生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8FB4E8"/>
                </a:solidFill>
                <a:latin typeface="微软雅黑"/>
                <a:ea typeface="微软雅黑"/>
              </a:rPr>
              <a:t>智能导航科技创新大赛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8FB4E8"/>
                </a:solidFill>
                <a:latin typeface="微软雅黑"/>
                <a:ea typeface="微软雅黑"/>
              </a:rPr>
              <a:t>科技创意类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3771900" y="533400"/>
            <a:ext cx="7886700" cy="876300"/>
          </a:xfrm>
          <a:custGeom>
            <a:pathLst>
              <a:path w="828" h="92">
                <a:moveTo>
                  <a:pt x="0" y="91"/>
                </a:moveTo>
                <a:lnTo>
                  <a:pt x="828" y="91"/>
                </a:lnTo>
                <a:lnTo>
                  <a:pt x="828" y="92"/>
                </a:lnTo>
                <a:lnTo>
                  <a:pt x="0" y="9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3771900" y="72390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3876675" y="838200"/>
            <a:ext cx="2952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4476750" y="704850"/>
            <a:ext cx="27432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微软雅黑"/>
                <a:ea typeface="微软雅黑"/>
              </a:rPr>
              <a:t>国内外发展现状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4476750" y="1038225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现状分析、痛点量化与四条技术路线对比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3771900" y="1504950"/>
            <a:ext cx="7886700" cy="876300"/>
          </a:xfrm>
          <a:custGeom>
            <a:pathLst>
              <a:path w="828" h="92">
                <a:moveTo>
                  <a:pt x="0" y="91"/>
                </a:moveTo>
                <a:lnTo>
                  <a:pt x="828" y="91"/>
                </a:lnTo>
                <a:lnTo>
                  <a:pt x="828" y="92"/>
                </a:lnTo>
                <a:lnTo>
                  <a:pt x="0" y="9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3771900" y="169545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3876675" y="1809750"/>
            <a:ext cx="2952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4476750" y="1676400"/>
            <a:ext cx="19812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微软雅黑"/>
                <a:ea typeface="微软雅黑"/>
              </a:rPr>
              <a:t>研究目标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4476750" y="2009775"/>
            <a:ext cx="198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三态计费规则与三层验收口径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3771900" y="2476500"/>
            <a:ext cx="7886700" cy="876300"/>
          </a:xfrm>
          <a:custGeom>
            <a:pathLst>
              <a:path w="828" h="92">
                <a:moveTo>
                  <a:pt x="0" y="91"/>
                </a:moveTo>
                <a:lnTo>
                  <a:pt x="828" y="91"/>
                </a:lnTo>
                <a:lnTo>
                  <a:pt x="828" y="92"/>
                </a:lnTo>
                <a:lnTo>
                  <a:pt x="0" y="9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3771900" y="266700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3876675" y="2781300"/>
            <a:ext cx="2952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4476750" y="2647950"/>
            <a:ext cx="24384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微软雅黑"/>
                <a:ea typeface="微软雅黑"/>
              </a:rPr>
              <a:t>创新性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4476750" y="2981325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业务、方法、工程、验证四个创新点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3771900" y="3448050"/>
            <a:ext cx="7886700" cy="876300"/>
          </a:xfrm>
          <a:custGeom>
            <a:pathLst>
              <a:path w="828" h="92">
                <a:moveTo>
                  <a:pt x="0" y="91"/>
                </a:moveTo>
                <a:lnTo>
                  <a:pt x="828" y="91"/>
                </a:lnTo>
                <a:lnTo>
                  <a:pt x="828" y="92"/>
                </a:lnTo>
                <a:lnTo>
                  <a:pt x="0" y="9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3771900" y="363855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3876675" y="3752850"/>
            <a:ext cx="2952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4476750" y="3619500"/>
            <a:ext cx="3048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微软雅黑"/>
                <a:ea typeface="微软雅黑"/>
              </a:rPr>
              <a:t>主要研究内容及实现思路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476750" y="395287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系统框架、定位完好性、数字孪生与实验结果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3771900" y="4419600"/>
            <a:ext cx="7886700" cy="876300"/>
          </a:xfrm>
          <a:custGeom>
            <a:pathLst>
              <a:path w="828" h="92">
                <a:moveTo>
                  <a:pt x="0" y="91"/>
                </a:moveTo>
                <a:lnTo>
                  <a:pt x="828" y="91"/>
                </a:lnTo>
                <a:lnTo>
                  <a:pt x="828" y="92"/>
                </a:lnTo>
                <a:lnTo>
                  <a:pt x="0" y="9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3771900" y="461010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3876675" y="4724400"/>
            <a:ext cx="2952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476750" y="4591050"/>
            <a:ext cx="24384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微软雅黑"/>
                <a:ea typeface="微软雅黑"/>
              </a:rPr>
              <a:t>应用前景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4476750" y="4924425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用户、治理、运营、科研四类受益方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3771900" y="558165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3876675" y="5695950"/>
            <a:ext cx="2952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476750" y="5572125"/>
            <a:ext cx="1905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微软雅黑"/>
                <a:ea typeface="微软雅黑"/>
              </a:rPr>
              <a:t>挑战性和不确定性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476750" y="590550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边界、风险与后续工作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1209675" y="2057400"/>
            <a:ext cx="291465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微软雅黑"/>
                <a:ea typeface="微软雅黑"/>
              </a:rPr>
              <a:t>01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5334000" y="1828800"/>
            <a:ext cx="6172200" cy="7715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050" b="1">
                <a:solidFill>
                  <a:srgbClr val="FFFFFF"/>
                </a:solidFill>
                <a:latin typeface="微软雅黑"/>
                <a:ea typeface="微软雅黑"/>
              </a:rPr>
              <a:t>国内外发展现状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5334000" y="2809875"/>
            <a:ext cx="9144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5334000" y="3276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5524500" y="317182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电子围栏已成行业标配，主流实现是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解算坐标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+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多边形包含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二值判定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5334000" y="37814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5524500" y="367665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围栏边界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1–3 m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，城市峡谷伪距误差数米至十余米，两者量级同阶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5334000" y="4286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5524500" y="418147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国外微出行研究把完好性从航空导航迁移过来：风险超限则降级服务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5334000" y="47910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5524500" y="468630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四条现有路线都在提高精度，没有一条回答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这次能不能信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pic>
        <p:nvPicPr>
          <p:cNvPr id="4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426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01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国内外发展现状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426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电子围栏已普及，缺的是位置可信度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04 / 25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381000" y="971550"/>
            <a:ext cx="72390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1E4FA8"/>
                </a:solidFill>
                <a:latin typeface="微软雅黑"/>
                <a:ea typeface="微软雅黑"/>
              </a:rPr>
              <a:t>围栏判定尺度与定位误差处在同一数量级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381000" y="1428750"/>
            <a:ext cx="7239000" cy="2200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共享单车解决了</a:t>
            </a:r>
            <a:r>
              <a:rPr lang="en-US" sz="1500">
                <a:solidFill>
                  <a:srgbClr val="1A2230"/>
                </a:solidFill>
                <a:latin typeface="微软雅黑"/>
                <a:ea typeface="微软雅黑"/>
              </a:rPr>
              <a:t>"</a:t>
            </a: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最后一公里</a:t>
            </a:r>
            <a:r>
              <a:rPr lang="en-US" sz="1500">
                <a:solidFill>
                  <a:srgbClr val="1A2230"/>
                </a:solidFill>
                <a:latin typeface="微软雅黑"/>
                <a:ea typeface="微软雅黑"/>
              </a:rPr>
              <a:t>"</a:t>
            </a: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出行，乱停乱放则影响市容与交通秩序。电子围栏通过卫星定位判断车辆是否停入指定区域，并与调度费、信用分挂钩，已成为行业标配。国内主流运营平台普遍采用</a:t>
            </a:r>
            <a:r>
              <a:rPr lang="en-US" sz="1500">
                <a:solidFill>
                  <a:srgbClr val="1A2230"/>
                </a:solidFill>
                <a:latin typeface="微软雅黑"/>
                <a:ea typeface="微软雅黑"/>
              </a:rPr>
              <a:t>"</a:t>
            </a: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解算坐标</a:t>
            </a:r>
            <a:r>
              <a:rPr lang="en-US" sz="1500">
                <a:solidFill>
                  <a:srgbClr val="1A2230"/>
                </a:solidFill>
                <a:latin typeface="微软雅黑"/>
                <a:ea typeface="微软雅黑"/>
              </a:rPr>
              <a:t> + </a:t>
            </a: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多边形包含</a:t>
            </a:r>
            <a:r>
              <a:rPr lang="en-US" sz="1500">
                <a:solidFill>
                  <a:srgbClr val="1A2230"/>
                </a:solidFill>
                <a:latin typeface="微软雅黑"/>
                <a:ea typeface="微软雅黑"/>
              </a:rPr>
              <a:t>"</a:t>
            </a: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策略，在开阔环境下效果良好。</a:t>
            </a:r>
            <a:endParaRPr/>
          </a:p>
          <a:p>
            <a:pPr>
              <a:lnSpc>
                <a:spcPct val="160000"/>
              </a:lnSpc>
            </a:pP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然而在地铁口、商圈等城市峡谷环境，该策略暴露出结构性缺陷：它默认解算坐标可信，只判断点落在框内还是框外，不评估这个点本身是否可靠。当多径使坐标漂移时，系统会给出一个</a:t>
            </a:r>
            <a:r>
              <a:rPr lang="en-US" sz="1500">
                <a:solidFill>
                  <a:srgbClr val="1A2230"/>
                </a:solidFill>
                <a:latin typeface="微软雅黑"/>
                <a:ea typeface="微软雅黑"/>
              </a:rPr>
              <a:t>"</a:t>
            </a: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看起来正常</a:t>
            </a:r>
            <a:r>
              <a:rPr lang="en-US" sz="1500">
                <a:solidFill>
                  <a:srgbClr val="1A2230"/>
                </a:solidFill>
                <a:latin typeface="微软雅黑"/>
                <a:ea typeface="微软雅黑"/>
              </a:rPr>
              <a:t>"</a:t>
            </a:r>
            <a:r>
              <a:rPr lang="zh-CN" sz="1500">
                <a:solidFill>
                  <a:srgbClr val="1A2230"/>
                </a:solidFill>
                <a:latin typeface="微软雅黑"/>
                <a:ea typeface="微软雅黑"/>
              </a:rPr>
              <a:t>的框外结论，用户因此被误扣。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381000" y="3781425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533400" y="3962400"/>
            <a:ext cx="3219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停车框边界尺度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533400" y="4191000"/>
            <a:ext cx="32194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4FA8"/>
                </a:solidFill>
                <a:latin typeface="微软雅黑"/>
                <a:ea typeface="微软雅黑"/>
              </a:rPr>
              <a:t>1–3 m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4076700" y="3781425"/>
            <a:ext cx="3543300" cy="952500"/>
          </a:xfrm>
          <a:prstGeom prst="roundRect">
            <a:avLst>
              <a:gd name="adj" fmla="val 8000"/>
            </a:avLst>
          </a:prstGeom>
          <a:solidFill>
            <a:srgbClr val="FCEBEB"/>
          </a:solidFill>
          <a:ln w="12700">
            <a:solidFill>
              <a:srgbClr val="D9534F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4229100" y="3962400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城市峡谷伪距误差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4229100" y="4191000"/>
            <a:ext cx="32385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D9534F"/>
                </a:solidFill>
                <a:latin typeface="微软雅黑"/>
                <a:ea typeface="微软雅黑"/>
              </a:rPr>
              <a:t>数米</a:t>
            </a:r>
            <a:r>
              <a:rPr lang="en-US" sz="2400" b="1">
                <a:solidFill>
                  <a:srgbClr val="D9534F"/>
                </a:solidFill>
                <a:latin typeface="微软雅黑"/>
                <a:ea typeface="微软雅黑"/>
              </a:rPr>
              <a:t> – </a:t>
            </a:r>
            <a:r>
              <a:rPr lang="zh-CN" sz="2400" b="1">
                <a:solidFill>
                  <a:srgbClr val="D9534F"/>
                </a:solidFill>
                <a:latin typeface="微软雅黑"/>
                <a:ea typeface="微软雅黑"/>
              </a:rPr>
              <a:t>十余米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381000" y="4867275"/>
            <a:ext cx="7239000" cy="552450"/>
          </a:xfrm>
          <a:prstGeom prst="roundRect">
            <a:avLst>
              <a:gd name="adj" fmla="val 13793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571500" y="4991100"/>
            <a:ext cx="47720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0E3F8C"/>
                </a:solidFill>
                <a:latin typeface="微软雅黑"/>
                <a:ea typeface="微软雅黑"/>
              </a:rPr>
              <a:t>误差量级</a:t>
            </a:r>
            <a:r>
              <a:rPr lang="en-US" sz="1350">
                <a:solidFill>
                  <a:srgbClr val="0E3F8C"/>
                </a:solidFill>
                <a:latin typeface="微软雅黑"/>
                <a:ea typeface="微软雅黑"/>
              </a:rPr>
              <a:t> ≥ </a:t>
            </a:r>
            <a:r>
              <a:rPr lang="zh-CN" sz="1350">
                <a:solidFill>
                  <a:srgbClr val="0E3F8C"/>
                </a:solidFill>
                <a:latin typeface="微软雅黑"/>
                <a:ea typeface="微软雅黑"/>
              </a:rPr>
              <a:t>判定尺度</a:t>
            </a:r>
            <a:r>
              <a:rPr lang="en-US" sz="1350">
                <a:solidFill>
                  <a:srgbClr val="0E3F8C"/>
                </a:solidFill>
                <a:latin typeface="微软雅黑"/>
                <a:ea typeface="微软雅黑"/>
              </a:rPr>
              <a:t> —— </a:t>
            </a:r>
            <a:r>
              <a:rPr lang="zh-CN" sz="1350">
                <a:solidFill>
                  <a:srgbClr val="0E3F8C"/>
                </a:solidFill>
                <a:latin typeface="微软雅黑"/>
                <a:ea typeface="微软雅黑"/>
              </a:rPr>
              <a:t>边界误判不是偶发，而是结构性缺陷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8001000" y="971550"/>
            <a:ext cx="3429000" cy="5124450"/>
          </a:xfrm>
          <a:prstGeom prst="roundRect">
            <a:avLst>
              <a:gd name="adj" fmla="val 222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8210550" y="1181100"/>
            <a:ext cx="3009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微软雅黑"/>
                <a:ea typeface="微软雅黑"/>
              </a:rPr>
              <a:t>国外做法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8210550" y="1571625"/>
            <a:ext cx="5334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8210550" y="1752600"/>
            <a:ext cx="3009900" cy="3114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国外共享出行与微出行同样面临定位漂移问题，研究侧重多传感器融合与质量指标输出。完好性概念正从航空导航向汽车与微出行渗透，核心思想是：</a:t>
            </a:r>
            <a:endParaRPr/>
          </a:p>
          <a:p>
            <a:pPr>
              <a:lnSpc>
                <a:spcPct val="160000"/>
              </a:lnSpc>
            </a:pPr>
            <a:r>
              <a:rPr sz="1275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在风险超限时拒绝输出或降级服务，而不是硬给一个不可信的坐标。</a:t>
            </a:r>
            <a:endParaRPr/>
          </a:p>
          <a:p>
            <a:pPr>
              <a:lnSpc>
                <a:spcPct val="160000"/>
              </a:lnSpc>
            </a:pPr>
            <a:r>
              <a:rPr sz="1275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可复现评估依赖标准化场景与公开指标——误判率、虚警率、误差分布。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8210550" y="5200650"/>
            <a:ext cx="3009900" cy="685800"/>
          </a:xfrm>
          <a:prstGeom prst="roundRect">
            <a:avLst>
              <a:gd name="adj" fmla="val 11111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8343900" y="5267325"/>
            <a:ext cx="2743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本方案沿用该方向，并把</a:t>
            </a:r>
            <a:r>
              <a:rPr lang="en-US" sz="1200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降级</a:t>
            </a:r>
            <a:r>
              <a:rPr lang="en-US" sz="1200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落成具体的计费语义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04 / 25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01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国内外发展现状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3200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痛点：停在框里，被判违停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05 / 25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381000" y="1123950"/>
            <a:ext cx="4762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微软雅黑"/>
                <a:ea typeface="微软雅黑"/>
              </a:rPr>
              <a:t>城市多径场景</a:t>
            </a:r>
            <a:r>
              <a:rPr lang="en-US" sz="1650">
                <a:solidFill>
                  <a:srgbClr val="4A5568"/>
                </a:solidFill>
                <a:latin typeface="微软雅黑"/>
                <a:ea typeface="微软雅黑"/>
              </a:rPr>
              <a:t> · </a:t>
            </a:r>
            <a:r>
              <a:rPr lang="zh-CN" sz="1650">
                <a:solidFill>
                  <a:srgbClr val="4A5568"/>
                </a:solidFill>
                <a:latin typeface="微软雅黑"/>
                <a:ea typeface="微软雅黑"/>
              </a:rPr>
              <a:t>旧逻辑误扣费率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381000" y="1438275"/>
            <a:ext cx="4762500" cy="15906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9900" b="1">
                <a:solidFill>
                  <a:srgbClr val="D9534F"/>
                </a:solidFill>
                <a:latin typeface="微软雅黑"/>
                <a:ea typeface="微软雅黑"/>
              </a:rPr>
              <a:t>84.2%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381000" y="3105150"/>
            <a:ext cx="4762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/>
                <a:ea typeface="微软雅黑"/>
              </a:rPr>
              <a:t>车辆真值在停车框内，却被判为框外并扣调度费的比例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5143500" y="1200150"/>
            <a:ext cx="38100" cy="20193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5524500" y="1133475"/>
            <a:ext cx="590550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0E3F8C"/>
                </a:solidFill>
                <a:latin typeface="微软雅黑"/>
                <a:ea typeface="微软雅黑"/>
              </a:rPr>
              <a:t>这不是个别投诉——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0E3F8C"/>
                </a:solidFill>
                <a:latin typeface="微软雅黑"/>
                <a:ea typeface="微软雅黑"/>
              </a:rPr>
              <a:t>四分之三以上的边界停车都会被误判。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5524500" y="2171700"/>
            <a:ext cx="5905500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用户被冤枉扣钱，必须自行申诉；平台承担客服成本与口碑损失。运营侧真正缺的不是更高的精度，而是</a:t>
            </a:r>
            <a:r>
              <a:rPr lang="en-US" sz="1425">
                <a:solidFill>
                  <a:srgbClr val="1A2230"/>
                </a:solidFill>
                <a:latin typeface="微软雅黑"/>
                <a:ea typeface="微软雅黑"/>
              </a:rPr>
              <a:t>"</a:t>
            </a:r>
            <a:r>
              <a:rPr lang="zh-CN" sz="1425" b="1">
                <a:solidFill>
                  <a:srgbClr val="1E4FA8"/>
                </a:solidFill>
                <a:latin typeface="微软雅黑"/>
                <a:ea typeface="微软雅黑"/>
              </a:rPr>
              <a:t>不可信、待复核</a:t>
            </a:r>
            <a:r>
              <a:rPr lang="en-US" sz="1425">
                <a:solidFill>
                  <a:srgbClr val="1A2230"/>
                </a:solidFill>
                <a:latin typeface="微软雅黑"/>
                <a:ea typeface="微软雅黑"/>
              </a:rPr>
              <a:t>"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这个第三态——没有它，系统只能在合规与违停之间二选一，边界上必然出错。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381000" y="3848100"/>
            <a:ext cx="2000250" cy="1695450"/>
          </a:xfrm>
          <a:prstGeom prst="roundRect">
            <a:avLst>
              <a:gd name="adj" fmla="val 449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533400" y="40005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D7BD9"/>
                </a:solidFill>
                <a:latin typeface="微软雅黑"/>
                <a:ea typeface="微软雅黑"/>
              </a:rPr>
              <a:t>STEP 1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533400" y="4238625"/>
            <a:ext cx="1695450" cy="609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骑车抵达</a:t>
            </a:r>
            <a:endParaRPr/>
          </a:p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地铁口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533400" y="4876800"/>
            <a:ext cx="16954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最后一公里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通勤接驳</a:t>
            </a:r>
            <a:endParaRPr/>
          </a:p>
        </p:txBody>
      </p:sp>
      <p:pic>
        <p:nvPicPr>
          <p:cNvPr id="4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466975" y="4619625"/>
            <a:ext cx="190500" cy="152400"/>
          </a:xfrm>
          <a:prstGeom prst="rect">
            <a:avLst/>
          </a:prstGeom>
          <a:ln/>
        </p:spPr>
      </p:pic>
      <p:sp>
        <p:nvSpPr>
          <p:cNvPr id="486" name=""/>
          <p:cNvSpPr/>
          <p:nvPr/>
        </p:nvSpPr>
        <p:spPr>
          <a:xfrm rot="0" flipH="0" flipV="0">
            <a:off x="2733675" y="3848100"/>
            <a:ext cx="2000250" cy="1695450"/>
          </a:xfrm>
          <a:prstGeom prst="roundRect">
            <a:avLst>
              <a:gd name="adj" fmla="val 449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2886075" y="40005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D7BD9"/>
                </a:solidFill>
                <a:latin typeface="微软雅黑"/>
                <a:ea typeface="微软雅黑"/>
              </a:rPr>
              <a:t>STEP 2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2886075" y="4238625"/>
            <a:ext cx="1695450" cy="609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把车停进</a:t>
            </a:r>
            <a:endParaRPr/>
          </a:p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停车框边缘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2886075" y="4876800"/>
            <a:ext cx="16954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规范停放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行为本身合规</a:t>
            </a:r>
            <a:endParaRPr/>
          </a:p>
        </p:txBody>
      </p:sp>
      <p:pic>
        <p:nvPicPr>
          <p:cNvPr id="4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819650" y="4619625"/>
            <a:ext cx="190500" cy="152400"/>
          </a:xfrm>
          <a:prstGeom prst="rect">
            <a:avLst/>
          </a:prstGeom>
          <a:ln/>
        </p:spPr>
      </p:pic>
      <p:sp>
        <p:nvSpPr>
          <p:cNvPr id="491" name=""/>
          <p:cNvSpPr/>
          <p:nvPr/>
        </p:nvSpPr>
        <p:spPr>
          <a:xfrm rot="0" flipH="0" flipV="0">
            <a:off x="5086350" y="3848100"/>
            <a:ext cx="2000250" cy="1695450"/>
          </a:xfrm>
          <a:prstGeom prst="roundRect">
            <a:avLst>
              <a:gd name="adj" fmla="val 4494"/>
            </a:avLst>
          </a:prstGeom>
          <a:solidFill>
            <a:srgbClr val="FCEBEB"/>
          </a:solidFill>
          <a:ln w="12700">
            <a:solidFill>
              <a:srgbClr val="D9534F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5238750" y="40005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D9534F"/>
                </a:solidFill>
                <a:latin typeface="微软雅黑"/>
                <a:ea typeface="微软雅黑"/>
              </a:rPr>
              <a:t>STEP 3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5238750" y="4238625"/>
            <a:ext cx="1695450" cy="609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高楼多径使</a:t>
            </a:r>
            <a:endParaRPr/>
          </a:p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坐标漂出框外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5238750" y="4876800"/>
            <a:ext cx="16954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解算点偏移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十余米</a:t>
            </a:r>
            <a:endParaRPr/>
          </a:p>
        </p:txBody>
      </p:sp>
      <p:pic>
        <p:nvPicPr>
          <p:cNvPr id="4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172325" y="4619625"/>
            <a:ext cx="190500" cy="152400"/>
          </a:xfrm>
          <a:prstGeom prst="rect">
            <a:avLst/>
          </a:prstGeom>
          <a:ln/>
        </p:spPr>
      </p:pic>
      <p:sp>
        <p:nvSpPr>
          <p:cNvPr id="496" name=""/>
          <p:cNvSpPr/>
          <p:nvPr/>
        </p:nvSpPr>
        <p:spPr>
          <a:xfrm rot="0" flipH="0" flipV="0">
            <a:off x="7439025" y="3848100"/>
            <a:ext cx="2000250" cy="1695450"/>
          </a:xfrm>
          <a:prstGeom prst="roundRect">
            <a:avLst>
              <a:gd name="adj" fmla="val 4494"/>
            </a:avLst>
          </a:prstGeom>
          <a:solidFill>
            <a:srgbClr val="FCEBEB"/>
          </a:solidFill>
          <a:ln w="12700">
            <a:solidFill>
              <a:srgbClr val="D9534F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7591425" y="40005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D9534F"/>
                </a:solidFill>
                <a:latin typeface="微软雅黑"/>
                <a:ea typeface="微软雅黑"/>
              </a:rPr>
              <a:t>STEP 4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7591425" y="4238625"/>
            <a:ext cx="1695450" cy="609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平台判违停</a:t>
            </a:r>
            <a:endParaRPr/>
          </a:p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扣除调度费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7591425" y="4876800"/>
            <a:ext cx="16954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5 – 20 </a:t>
            </a: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元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直接损失</a:t>
            </a:r>
            <a:endParaRPr/>
          </a:p>
        </p:txBody>
      </p:sp>
      <p:pic>
        <p:nvPicPr>
          <p:cNvPr id="5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25000" y="4619625"/>
            <a:ext cx="190500" cy="152400"/>
          </a:xfrm>
          <a:prstGeom prst="rect">
            <a:avLst/>
          </a:prstGeom>
          <a:ln/>
        </p:spPr>
      </p:pic>
      <p:sp>
        <p:nvSpPr>
          <p:cNvPr id="501" name=""/>
          <p:cNvSpPr/>
          <p:nvPr/>
        </p:nvSpPr>
        <p:spPr>
          <a:xfrm rot="0" flipH="0" flipV="0">
            <a:off x="9791700" y="3848100"/>
            <a:ext cx="2000250" cy="1695450"/>
          </a:xfrm>
          <a:prstGeom prst="roundRect">
            <a:avLst>
              <a:gd name="adj" fmla="val 4494"/>
            </a:avLst>
          </a:prstGeom>
          <a:solidFill>
            <a:srgbClr val="FCEBEB"/>
          </a:solidFill>
          <a:ln w="12700">
            <a:solidFill>
              <a:srgbClr val="D9534F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9944100" y="40005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D9534F"/>
                </a:solidFill>
                <a:latin typeface="微软雅黑"/>
                <a:ea typeface="微软雅黑"/>
              </a:rPr>
              <a:t>STEP 5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9944100" y="4238625"/>
            <a:ext cx="1695450" cy="609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用户申诉</a:t>
            </a:r>
            <a:endParaRPr/>
          </a:p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平台付成本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9944100" y="4876800"/>
            <a:ext cx="16954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客服成本与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口碑双损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05 / 25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5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01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国内外发展现状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2933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四条技术路线的定位差异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06 / 25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381000" y="971550"/>
            <a:ext cx="3543300" cy="5124450"/>
          </a:xfrm>
          <a:prstGeom prst="roundRect">
            <a:avLst>
              <a:gd name="adj" fmla="val 2151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47700" y="1238250"/>
            <a:ext cx="3009900" cy="962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微软雅黑"/>
                <a:ea typeface="微软雅黑"/>
              </a:rPr>
              <a:t>都在提高精度</a:t>
            </a:r>
            <a:endParaRPr/>
          </a:p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微软雅黑"/>
                <a:ea typeface="微软雅黑"/>
              </a:rPr>
              <a:t>没人回答</a:t>
            </a:r>
            <a:r>
              <a:rPr lang="en-US" sz="2250" b="1">
                <a:solidFill>
                  <a:srgbClr val="FFFFFF"/>
                </a:solidFill>
                <a:latin typeface="微软雅黑"/>
                <a:ea typeface="微软雅黑"/>
              </a:rPr>
              <a:t>"</a:t>
            </a:r>
            <a:r>
              <a:rPr lang="zh-CN" sz="2250" b="1">
                <a:solidFill>
                  <a:srgbClr val="FFFFFF"/>
                </a:solidFill>
                <a:latin typeface="微软雅黑"/>
                <a:ea typeface="微软雅黑"/>
              </a:rPr>
              <a:t>能不能信</a:t>
            </a:r>
            <a:r>
              <a:rPr lang="en-US" sz="2250" b="1">
                <a:solidFill>
                  <a:srgbClr val="FFFFFF"/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647700" y="2390775"/>
            <a:ext cx="6096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647700" y="2638425"/>
            <a:ext cx="3009900" cy="1752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D6E4F7"/>
                </a:solidFill>
                <a:latin typeface="微软雅黑"/>
                <a:ea typeface="微软雅黑"/>
              </a:rPr>
              <a:t>四条路线的共同假设是</a:t>
            </a:r>
            <a:r>
              <a:rPr lang="en-US" sz="127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D6E4F7"/>
                </a:solidFill>
                <a:latin typeface="微软雅黑"/>
                <a:ea typeface="微软雅黑"/>
              </a:rPr>
              <a:t>解算坐标可信</a:t>
            </a:r>
            <a:r>
              <a:rPr lang="en-US" sz="127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D6E4F7"/>
                </a:solidFill>
                <a:latin typeface="微软雅黑"/>
                <a:ea typeface="微软雅黑"/>
              </a:rPr>
              <a:t>，因此优化方向都指向更准。</a:t>
            </a:r>
            <a:endParaRPr/>
          </a:p>
          <a:p>
            <a:pPr>
              <a:lnSpc>
                <a:spcPct val="180000"/>
              </a:lnSpc>
            </a:pPr>
            <a:r>
              <a:rPr sz="1275">
                <a:solidFill>
                  <a:srgbClr val="D6E4F7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>
              <a:lnSpc>
                <a:spcPct val="180000"/>
              </a:lnSpc>
            </a:pPr>
            <a:r>
              <a:rPr lang="zh-CN" sz="1275">
                <a:solidFill>
                  <a:srgbClr val="D6E4F7"/>
                </a:solidFill>
                <a:latin typeface="微软雅黑"/>
                <a:ea typeface="微软雅黑"/>
              </a:rPr>
              <a:t>但城市峡谷里的失效模式不是</a:t>
            </a:r>
            <a:r>
              <a:rPr lang="en-US" sz="127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D6E4F7"/>
                </a:solidFill>
                <a:latin typeface="微软雅黑"/>
                <a:ea typeface="微软雅黑"/>
              </a:rPr>
              <a:t>不够准</a:t>
            </a:r>
            <a:r>
              <a:rPr lang="en-US" sz="127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D6E4F7"/>
                </a:solidFill>
                <a:latin typeface="微软雅黑"/>
                <a:ea typeface="微软雅黑"/>
              </a:rPr>
              <a:t>，而是</a:t>
            </a:r>
            <a:r>
              <a:rPr lang="en-US" sz="127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D6E4F7"/>
                </a:solidFill>
                <a:latin typeface="微软雅黑"/>
                <a:ea typeface="微软雅黑"/>
              </a:rPr>
              <a:t>不可信却看不出来</a:t>
            </a:r>
            <a:r>
              <a:rPr lang="en-US" sz="127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D6E4F7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647700" y="5029200"/>
            <a:ext cx="3009900" cy="800100"/>
          </a:xfrm>
          <a:prstGeom prst="roundRect">
            <a:avLst>
              <a:gd name="adj" fmla="val 9524"/>
            </a:avLst>
          </a:prstGeom>
          <a:solidFill>
            <a:srgbClr val="14499B"/>
          </a:solidFill>
          <a:ln/>
        </p:spPr>
        <p:txBody>
          <a:bodyPr/>
          <a:p>
            <a:pPr/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781050" y="5153025"/>
            <a:ext cx="2743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/>
                </a:solidFill>
                <a:latin typeface="微软雅黑"/>
                <a:ea typeface="微软雅黑"/>
              </a:rPr>
              <a:t>本方案补的不是第五条精度路线，而是判定前提</a:t>
            </a:r>
            <a:endParaRPr/>
          </a:p>
        </p:txBody>
      </p:sp>
      <p:graphicFrame>
        <p:nvGraphicFramePr>
          <p:cNvPr id="520" name=""/>
          <p:cNvGraphicFramePr/>
          <p:nvPr/>
        </p:nvGraphicFramePr>
        <p:xfrm rot="0" flipH="0" flipV="0">
          <a:off x="4305300" y="971550"/>
          <a:ext cx="7124700" cy="4476750"/>
        </p:xfrm>
        <a:graphic>
          <a:graphicData uri="http://schemas.openxmlformats.org/drawingml/2006/table">
            <a:tbl>
              <a:tblGrid>
                <a:gridCol w="1612304">
                  <a:extLst>
                    <a:ext uri="{9D8B030D-6E8A-4147-A177-3AD203B41FA5}">
                      <a16:colId val="1"/>
                    </a:ext>
                  </a:extLst>
                </a:gridCol>
                <a:gridCol w="2276715">
                  <a:extLst>
                    <a:ext uri="{9D8B030D-6E8A-4147-A177-3AD203B41FA5}">
                      <a16:colId val="2"/>
                    </a:ext>
                  </a:extLst>
                </a:gridCol>
                <a:gridCol w="1878068">
                  <a:extLst>
                    <a:ext uri="{9D8B030D-6E8A-4147-A177-3AD203B41FA5}">
                      <a16:colId val="3"/>
                    </a:ext>
                  </a:extLst>
                </a:gridCol>
                <a:gridCol w="1357613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7461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技术路线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能力边界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成本 / 部署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回答"能不能信"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461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纯多边形包含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依赖解算精度，边界 1–3 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零增量成本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7461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蓝牙信标 / UWB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厘米级，需近场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部署密度高、运维重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7461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多星座 + 多频 RTK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分米级，开阔环境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锁端成本高、初始化慢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7461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云端轨迹后处理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事后修正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延迟、隐私顾虑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7461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本方案：可信围栏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不追求更高精度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运行于既有锁端算力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521" name=""/>
          <p:cNvSpPr/>
          <p:nvPr/>
        </p:nvSpPr>
        <p:spPr>
          <a:xfrm rot="0" flipH="0" flipV="0">
            <a:off x="4305300" y="5600700"/>
            <a:ext cx="7124700" cy="495300"/>
          </a:xfrm>
          <a:prstGeom prst="roundRect">
            <a:avLst>
              <a:gd name="adj" fmla="val 15385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4495800" y="5753100"/>
            <a:ext cx="3829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E3F8C"/>
                </a:solidFill>
                <a:latin typeface="微软雅黑"/>
                <a:ea typeface="微软雅黑"/>
              </a:rPr>
              <a:t>四条路线优化的是</a:t>
            </a:r>
            <a:r>
              <a:rPr lang="en-US" sz="1275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0E3F8C"/>
                </a:solidFill>
                <a:latin typeface="微软雅黑"/>
                <a:ea typeface="微软雅黑"/>
              </a:rPr>
              <a:t>更准</a:t>
            </a:r>
            <a:r>
              <a:rPr lang="en-US" sz="1275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0E3F8C"/>
                </a:solidFill>
                <a:latin typeface="微软雅黑"/>
                <a:ea typeface="微软雅黑"/>
              </a:rPr>
              <a:t>，本方案优化的是</a:t>
            </a:r>
            <a:r>
              <a:rPr lang="en-US" sz="1275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0E3F8C"/>
                </a:solidFill>
                <a:latin typeface="微软雅黑"/>
                <a:ea typeface="微软雅黑"/>
              </a:rPr>
              <a:t>敢不敢判</a:t>
            </a:r>
            <a:r>
              <a:rPr lang="en-US" sz="1275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06 / 25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1209675" y="2057400"/>
            <a:ext cx="291465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微软雅黑"/>
                <a:ea typeface="微软雅黑"/>
              </a:rPr>
              <a:t>02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5334000" y="1828800"/>
            <a:ext cx="6172200" cy="7715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050" b="1">
                <a:solidFill>
                  <a:srgbClr val="FFFFFF"/>
                </a:solidFill>
                <a:latin typeface="微软雅黑"/>
                <a:ea typeface="微软雅黑"/>
              </a:rPr>
              <a:t>研究目标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5334000" y="2809875"/>
            <a:ext cx="9144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5334000" y="3276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5524500" y="317182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业务层：把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位置是否可信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写进计费流程，形成三态业务语义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5334000" y="37814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5524500" y="367665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方法层：建立可复现的数字孪生测试集，不依赖外场与外设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5334000" y="4286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5524500" y="418147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工程层：规则与载体解耦，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MCU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量产，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Zynq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仅作研发验证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5334000" y="47910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5524500" y="468630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三层目标共用同一个验收口径：误扣费率</a:t>
            </a:r>
            <a:endParaRPr/>
          </a:p>
        </p:txBody>
      </p:sp>
      <p:pic>
        <p:nvPicPr>
          <p:cNvPr id="5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426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02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研究目标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426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三态计费规则：先判可信，再判围栏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08 / 25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381000" y="933450"/>
            <a:ext cx="11430000" cy="36576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47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381000" y="933450"/>
            <a:ext cx="11430000" cy="3657600"/>
          </a:xfrm>
          <a:prstGeom prst="roundRect">
            <a:avLst>
              <a:gd name="adj" fmla="val 2083"/>
            </a:avLst>
          </a:prstGeom>
          <a:ln/>
        </p:spPr>
      </p:pic>
      <p:sp>
        <p:nvSpPr>
          <p:cNvPr id="548" name=""/>
          <p:cNvSpPr/>
          <p:nvPr/>
        </p:nvSpPr>
        <p:spPr>
          <a:xfrm rot="0" flipH="0" flipV="0">
            <a:off x="381000" y="4743450"/>
            <a:ext cx="2057400" cy="838200"/>
          </a:xfrm>
          <a:prstGeom prst="roundRect">
            <a:avLst>
              <a:gd name="adj" fmla="val 909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952500" y="4943475"/>
            <a:ext cx="923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微软雅黑"/>
                <a:ea typeface="微软雅黑"/>
              </a:rPr>
              <a:t>GNSS </a:t>
            </a: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观测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876300" y="5219700"/>
            <a:ext cx="1076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伪距</a:t>
            </a:r>
            <a:r>
              <a:rPr lang="en-US" sz="105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测试集注入</a:t>
            </a:r>
            <a:endParaRPr/>
          </a:p>
        </p:txBody>
      </p:sp>
      <p:pic>
        <p:nvPicPr>
          <p:cNvPr id="5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2495550" y="5095875"/>
            <a:ext cx="171450" cy="133350"/>
          </a:xfrm>
          <a:prstGeom prst="rect">
            <a:avLst/>
          </a:prstGeom>
          <a:ln/>
        </p:spPr>
      </p:pic>
      <p:sp>
        <p:nvSpPr>
          <p:cNvPr id="552" name=""/>
          <p:cNvSpPr/>
          <p:nvPr/>
        </p:nvSpPr>
        <p:spPr>
          <a:xfrm rot="0" flipH="0" flipV="0">
            <a:off x="2724150" y="4743450"/>
            <a:ext cx="2057400" cy="838200"/>
          </a:xfrm>
          <a:prstGeom prst="roundRect">
            <a:avLst>
              <a:gd name="adj" fmla="val 909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3305175" y="494347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定位与残差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3095625" y="5219700"/>
            <a:ext cx="1323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微软雅黑"/>
                <a:ea typeface="微软雅黑"/>
              </a:rPr>
              <a:t>WLS </a:t>
            </a: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解算</a:t>
            </a:r>
            <a:r>
              <a:rPr lang="en-US" sz="1050">
                <a:solidFill>
                  <a:srgbClr val="4A5568"/>
                </a:solidFill>
                <a:latin typeface="微软雅黑"/>
                <a:ea typeface="微软雅黑"/>
              </a:rPr>
              <a:t> + </a:t>
            </a: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残差</a:t>
            </a:r>
            <a:r>
              <a:rPr lang="en-US" sz="1050">
                <a:solidFill>
                  <a:srgbClr val="4A5568"/>
                </a:solidFill>
                <a:latin typeface="微软雅黑"/>
                <a:ea typeface="微软雅黑"/>
              </a:rPr>
              <a:t> RMS</a:t>
            </a:r>
            <a:endParaRPr/>
          </a:p>
        </p:txBody>
      </p:sp>
      <p:pic>
        <p:nvPicPr>
          <p:cNvPr id="5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838700" y="5095875"/>
            <a:ext cx="171450" cy="133350"/>
          </a:xfrm>
          <a:prstGeom prst="rect">
            <a:avLst/>
          </a:prstGeom>
          <a:ln/>
        </p:spPr>
      </p:pic>
      <p:sp>
        <p:nvSpPr>
          <p:cNvPr id="556" name=""/>
          <p:cNvSpPr/>
          <p:nvPr/>
        </p:nvSpPr>
        <p:spPr>
          <a:xfrm rot="0" flipH="0" flipV="0">
            <a:off x="5067300" y="4743450"/>
            <a:ext cx="2057400" cy="838200"/>
          </a:xfrm>
          <a:prstGeom prst="roundRect">
            <a:avLst>
              <a:gd name="adj" fmla="val 9091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5648325" y="494347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/>
                <a:ea typeface="微软雅黑"/>
              </a:rPr>
              <a:t>完好性三态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5562600" y="5219700"/>
            <a:ext cx="1076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5D4F4"/>
                </a:solidFill>
                <a:latin typeface="微软雅黑"/>
                <a:ea typeface="微软雅黑"/>
              </a:rPr>
              <a:t>可信</a:t>
            </a:r>
            <a:r>
              <a:rPr lang="en-US" sz="1050">
                <a:solidFill>
                  <a:srgbClr val="B5D4F4"/>
                </a:solidFill>
                <a:latin typeface="微软雅黑"/>
                <a:ea typeface="微软雅黑"/>
              </a:rPr>
              <a:t> / </a:t>
            </a:r>
            <a:r>
              <a:rPr lang="zh-CN" sz="1050">
                <a:solidFill>
                  <a:srgbClr val="B5D4F4"/>
                </a:solidFill>
                <a:latin typeface="微软雅黑"/>
                <a:ea typeface="微软雅黑"/>
              </a:rPr>
              <a:t>可疑</a:t>
            </a:r>
            <a:r>
              <a:rPr lang="en-US" sz="1050">
                <a:solidFill>
                  <a:srgbClr val="B5D4F4"/>
                </a:solidFill>
                <a:latin typeface="微软雅黑"/>
                <a:ea typeface="微软雅黑"/>
              </a:rPr>
              <a:t> / </a:t>
            </a:r>
            <a:r>
              <a:rPr lang="zh-CN" sz="1050">
                <a:solidFill>
                  <a:srgbClr val="B5D4F4"/>
                </a:solidFill>
                <a:latin typeface="微软雅黑"/>
                <a:ea typeface="微软雅黑"/>
              </a:rPr>
              <a:t>拒止</a:t>
            </a:r>
            <a:endParaRPr/>
          </a:p>
        </p:txBody>
      </p:sp>
      <p:pic>
        <p:nvPicPr>
          <p:cNvPr id="5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181850" y="5095875"/>
            <a:ext cx="171450" cy="133350"/>
          </a:xfrm>
          <a:prstGeom prst="rect">
            <a:avLst/>
          </a:prstGeom>
          <a:ln/>
        </p:spPr>
      </p:pic>
      <p:sp>
        <p:nvSpPr>
          <p:cNvPr id="560" name=""/>
          <p:cNvSpPr/>
          <p:nvPr/>
        </p:nvSpPr>
        <p:spPr>
          <a:xfrm rot="0" flipH="0" flipV="0">
            <a:off x="7410450" y="4743450"/>
            <a:ext cx="2057400" cy="838200"/>
          </a:xfrm>
          <a:prstGeom prst="roundRect">
            <a:avLst>
              <a:gd name="adj" fmla="val 909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7896225" y="494347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围栏包含判定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7972425" y="521970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仅可信历元进入</a:t>
            </a:r>
            <a:endParaRPr/>
          </a:p>
        </p:txBody>
      </p:sp>
      <p:pic>
        <p:nvPicPr>
          <p:cNvPr id="5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525000" y="5095875"/>
            <a:ext cx="171450" cy="133350"/>
          </a:xfrm>
          <a:prstGeom prst="rect">
            <a:avLst/>
          </a:prstGeom>
          <a:ln/>
        </p:spPr>
      </p:pic>
      <p:sp>
        <p:nvSpPr>
          <p:cNvPr id="564" name=""/>
          <p:cNvSpPr/>
          <p:nvPr/>
        </p:nvSpPr>
        <p:spPr>
          <a:xfrm rot="0" flipH="0" flipV="0">
            <a:off x="9753600" y="4743450"/>
            <a:ext cx="2057400" cy="838200"/>
          </a:xfrm>
          <a:prstGeom prst="roundRect">
            <a:avLst>
              <a:gd name="adj" fmla="val 9091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10420350" y="494347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计费标志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10277475" y="5219700"/>
            <a:ext cx="1009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微软雅黑"/>
                <a:ea typeface="微软雅黑"/>
              </a:rPr>
              <a:t>OK / FEE / HOLD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381000" y="5695950"/>
            <a:ext cx="11430000" cy="400050"/>
          </a:xfrm>
          <a:prstGeom prst="roundRect">
            <a:avLst>
              <a:gd name="adj" fmla="val 19048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571500" y="5800725"/>
            <a:ext cx="6715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E3F8C"/>
                </a:solidFill>
                <a:latin typeface="微软雅黑"/>
                <a:ea typeface="微软雅黑"/>
              </a:rPr>
              <a:t>判定前提从</a:t>
            </a:r>
            <a:r>
              <a:rPr lang="en-US" sz="1275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0E3F8C"/>
                </a:solidFill>
                <a:latin typeface="微软雅黑"/>
                <a:ea typeface="微软雅黑"/>
              </a:rPr>
              <a:t>点在不在框里</a:t>
            </a:r>
            <a:r>
              <a:rPr lang="en-US" sz="1275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0E3F8C"/>
                </a:solidFill>
                <a:latin typeface="微软雅黑"/>
                <a:ea typeface="微软雅黑"/>
              </a:rPr>
              <a:t>换成</a:t>
            </a:r>
            <a:r>
              <a:rPr lang="en-US" sz="1275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0E3F8C"/>
                </a:solidFill>
                <a:latin typeface="微软雅黑"/>
                <a:ea typeface="微软雅黑"/>
              </a:rPr>
              <a:t>这个点能不能信</a:t>
            </a:r>
            <a:r>
              <a:rPr lang="en-US" sz="1275">
                <a:solidFill>
                  <a:srgbClr val="0E3F8C"/>
                </a:solidFill>
                <a:latin typeface="微软雅黑"/>
                <a:ea typeface="微软雅黑"/>
              </a:rPr>
              <a:t>"——</a:t>
            </a:r>
            <a:r>
              <a:rPr lang="zh-CN" sz="1275">
                <a:solidFill>
                  <a:srgbClr val="0E3F8C"/>
                </a:solidFill>
                <a:latin typeface="微软雅黑"/>
                <a:ea typeface="微软雅黑"/>
              </a:rPr>
              <a:t>误扣在扣费前被拦下，而不是等申诉补救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08 / 25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5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02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研究目标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2400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三层目标与验收口径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09 / 25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381000" y="971550"/>
            <a:ext cx="3543300" cy="5124450"/>
          </a:xfrm>
          <a:prstGeom prst="roundRect">
            <a:avLst>
              <a:gd name="adj" fmla="val 215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647700" y="1238250"/>
            <a:ext cx="3009900" cy="962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0E3F8C"/>
                </a:solidFill>
                <a:latin typeface="微软雅黑"/>
                <a:ea typeface="微软雅黑"/>
              </a:rPr>
              <a:t>目标分三层</a:t>
            </a:r>
            <a:endParaRPr/>
          </a:p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0E3F8C"/>
                </a:solidFill>
                <a:latin typeface="微软雅黑"/>
                <a:ea typeface="微软雅黑"/>
              </a:rPr>
              <a:t>口径只有一个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647700" y="2390775"/>
            <a:ext cx="6096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647700" y="2638425"/>
            <a:ext cx="3009900" cy="1752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业务、方法、工程三层目标看似不同，但都可以被同一个数字检验。</a:t>
            </a:r>
            <a:endParaRPr/>
          </a:p>
          <a:p>
            <a:pPr>
              <a:lnSpc>
                <a:spcPct val="180000"/>
              </a:lnSpc>
            </a:pPr>
            <a:r>
              <a:rPr sz="1275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>
              <a:lnSpc>
                <a:spcPct val="18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这也是本作品与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只做演示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的区别：指标可被第三方用同一份测试集重算。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647700" y="4914900"/>
            <a:ext cx="3009900" cy="914400"/>
          </a:xfrm>
          <a:prstGeom prst="roundRect">
            <a:avLst>
              <a:gd name="adj" fmla="val 8333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800100" y="5114925"/>
            <a:ext cx="2705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统一验收口径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800100" y="5324475"/>
            <a:ext cx="27051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4FA8"/>
                </a:solidFill>
                <a:latin typeface="微软雅黑"/>
                <a:ea typeface="微软雅黑"/>
              </a:rPr>
              <a:t>误扣费率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4305300" y="971550"/>
            <a:ext cx="712470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4495800" y="1419225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4610100" y="1543050"/>
            <a:ext cx="276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5124450" y="1533525"/>
            <a:ext cx="6572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微软雅黑"/>
                <a:ea typeface="微软雅黑"/>
              </a:rPr>
              <a:t>业务层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6400800" y="1238250"/>
            <a:ext cx="3390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把</a:t>
            </a:r>
            <a:r>
              <a:rPr lang="en-US" sz="1425" b="1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不可信→不扣费</a:t>
            </a:r>
            <a:r>
              <a:rPr lang="en-US" sz="1425" b="1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写进计费流程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6400800" y="1514475"/>
            <a:ext cx="3390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定义合规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违停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不可信三态语义，明确各自的计费动作与复核去向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9791700" y="1304925"/>
            <a:ext cx="1257300" cy="723900"/>
          </a:xfrm>
          <a:prstGeom prst="roundRect">
            <a:avLst>
              <a:gd name="adj" fmla="val 10526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10287000" y="14763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验收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10058400" y="16383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微软雅黑"/>
                <a:ea typeface="微软雅黑"/>
              </a:rPr>
              <a:t>误扣费率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4305300" y="2533650"/>
            <a:ext cx="712470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4495800" y="2981325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4610100" y="3105150"/>
            <a:ext cx="276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5124450" y="3095625"/>
            <a:ext cx="6572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微软雅黑"/>
                <a:ea typeface="微软雅黑"/>
              </a:rPr>
              <a:t>方法层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6400800" y="2800350"/>
            <a:ext cx="3390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建立可复现的数字孪生测试集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6400800" y="3076575"/>
            <a:ext cx="3390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覆盖贴边停车、城市多径、慢拉欺骗、局部拒止四类剧本，不依赖外场与外设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9791700" y="2867025"/>
            <a:ext cx="1257300" cy="723900"/>
          </a:xfrm>
          <a:prstGeom prst="roundRect">
            <a:avLst>
              <a:gd name="adj" fmla="val 10526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10287000" y="30384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验收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9972675" y="3200400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微软雅黑"/>
                <a:ea typeface="微软雅黑"/>
              </a:rPr>
              <a:t>可重跑复算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4305300" y="4095750"/>
            <a:ext cx="712470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4495800" y="4543425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4610100" y="4667250"/>
            <a:ext cx="276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5124450" y="4657725"/>
            <a:ext cx="6572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微软雅黑"/>
                <a:ea typeface="微软雅黑"/>
              </a:rPr>
              <a:t>工程层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6400800" y="4362450"/>
            <a:ext cx="3390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规则与硬件载体解耦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6400800" y="4638675"/>
            <a:ext cx="3390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量产锁控走低功耗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MCU / GNSS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模组；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Zynq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仅作研发验证与路侧原型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9791700" y="4429125"/>
            <a:ext cx="1257300" cy="723900"/>
          </a:xfrm>
          <a:prstGeom prst="roundRect">
            <a:avLst>
              <a:gd name="adj" fmla="val 10526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10287000" y="46005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验收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9972675" y="4762500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微软雅黑"/>
                <a:ea typeface="微软雅黑"/>
              </a:rPr>
              <a:t>跨载体一致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4305300" y="5657850"/>
            <a:ext cx="7124700" cy="590550"/>
          </a:xfrm>
          <a:prstGeom prst="roundRect">
            <a:avLst>
              <a:gd name="adj" fmla="val 12903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4514850" y="5848350"/>
            <a:ext cx="3943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三层目标最终收敛到同一个可重算的数字：误扣费率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09 / 25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209675" y="2057400"/>
            <a:ext cx="291465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微软雅黑"/>
                <a:ea typeface="微软雅黑"/>
              </a:rPr>
              <a:t>03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334000" y="1828800"/>
            <a:ext cx="6172200" cy="7715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050" b="1">
                <a:solidFill>
                  <a:srgbClr val="FFFFFF"/>
                </a:solidFill>
                <a:latin typeface="微软雅黑"/>
                <a:ea typeface="微软雅黑"/>
              </a:rPr>
              <a:t>创新性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5334000" y="2809875"/>
            <a:ext cx="9144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5334000" y="3276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524500" y="317182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业务创新：完好性前置到扣费之前，形成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可信电子围栏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语义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5334000" y="37814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524500" y="367665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方法创新：残差一致性驱动三态，与围栏几何解耦，阈值可标定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5334000" y="4286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524500" y="418147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工程创新：规则与载体解耦，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MCU / PC / Zynq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同一套逻辑同一套指标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5334000" y="47910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524500" y="468630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验证创新：数字孪生测试集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+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业务可读指标，而非只报坐标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RMSE</a:t>
            </a:r>
            <a:endParaRPr/>
          </a:p>
        </p:txBody>
      </p:sp>
      <p:pic>
        <p:nvPicPr>
          <p:cNvPr id="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03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创新性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1333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四个创新点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11 / 25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381000" y="971550"/>
            <a:ext cx="2686050" cy="5124450"/>
          </a:xfrm>
          <a:prstGeom prst="roundRect">
            <a:avLst>
              <a:gd name="adj" fmla="val 2837"/>
            </a:avLst>
          </a:prstGeom>
          <a:solidFill>
            <a:srgbClr val="F0F5FC"/>
          </a:solidFill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571500" y="11620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76275" y="1276350"/>
            <a:ext cx="247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571500" y="1752600"/>
            <a:ext cx="2305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微软雅黑"/>
                <a:ea typeface="微软雅黑"/>
              </a:rPr>
              <a:t>业务创新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571500" y="2124075"/>
            <a:ext cx="23050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完好性前置到扣费之前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71500" y="2533650"/>
            <a:ext cx="2305050" cy="1285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过去完好性只是接收机内部的标志位。本方案让它成为有业务后果的状态：不可信即不扣费，并进入人工复核队列。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571500" y="4667250"/>
            <a:ext cx="23050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85800" y="4895850"/>
            <a:ext cx="2076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城市多径误扣费率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85800" y="5095875"/>
            <a:ext cx="2076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/>
                <a:ea typeface="微软雅黑"/>
              </a:rPr>
              <a:t>84.2% → 10.5%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571500" y="5657850"/>
            <a:ext cx="230505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457325" y="57054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E3F8C"/>
                </a:solidFill>
                <a:latin typeface="微软雅黑"/>
                <a:ea typeface="微软雅黑"/>
              </a:rPr>
              <a:t>保护用户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3295650" y="971550"/>
            <a:ext cx="2686050" cy="512445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3486150" y="11620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3590925" y="1276350"/>
            <a:ext cx="247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微软雅黑"/>
                <a:ea typeface="微软雅黑"/>
              </a:rPr>
              <a:t>02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3486150" y="1752600"/>
            <a:ext cx="2305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微软雅黑"/>
                <a:ea typeface="微软雅黑"/>
              </a:rPr>
              <a:t>方法创新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3486150" y="2124075"/>
            <a:ext cx="23050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三态判决与围栏几何解耦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3486150" y="2533650"/>
            <a:ext cx="230505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以去均值残差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RMS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作为观测一致性判据，算法可替换、阈值可按运营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ROC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式标定，避免黑盒决策。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3486150" y="4667250"/>
            <a:ext cx="2305050" cy="876300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3600450" y="4895850"/>
            <a:ext cx="2076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判据来源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3600450" y="5095875"/>
            <a:ext cx="2076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微软雅黑"/>
                <a:ea typeface="微软雅黑"/>
              </a:rPr>
              <a:t>观测自洽性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3486150" y="5657850"/>
            <a:ext cx="2305050" cy="247650"/>
          </a:xfrm>
          <a:prstGeom prst="roundRect">
            <a:avLst>
              <a:gd name="adj" fmla="val 50000"/>
            </a:avLst>
          </a:prstGeom>
          <a:solidFill>
            <a:srgbClr val="F1EFE8"/>
          </a:solidFill>
          <a:ln/>
        </p:spPr>
        <p:txBody>
          <a:bodyPr/>
          <a:p>
            <a:pPr/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171950" y="57054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不依赖外部基准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210300" y="971550"/>
            <a:ext cx="2686050" cy="512445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400800" y="11620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505575" y="1276350"/>
            <a:ext cx="247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微软雅黑"/>
                <a:ea typeface="微软雅黑"/>
              </a:rPr>
              <a:t>03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400800" y="1752600"/>
            <a:ext cx="2305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微软雅黑"/>
                <a:ea typeface="微软雅黑"/>
              </a:rPr>
              <a:t>工程创新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400800" y="2124075"/>
            <a:ext cx="23050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规则与硬件载体解耦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400800" y="2533650"/>
            <a:ext cx="230505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同一套逻辑可运行在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PC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、低功耗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MCU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与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Zynq PS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上，指标口径保持一致，落地不受硬件形态限制。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400800" y="4667250"/>
            <a:ext cx="2305050" cy="876300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515100" y="4895850"/>
            <a:ext cx="2076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载体范围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515100" y="5095875"/>
            <a:ext cx="2076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微软雅黑"/>
                <a:ea typeface="微软雅黑"/>
              </a:rPr>
              <a:t>MCU / PC / Zynq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400800" y="5657850"/>
            <a:ext cx="2305050" cy="247650"/>
          </a:xfrm>
          <a:prstGeom prst="roundRect">
            <a:avLst>
              <a:gd name="adj" fmla="val 50000"/>
            </a:avLst>
          </a:prstGeom>
          <a:solidFill>
            <a:srgbClr val="F1EFE8"/>
          </a:solidFill>
          <a:ln/>
        </p:spPr>
        <p:txBody>
          <a:bodyPr/>
          <a:p>
            <a:pPr/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953250" y="5705475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载体可换，指标不变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9124950" y="971550"/>
            <a:ext cx="2686050" cy="512445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9315450" y="11620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9420225" y="1276350"/>
            <a:ext cx="247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微软雅黑"/>
                <a:ea typeface="微软雅黑"/>
              </a:rPr>
              <a:t>04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9315450" y="1752600"/>
            <a:ext cx="2305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微软雅黑"/>
                <a:ea typeface="微软雅黑"/>
              </a:rPr>
              <a:t>验证创新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9315450" y="2124075"/>
            <a:ext cx="23050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数字孪生</a:t>
            </a:r>
            <a:r>
              <a:rPr lang="en-US" sz="1275" b="1">
                <a:solidFill>
                  <a:srgbClr val="1A2230"/>
                </a:solidFill>
                <a:latin typeface="微软雅黑"/>
                <a:ea typeface="微软雅黑"/>
              </a:rPr>
              <a:t> + </a:t>
            </a: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业务可读指标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9315450" y="2533650"/>
            <a:ext cx="2305050" cy="1285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主指标是误扣费率而非坐标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RMSE——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坐标再准，用户被扣钱这件事仍然发生了。场景参数写在代码中，可被复算。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9315450" y="4667250"/>
            <a:ext cx="2305050" cy="876300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9429750" y="4895850"/>
            <a:ext cx="2076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主指标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9429750" y="5095875"/>
            <a:ext cx="2076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微软雅黑"/>
                <a:ea typeface="微软雅黑"/>
              </a:rPr>
              <a:t>误扣费率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9315450" y="5657850"/>
            <a:ext cx="2305050" cy="247650"/>
          </a:xfrm>
          <a:prstGeom prst="roundRect">
            <a:avLst>
              <a:gd name="adj" fmla="val 50000"/>
            </a:avLst>
          </a:prstGeom>
          <a:solidFill>
            <a:srgbClr val="F1EFE8"/>
          </a:solidFill>
          <a:ln/>
        </p:spPr>
        <p:txBody>
          <a:bodyPr/>
          <a:p>
            <a:pPr/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0067925" y="57054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微软雅黑"/>
                <a:ea typeface="微软雅黑"/>
              </a:rPr>
              <a:t>第三方可复算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11 / 25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506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03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创新性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5067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新在哪：不是新检测理论，是新的计费语义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12 / 25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381000" y="971550"/>
            <a:ext cx="6667500" cy="5124450"/>
          </a:xfrm>
          <a:prstGeom prst="roundRect">
            <a:avLst>
              <a:gd name="adj" fmla="val 148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09600" y="1200150"/>
            <a:ext cx="621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3D7BD9"/>
                </a:solidFill>
                <a:latin typeface="微软雅黑"/>
                <a:ea typeface="微软雅黑"/>
              </a:rPr>
              <a:t>检测层</a:t>
            </a:r>
            <a:r>
              <a:rPr lang="en-US" sz="1125" b="1" spc="75">
                <a:solidFill>
                  <a:srgbClr val="3D7BD9"/>
                </a:solidFill>
                <a:latin typeface="微软雅黑"/>
                <a:ea typeface="微软雅黑"/>
              </a:rPr>
              <a:t> · </a:t>
            </a:r>
            <a:r>
              <a:rPr lang="zh-CN" sz="1125" b="1" spc="75">
                <a:solidFill>
                  <a:srgbClr val="3D7BD9"/>
                </a:solidFill>
                <a:latin typeface="微软雅黑"/>
                <a:ea typeface="微软雅黑"/>
              </a:rPr>
              <a:t>沿用成熟方法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09600" y="1466850"/>
            <a:ext cx="62103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微软雅黑"/>
                <a:ea typeface="微软雅黑"/>
              </a:rPr>
              <a:t>基线用残差一致性，即</a:t>
            </a:r>
            <a:r>
              <a:rPr lang="en-US" sz="1875" b="1">
                <a:solidFill>
                  <a:srgbClr val="1A2230"/>
                </a:solidFill>
                <a:latin typeface="微软雅黑"/>
                <a:ea typeface="微软雅黑"/>
              </a:rPr>
              <a:t> RAIM </a:t>
            </a:r>
            <a:r>
              <a:rPr lang="zh-CN" sz="1875" b="1">
                <a:solidFill>
                  <a:srgbClr val="1A2230"/>
                </a:solidFill>
                <a:latin typeface="微软雅黑"/>
                <a:ea typeface="微软雅黑"/>
              </a:rPr>
              <a:t>思想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09600" y="1866900"/>
            <a:ext cx="62103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残差一致性是航空完好性监测的成熟方法。本方案不主张在检测理论上有所发明，而是复用该判据，并明确它与航空</a:t>
            </a:r>
            <a:r>
              <a:rPr lang="en-US" sz="1350">
                <a:solidFill>
                  <a:srgbClr val="4A5568"/>
                </a:solidFill>
                <a:latin typeface="微软雅黑"/>
                <a:ea typeface="微软雅黑"/>
              </a:rPr>
              <a:t> RAIM </a:t>
            </a:r>
            <a:r>
              <a:rPr lang="zh-CN" sz="1350">
                <a:solidFill>
                  <a:srgbClr val="4A5568"/>
                </a:solidFill>
                <a:latin typeface="微软雅黑"/>
                <a:ea typeface="微软雅黑"/>
              </a:rPr>
              <a:t>的目标差异。</a:t>
            </a:r>
            <a:endParaRPr/>
          </a:p>
        </p:txBody>
      </p:sp>
      <p:graphicFrame>
        <p:nvGraphicFramePr>
          <p:cNvPr id="91" name=""/>
          <p:cNvGraphicFramePr/>
          <p:nvPr/>
        </p:nvGraphicFramePr>
        <p:xfrm rot="0" flipH="0" flipV="0">
          <a:off x="609600" y="2762250"/>
          <a:ext cx="6210300" cy="2857500"/>
        </p:xfrm>
        <a:graphic>
          <a:graphicData uri="http://schemas.openxmlformats.org/drawingml/2006/table">
            <a:tbl>
              <a:tblGrid>
                <a:gridCol w="991923">
                  <a:extLst>
                    <a:ext uri="{9D8B030D-6E8A-4147-A177-3AD203B41FA5}">
                      <a16:colId val="1"/>
                    </a:ext>
                  </a:extLst>
                </a:gridCol>
                <a:gridCol w="2501371">
                  <a:extLst>
                    <a:ext uri="{9D8B030D-6E8A-4147-A177-3AD203B41FA5}">
                      <a16:colId val="2"/>
                    </a:ext>
                  </a:extLst>
                </a:gridCol>
                <a:gridCol w="2717006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715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航空 RAIM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本方案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715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服务目标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航电认证，保护生命安全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计费业务，保护用户不误扣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715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输出形式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完好性告警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三态计费标志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715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失效代价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不可接受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误扣与申诉成本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715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阈值策略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严格，宁可中断服务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按误扣 / 漏判权衡标定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92" name=""/>
          <p:cNvSpPr/>
          <p:nvPr/>
        </p:nvSpPr>
        <p:spPr>
          <a:xfrm rot="0" flipH="0" flipV="0">
            <a:off x="7429500" y="971550"/>
            <a:ext cx="4381500" cy="5124450"/>
          </a:xfrm>
          <a:prstGeom prst="roundRect">
            <a:avLst>
              <a:gd name="adj" fmla="val 173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658100" y="1200150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3D7BD9"/>
                </a:solidFill>
                <a:latin typeface="微软雅黑"/>
                <a:ea typeface="微软雅黑"/>
              </a:rPr>
              <a:t>业务层</a:t>
            </a:r>
            <a:r>
              <a:rPr lang="en-US" sz="1125" b="1" spc="75">
                <a:solidFill>
                  <a:srgbClr val="3D7BD9"/>
                </a:solidFill>
                <a:latin typeface="微软雅黑"/>
                <a:ea typeface="微软雅黑"/>
              </a:rPr>
              <a:t> · </a:t>
            </a:r>
            <a:r>
              <a:rPr lang="zh-CN" sz="1125" b="1" spc="75">
                <a:solidFill>
                  <a:srgbClr val="3D7BD9"/>
                </a:solidFill>
                <a:latin typeface="微软雅黑"/>
                <a:ea typeface="微软雅黑"/>
              </a:rPr>
              <a:t>两处新东西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658100" y="1466850"/>
            <a:ext cx="3924300" cy="800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75" b="1">
                <a:solidFill>
                  <a:srgbClr val="0E3F8C"/>
                </a:solidFill>
                <a:latin typeface="微软雅黑"/>
                <a:ea typeface="微软雅黑"/>
              </a:rPr>
              <a:t>把判据接到</a:t>
            </a:r>
            <a:endParaRPr/>
          </a:p>
          <a:p>
            <a:pPr>
              <a:lnSpc>
                <a:spcPct val="140000"/>
              </a:lnSpc>
            </a:pPr>
            <a:r>
              <a:rPr lang="zh-CN" sz="1875" b="1">
                <a:solidFill>
                  <a:srgbClr val="0E3F8C"/>
                </a:solidFill>
                <a:latin typeface="微软雅黑"/>
                <a:ea typeface="微软雅黑"/>
              </a:rPr>
              <a:t>计费后果上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7658100" y="24765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753350" y="2524125"/>
            <a:ext cx="104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058150" y="2476500"/>
            <a:ext cx="3524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微软雅黑"/>
                <a:ea typeface="微软雅黑"/>
              </a:rPr>
              <a:t>HOLD </a:t>
            </a: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是有业务后果的状态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058150" y="2752725"/>
            <a:ext cx="35242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它不是内部标志位，而是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这次不扣费、转人工复核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的明确动作，直接改变用户的钱包。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7658100" y="35909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753350" y="3638550"/>
            <a:ext cx="104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058150" y="3590925"/>
            <a:ext cx="3524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复合剧本可复现评估集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058150" y="3867150"/>
            <a:ext cx="35242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多径、慢拉欺骗与拒止按参数注入并逐历元打标，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相对改善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这一结论可被第三方用同一份数据复算。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7658100" y="5067300"/>
            <a:ext cx="39243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791450" y="5172075"/>
            <a:ext cx="365760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检测方法不新，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但</a:t>
            </a:r>
            <a:r>
              <a:rPr lang="en-US" sz="1200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用在哪、算成什么</a:t>
            </a:r>
            <a:r>
              <a:rPr lang="en-US" sz="1200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是新的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12 / 25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209675" y="2057400"/>
            <a:ext cx="291465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微软雅黑"/>
                <a:ea typeface="微软雅黑"/>
              </a:rPr>
              <a:t>04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334000" y="1552575"/>
            <a:ext cx="6172200" cy="13144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450" b="1">
                <a:solidFill>
                  <a:srgbClr val="FFFFFF"/>
                </a:solidFill>
                <a:latin typeface="微软雅黑"/>
                <a:ea typeface="微软雅黑"/>
              </a:rPr>
              <a:t>主要研究内容</a:t>
            </a:r>
            <a:endParaRPr/>
          </a:p>
          <a:p>
            <a:pPr>
              <a:lnSpc>
                <a:spcPct val="125000"/>
              </a:lnSpc>
            </a:pPr>
            <a:r>
              <a:rPr lang="zh-CN" sz="3450" b="1">
                <a:solidFill>
                  <a:srgbClr val="FFFFFF"/>
                </a:solidFill>
                <a:latin typeface="微软雅黑"/>
                <a:ea typeface="微软雅黑"/>
              </a:rPr>
              <a:t>及实现思路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5334000" y="3076575"/>
            <a:ext cx="9144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5334000" y="35433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5524500" y="343852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系统框架：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L0–L4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五层，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L2–L4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是本体，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L0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载体可替换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5334000" y="40481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524500" y="394335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定位与完好性：伪距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WLS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解算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+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残差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RMS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三态判据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5334000" y="4552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524500" y="444817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数字孪生：四类剧本测试集，注入参数完全可复现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5334000" y="50577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524500" y="495300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实验与验证：误扣率对比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+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边缘可部署性验证</a:t>
            </a:r>
            <a:endParaRPr/>
          </a:p>
        </p:txBody>
      </p:sp>
      <p:pic>
        <p:nvPicPr>
          <p:cNvPr id="1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04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主要研究内容及实现思路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4000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系统框架：四层解耦，载体可替换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14 / 25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381000" y="933450"/>
            <a:ext cx="11430000" cy="40005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29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381000" y="933450"/>
            <a:ext cx="11430000" cy="4000500"/>
          </a:xfrm>
          <a:prstGeom prst="roundRect">
            <a:avLst>
              <a:gd name="adj" fmla="val 1905"/>
            </a:avLst>
          </a:prstGeom>
          <a:ln/>
        </p:spPr>
      </p:pic>
      <p:sp>
        <p:nvSpPr>
          <p:cNvPr id="130" name=""/>
          <p:cNvSpPr/>
          <p:nvPr/>
        </p:nvSpPr>
        <p:spPr>
          <a:xfrm rot="0" flipH="0" flipV="0">
            <a:off x="381000" y="5086350"/>
            <a:ext cx="3705225" cy="1009650"/>
          </a:xfrm>
          <a:prstGeom prst="roundRect">
            <a:avLst>
              <a:gd name="adj" fmla="val 754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33400" y="536257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作品本体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33400" y="5591175"/>
            <a:ext cx="3400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微软雅黑"/>
                <a:ea typeface="微软雅黑"/>
              </a:rPr>
              <a:t>L2–L4 </a:t>
            </a: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定位</a:t>
            </a:r>
            <a:r>
              <a:rPr lang="en-US" sz="1500" b="1">
                <a:solidFill>
                  <a:srgbClr val="0E3F8C"/>
                </a:solidFill>
                <a:latin typeface="微软雅黑"/>
                <a:ea typeface="微软雅黑"/>
              </a:rPr>
              <a:t> · </a:t>
            </a: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围栏</a:t>
            </a:r>
            <a:r>
              <a:rPr lang="en-US" sz="1500" b="1">
                <a:solidFill>
                  <a:srgbClr val="0E3F8C"/>
                </a:solidFill>
                <a:latin typeface="微软雅黑"/>
                <a:ea typeface="微软雅黑"/>
              </a:rPr>
              <a:t> · </a:t>
            </a: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计费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4238625" y="5086350"/>
            <a:ext cx="3705225" cy="1009650"/>
          </a:xfrm>
          <a:prstGeom prst="roundRect">
            <a:avLst>
              <a:gd name="adj" fmla="val 754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391025" y="536257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部署载体（可替换）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391025" y="5591175"/>
            <a:ext cx="3400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微软雅黑"/>
                <a:ea typeface="微软雅黑"/>
              </a:rPr>
              <a:t>MCU </a:t>
            </a:r>
            <a:r>
              <a:rPr lang="zh-CN" sz="1500" b="1">
                <a:solidFill>
                  <a:srgbClr val="1E4FA8"/>
                </a:solidFill>
                <a:latin typeface="微软雅黑"/>
                <a:ea typeface="微软雅黑"/>
              </a:rPr>
              <a:t>量产</a:t>
            </a:r>
            <a:r>
              <a:rPr lang="en-US" sz="1500" b="1">
                <a:solidFill>
                  <a:srgbClr val="1E4FA8"/>
                </a:solidFill>
                <a:latin typeface="微软雅黑"/>
                <a:ea typeface="微软雅黑"/>
              </a:rPr>
              <a:t> · PC </a:t>
            </a:r>
            <a:r>
              <a:rPr lang="zh-CN" sz="1500" b="1">
                <a:solidFill>
                  <a:srgbClr val="1E4FA8"/>
                </a:solidFill>
                <a:latin typeface="微软雅黑"/>
                <a:ea typeface="微软雅黑"/>
              </a:rPr>
              <a:t>研发</a:t>
            </a:r>
            <a:r>
              <a:rPr lang="en-US" sz="1500" b="1">
                <a:solidFill>
                  <a:srgbClr val="1E4FA8"/>
                </a:solidFill>
                <a:latin typeface="微软雅黑"/>
                <a:ea typeface="微软雅黑"/>
              </a:rPr>
              <a:t> · Zynq </a:t>
            </a:r>
            <a:r>
              <a:rPr lang="zh-CN" sz="1500" b="1">
                <a:solidFill>
                  <a:srgbClr val="1E4FA8"/>
                </a:solidFill>
                <a:latin typeface="微软雅黑"/>
                <a:ea typeface="微软雅黑"/>
              </a:rPr>
              <a:t>验证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8096250" y="5086350"/>
            <a:ext cx="3714750" cy="1009650"/>
          </a:xfrm>
          <a:prstGeom prst="roundRect">
            <a:avLst>
              <a:gd name="adj" fmla="val 754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248650" y="53625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设计原则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248650" y="5591175"/>
            <a:ext cx="3409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载体可换，指标不变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14 / 25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42" name="" descr="&lt;Slide style={{ width: 1280, height: 720, padding: 0, background: '#FFFFFF', flexDirection: 'column', fontFamily: '微软雅黑' }} notes={`这一页讲判据怎么来的。&#13;&#10;&#13;&#10;第一步是伪距观测。接收机测到的不是真实距离，而是伪距：几何距离加上接收机钟差，再加上各种误差。未知数是接收机的三维坐标和钟差，一共四个，所以至少要四颗星。&#13;&#10;&#13;&#10;第二步是解算。我们用迭代加权最小二乘。设计矩阵 H 的每一行是视线单位矢量的反向加上钟差项，解出坐标和钟差的增量，迭代到收敛。解完之后做一次残差剔野，把明显偏离的通道剔除，再重解。&#13;&#10;&#13;&#10;第三步是关键。把公共钟差去掉之后，剩下的残差反映的是各通道之间的不一致性。我们取它的均方根作为判据。&#13;&#10;&#13;&#10;RMS 小，说明观测之间自洽，判可信，正常走围栏判定；RMS 中等，说明有多径或者欺骗的迹象，判可疑；RMS 超过上限，或者可用星不足四颗，判拒止。&#13;&#10;&#13;&#10;这个判据的好处是，它来自观测之间的自洽性，不需要外部基准，所以锁端可以独立运行。`}&gt;&#13;&#10;    &lt;Box style={{ width: 1280, height: 80, background: '#1E4FA8', flexDirection: 'row', alignItems: 'center', justifyContent: 'space-between', paddingLeft: 40, paddingRight: 40 }}&gt;&#13;&#10;        &lt;Box style={{ flexDirection: 'column', gap: 3 }}&gt;&#13;&#10;            &lt;Text style={{ fontSize: 14, color: '#B5D4F4', letterSpacing: 1 }}&gt;04 主要研究内容及实现思路&lt;/Text&gt;&#13;&#10;            &lt;Text style={{ fontSize: 28, fontWeight: 'bold', color: '#FFFFFF' }}&gt;定位与完好性：从伪距到三态&lt;/Text&gt;&#13;&#10;        &lt;/Box&gt;&#13;&#10;        &lt;Text style={{ fontSize: 16, color: '#B5D4F4' }}&gt;15 / 25&lt;/Text&gt;&#13;&#10;    &lt;/Box&gt;&#13;&#10;&#13;&#10;    &lt;Box style={{ width: 1280, height: 576, flexDirection: 'row', paddingLeft: 40, paddingRight: 40, paddingTop: 22, paddingBottom: 16, gap: 40 }}&gt;&#13;&#10;        &lt;Box style={{ width: 660, height: 538, background: '#FFFFFF', border: '1px solid #D6DCE5', borderRadius: 8, flexDirection: 'column', padding: 24 }}&gt;&#13;&#10;            &lt;Text style={{ fontSize: 15, fontWeight: 'bold', color: '#3D7BD9', letterSpacing: 1 }}&gt;解算链路&lt;/Text&gt;&#13;&#10;            &lt;Box style={{ height: 16 }} /&gt;&#13;&#10;&#13;&#10;            &lt;Text style={{ fontSize: 18, fontWeight: 'bold', color: '#1A2230' }}&gt;① 伪距观测方程&lt;/Text&gt;&#13;&#10;            &lt;Box style={{ height: 8 }} /&gt;&#13;&#10;            &lt;Box style={{ height: 54, background: '#F0F5FC', borderRadius: 6, alignItems: 'center', justifyContent: 'center' }}&gt;&#13;&#10;                &lt;Text style={{ fontSize: 22, color: '#0E3F8C', fontFamily: 'Cambria' }}&gt;ρᵢ = ‖x_sat,i − x‖ + c·δt + εᵢ&lt;/Text&gt;&#13;&#10;            &lt;/Box&gt;&#13;&#10;            &lt;Box style={{ height: 8 }} /&gt;&#13;&#10;            &lt;Text style={{ fontSize: 15, color: '#4A5568', lineHeight: 1.6 }}&gt;未知数：三维坐标 x 与接收机钟差 δt，共 4 个，至少需 4 颗卫星&lt;/Text&gt;&#13;&#10;&#13;&#10;            &lt;Box style={{ height: 20 }} /&gt;&#13;&#10;            &lt;Text style={{ fontSize: 18, fontWeight: 'bold', color: '#1A2230' }}&gt;② 迭代加权最小二乘&lt;/Text&gt;&#13;&#10;            &lt;Box style={{ height: 8 }} /&gt;&#13;&#10;            &lt;Box style={{ height: 54, background: '#F0F5FC', borderRadius: 6, alignItems: 'center', justifyContent: 'center' }}&gt;&#13;&#10;                &lt;Text style={{ fontSize: 22, color: '#0E3F8C', fontFamily: 'Cambria' }}&gt;H = [ −uᵢᵀ , 1 ]　Δx = (HᵀWH)⁻¹ HᵀW Δρ&lt;/Text&gt;&#13;&#10;            &lt;/Box&gt;&#13;&#10;            &lt;Box style={{ height: 8 }} /&gt;&#13;&#10;            &lt;Text style={{ fontSize: 15, color: '#4A5568', lineHeight: 1.6 }}&gt;迭代至坐标增量收敛，随后按 4σ 规则做一次残差剔野并重解&lt;/Text&gt;&#13;&#10;&#13;&#10;            &lt;Box style={{ height: 20 }} /&gt;&#13;&#10;            &lt;Text style={{ fontSize: 18, fontWeight: 'bold', color: '#1A2230' }}&gt;③ 去公共钟差后的残差一致性&lt;/Text&gt;&#13;&#10;            &lt;Box style={{ height: 8 }} /&gt;&#13;&#10;            &lt;Box style={{ height: 54, background: '#E8EFF8', borderRadius: 6, alignItems: 'center', justifyContent: 'center' }}&gt;&#13;&#10;                &lt;Text style={{ fontSize: 22, color: '#0E3F8C', fontFamily: 'Cambria' }}&gt;rᵢ = ρᵢ − ‖x̂ − x_sat,i‖ − mean(r)　RMS = √( Σ rᵢ² / n )&lt;/Text&gt;&#13;&#10;            &lt;/Box&gt;&#13;&#10;            &lt;Box style={{ height: 8 }} /&gt;&#13;&#10;            &lt;Text style={{ fontSize: 15, color: '#4A5568', lineHeight: 1.6 }}&gt;残差反映各通道之间的不一致性，而非绝对精度——这正是可信度判据的来源&lt;/Text&gt;&#13;&#10;        &lt;/Box&gt;&#13;&#10;&#13;&#10;        &lt;Box style={{ width: 460, height: 538, flexDirection: 'column', gap: 14 }}&gt;&#13;&#10;            &lt;Box style={{ height: 58, background: '#0E3F8C', borderRadius: 8, flexDirection: 'row', alignItems: 'center', paddingLeft: 20, paddingRight: 20 }}&gt;&#13;&#10;                &lt;Text style={{ fontSize: 20, fontWeight: 'bold', color: '#FFFFFF' }}&gt;三态判据（阈值与噪声 σ 挂钩）&lt;/Text&gt;&#13;&#10;            &lt;/Box&gt;&#13;&#10;&#13;&#10;            &lt;Box style={{ height: 122, background: '#FFFFFF', border: '1px solid #D6DCE5', borderRadius: 8, flexDirection: 'column', padding: 18, justifyContent: 'center' }}&gt;&#13;&#10;                &lt;Box style={{ flexDirection: 'row', alignItems: 'center', gap: 10 }}&gt;&#13;&#10;                    &lt;Box style={{ width: 10, height: 10, background: '#3B6D11', borderRadius: 5 }} /&gt;&#13;&#10;                    &lt;Text style={{ fontSize: 20, fontWeight: 'bold', color: '#27500A' }}&gt;可信&lt;/Text&gt;&#13;&#10;                &lt;/Box&gt;&#13;&#10;                &lt;Box style={{ height: 8 }} /&gt;&#13;&#10;                &lt;Text style={{ fontSize: 17, color: '#1A2230' }}&gt;RMS ≤ 4σ　→　正常进入围栏包含判定&lt;/Text&gt;&#13;&#10;            &lt;/Box&gt;&#13;&#10;&#13;&#10;            &lt;Box style={{ height: 122, background: '#FAEEDA', border: '1px solid #EF9F27', borderRadius: 8, flexDirection: 'column', padding: 18, justifyContent: 'center' }}&gt;&#13;&#10;                &lt;Box style={{ flexDirection: 'row', alignItems: 'center', gap: 10 }}&gt;&#13;&#10;                    &lt;Box style={{ width: 10, height: 10, background: '#BA7517', borderRadius: 5 }} /&gt;&#13;&#10;                    &lt;Text style={{ fontSize: 20, fontWeight: 'bold', color: '#854F0B' }}&gt;可疑&lt;/Text&gt;&#13;&#10;                &lt;/Box&gt;&#13;&#10;                &lt;Box style={{ height: 8 }} /&gt;&#13;&#10;                &lt;Text style={{ fontSize: 17, color: '#1A2230' }}&gt;RMS &amp;gt; 4σ　→　HOLD，不扣费，进复核&lt;/Text&gt;&#13;&#10;            &lt;/Box&gt;&#13;&#10;&#13;&#10;            &lt;Box style={{ height: 122, background: '#FCEBEB', border: '1px solid #D9534F', borderRadius: 8, flexDirection: 'column', padding: 18, justifyContent: 'center' }}&gt;&#13;&#10;                &lt;Box style={{ flexDirection: 'row', alignItems: 'center', gap: 10 }}&gt;&#13;&#10;                    &lt;Box style={{ width: 10, height: 10, background: '#D9534F', borderRadius: 5 }} /&gt;&#13;&#10;                    &lt;Text style={{ fontSize: 20, fontWeight: 'bold', color: '#A32D2D' }}&gt;拒止&lt;/Text&gt;&#13;&#10;                &lt;/Box&gt;&#13;&#10;                &lt;Box style={{ height: 8 }} /&gt;&#13;&#10;                &lt;Text style={{ fontSize: 17, color: '#1A2230' }}&gt;RMS &amp;gt; 80 m 或可用星 &amp;lt; 4　→　HOLD&lt;/Text&gt;&#13;&#10;            &lt;/Box&gt;&#13;&#10;&#13;&#10;            &lt;Box style={{ height: 58, background: '#F0F5FC', borderRadius: 8, padding: 12, justifyContent: 'center' }}&gt;&#13;&#10;                &lt;Text style={{ fontSize: 15, color: '#0E3F8C', lineHeight: 1.6 }}&gt;判据来自观测自洽性，不依赖外部基准，锁端可独立运行&lt;/Text&gt;&#13;&#10;            &lt;/Box&gt;&#13;&#10;        &lt;/Box&gt;&#13;&#10;    &lt;/Box&gt;&#13;&#10;&#13;&#10;    &lt;Box style={{ width: 1280, height: 64, borderTop: '1px solid #E5E7EB', flexDirection: 'row', alignItems: 'center', justifyContent: 'space-between', paddingLeft: 40, paddingRight: 40 }}&gt;&#13;&#10;        &lt;Text style={{ fontSize: 14, color: '#8B97A8' }}&gt;共享单车北斗可信电子围栏　|　第八届湖南省大学生智能导航科技创新大赛&lt;/Text&gt;&#13;&#10;        &lt;Text style={{ fontSize: 16, fontWeight: 'bold', color: '#1E4FA8' }}&gt;15 / 25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3467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04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主要研究内容及实现思路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3467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定位与完好性：从伪距到三态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15 / 25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381000" y="971550"/>
            <a:ext cx="6286500" cy="5124450"/>
          </a:xfrm>
          <a:prstGeom prst="roundRect">
            <a:avLst>
              <a:gd name="adj" fmla="val 148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09600" y="1200150"/>
            <a:ext cx="582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3D7BD9"/>
                </a:solidFill>
                <a:latin typeface="微软雅黑"/>
                <a:ea typeface="微软雅黑"/>
              </a:rPr>
              <a:t>解算链路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5829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微软雅黑"/>
                <a:ea typeface="微软雅黑"/>
              </a:rPr>
              <a:t>① </a:t>
            </a: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伪距观测方程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09600" y="1809750"/>
            <a:ext cx="5829300" cy="51435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2362200" y="1943100"/>
            <a:ext cx="2333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0E3F8C"/>
                </a:solidFill>
                <a:latin typeface="Cambria"/>
                <a:ea typeface="Cambria"/>
              </a:rPr>
              <a:t>ρᵢ = ‖x_sat,i − x‖ + c·δt + εᵢ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09600" y="2400300"/>
            <a:ext cx="5829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未知数：三维坐标</a:t>
            </a: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 x </a:t>
            </a: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与接收机钟差</a:t>
            </a: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 δt</a:t>
            </a: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，共</a:t>
            </a: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 4 </a:t>
            </a: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个，至少需</a:t>
            </a: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 4 </a:t>
            </a: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颗卫星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09600" y="2867025"/>
            <a:ext cx="5829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微软雅黑"/>
                <a:ea typeface="微软雅黑"/>
              </a:rPr>
              <a:t>② </a:t>
            </a: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迭代加权最小二乘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09600" y="3152775"/>
            <a:ext cx="5829300" cy="51435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771650" y="3286125"/>
            <a:ext cx="35147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0E3F8C"/>
                </a:solidFill>
                <a:latin typeface="Cambria"/>
                <a:ea typeface="Cambria"/>
              </a:rPr>
              <a:t>H = [ −uᵢᵀ , 1 ]</a:t>
            </a:r>
            <a:r>
              <a:rPr lang="zh-CN" sz="1650">
                <a:solidFill>
                  <a:srgbClr val="0E3F8C"/>
                </a:solidFill>
                <a:latin typeface="Cambria"/>
                <a:ea typeface="Cambria"/>
              </a:rPr>
              <a:t>　Δ</a:t>
            </a:r>
            <a:r>
              <a:rPr lang="en-US" sz="1650">
                <a:solidFill>
                  <a:srgbClr val="0E3F8C"/>
                </a:solidFill>
                <a:latin typeface="Cambria"/>
                <a:ea typeface="Cambria"/>
              </a:rPr>
              <a:t>x = (HᵀWH)⁻¹ HᵀW Δρ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3743325"/>
            <a:ext cx="5829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迭代至坐标增量收敛，随后按</a:t>
            </a: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 4σ </a:t>
            </a: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规则做一次残差剔野并重解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4210050"/>
            <a:ext cx="5829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微软雅黑"/>
                <a:ea typeface="微软雅黑"/>
              </a:rPr>
              <a:t>③ </a:t>
            </a: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去公共钟差后的残差一致性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09600" y="4495800"/>
            <a:ext cx="5829300" cy="514350"/>
          </a:xfrm>
          <a:prstGeom prst="roundRect">
            <a:avLst>
              <a:gd name="adj" fmla="val 1111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200150" y="4629150"/>
            <a:ext cx="464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0E3F8C"/>
                </a:solidFill>
                <a:latin typeface="Cambria"/>
                <a:ea typeface="Cambria"/>
              </a:rPr>
              <a:t>rᵢ = ρᵢ − ‖x̂ − x_sat,i‖ − mean(r)</a:t>
            </a:r>
            <a:r>
              <a:rPr lang="zh-CN" sz="1650">
                <a:solidFill>
                  <a:srgbClr val="0E3F8C"/>
                </a:solidFill>
                <a:latin typeface="Cambria"/>
                <a:ea typeface="Cambria"/>
              </a:rPr>
              <a:t>　</a:t>
            </a:r>
            <a:r>
              <a:rPr lang="en-US" sz="1650">
                <a:solidFill>
                  <a:srgbClr val="0E3F8C"/>
                </a:solidFill>
                <a:latin typeface="Cambria"/>
                <a:ea typeface="Cambria"/>
              </a:rPr>
              <a:t>RMS = √( Σ rᵢ² / n )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5086350"/>
            <a:ext cx="5829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残差反映各通道之间的不一致性，而非绝对精度——这正是可信度判据的来源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7048500" y="971550"/>
            <a:ext cx="4381500" cy="552450"/>
          </a:xfrm>
          <a:prstGeom prst="roundRect">
            <a:avLst>
              <a:gd name="adj" fmla="val 1379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7239000" y="1133475"/>
            <a:ext cx="2714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/>
                <a:ea typeface="微软雅黑"/>
              </a:rPr>
              <a:t>三态判据（阈值与噪声</a:t>
            </a:r>
            <a:r>
              <a:rPr lang="en-US" sz="1500" b="1">
                <a:solidFill>
                  <a:srgbClr val="FFFFFF"/>
                </a:solidFill>
                <a:latin typeface="微软雅黑"/>
                <a:ea typeface="微软雅黑"/>
              </a:rPr>
              <a:t> σ </a:t>
            </a:r>
            <a:r>
              <a:rPr lang="zh-CN" sz="1500" b="1">
                <a:solidFill>
                  <a:srgbClr val="FFFFFF"/>
                </a:solidFill>
                <a:latin typeface="微软雅黑"/>
                <a:ea typeface="微软雅黑"/>
              </a:rPr>
              <a:t>挂钩）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7048500" y="1657350"/>
            <a:ext cx="43815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7219950" y="20574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B6D11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410450" y="199072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500A"/>
                </a:solidFill>
                <a:latin typeface="微软雅黑"/>
                <a:ea typeface="微软雅黑"/>
              </a:rPr>
              <a:t>可信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219950" y="2295525"/>
            <a:ext cx="403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RMS ≤ 4σ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　→　正常进入围栏包含判定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7048500" y="2952750"/>
            <a:ext cx="4381500" cy="1162050"/>
          </a:xfrm>
          <a:prstGeom prst="roundRect">
            <a:avLst>
              <a:gd name="adj" fmla="val 6557"/>
            </a:avLst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7219950" y="33528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7410450" y="328612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854F0B"/>
                </a:solidFill>
                <a:latin typeface="微软雅黑"/>
                <a:ea typeface="微软雅黑"/>
              </a:rPr>
              <a:t>可疑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7219950" y="3590925"/>
            <a:ext cx="403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RMS &gt; 4σ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　→　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HOLD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，不扣费，进复核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7048500" y="4248150"/>
            <a:ext cx="4381500" cy="1162050"/>
          </a:xfrm>
          <a:prstGeom prst="roundRect">
            <a:avLst>
              <a:gd name="adj" fmla="val 6557"/>
            </a:avLst>
          </a:prstGeom>
          <a:solidFill>
            <a:srgbClr val="FCEBEB"/>
          </a:solidFill>
          <a:ln w="127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7219950" y="46482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7410450" y="458152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A32D2D"/>
                </a:solidFill>
                <a:latin typeface="微软雅黑"/>
                <a:ea typeface="微软雅黑"/>
              </a:rPr>
              <a:t>拒止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7219950" y="4886325"/>
            <a:ext cx="4038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RMS &gt; 80 m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或可用星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&lt; 4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　→　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HOLD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7048500" y="5543550"/>
            <a:ext cx="4381500" cy="552450"/>
          </a:xfrm>
          <a:prstGeom prst="roundRect">
            <a:avLst>
              <a:gd name="adj" fmla="val 1379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162800" y="5686425"/>
            <a:ext cx="4152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0E3F8C"/>
                </a:solidFill>
                <a:latin typeface="微软雅黑"/>
                <a:ea typeface="微软雅黑"/>
              </a:rPr>
              <a:t>判据来自观测自洽性，不依赖外部基准，锁端可独立运行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15 / 25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04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主要研究内容及实现思路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4000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数字孪生：不买外设的可复现验证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16 / 25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381000" y="971550"/>
            <a:ext cx="6667500" cy="5124450"/>
          </a:xfrm>
          <a:prstGeom prst="roundRect">
            <a:avLst>
              <a:gd name="adj" fmla="val 148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09600" y="1200150"/>
            <a:ext cx="621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3D7BD9"/>
                </a:solidFill>
                <a:latin typeface="微软雅黑"/>
                <a:ea typeface="微软雅黑"/>
              </a:rPr>
              <a:t>四类剧本</a:t>
            </a:r>
            <a:r>
              <a:rPr lang="en-US" sz="1125" b="1" spc="75">
                <a:solidFill>
                  <a:srgbClr val="3D7BD9"/>
                </a:solidFill>
                <a:latin typeface="微软雅黑"/>
                <a:ea typeface="微软雅黑"/>
              </a:rPr>
              <a:t> · </a:t>
            </a:r>
            <a:r>
              <a:rPr lang="zh-CN" sz="1125" b="1" spc="75">
                <a:solidFill>
                  <a:srgbClr val="3D7BD9"/>
                </a:solidFill>
                <a:latin typeface="微软雅黑"/>
                <a:ea typeface="微软雅黑"/>
              </a:rPr>
              <a:t>注入参数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09600" y="1466850"/>
            <a:ext cx="62103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微软雅黑"/>
                <a:ea typeface="微软雅黑"/>
              </a:rPr>
              <a:t>场景库构成</a:t>
            </a:r>
            <a:endParaRPr/>
          </a:p>
        </p:txBody>
      </p:sp>
      <p:graphicFrame>
        <p:nvGraphicFramePr>
          <p:cNvPr id="190" name=""/>
          <p:cNvGraphicFramePr/>
          <p:nvPr/>
        </p:nvGraphicFramePr>
        <p:xfrm rot="0" flipH="0" flipV="0">
          <a:off x="609600" y="1905000"/>
          <a:ext cx="6210300" cy="2781300"/>
        </p:xfrm>
        <a:graphic>
          <a:graphicData uri="http://schemas.openxmlformats.org/drawingml/2006/table">
            <a:tbl>
              <a:tblGrid>
                <a:gridCol w="3356283">
                  <a:extLst>
                    <a:ext uri="{9D8B030D-6E8A-4147-A177-3AD203B41FA5}">
                      <a16:colId val="1"/>
                    </a:ext>
                  </a:extLst>
                </a:gridCol>
                <a:gridCol w="1682065">
                  <a:extLst>
                    <a:ext uri="{9D8B030D-6E8A-4147-A177-3AD203B41FA5}">
                      <a16:colId val="2"/>
                    </a:ext>
                  </a:extLst>
                </a:gridCol>
                <a:gridCol w="117195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562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场景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干扰设定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关键参数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562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fence_clean 清洁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仅叠加观测噪声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σ = 1.2 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562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fence_urban_mp 城市多径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慢变正弦 + 包络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幅值 12 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562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fence_mp_spoof 多径 + 慢拉欺骗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公共慢变偏置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0.3 m/s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562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fence_denial 局部拒止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35 s 后仅 3 颗星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注入大噪声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91" name=""/>
          <p:cNvSpPr/>
          <p:nvPr/>
        </p:nvSpPr>
        <p:spPr>
          <a:xfrm rot="0" flipH="0" flipV="0">
            <a:off x="609600" y="4857750"/>
            <a:ext cx="6210300" cy="800100"/>
          </a:xfrm>
          <a:prstGeom prst="roundRect">
            <a:avLst>
              <a:gd name="adj" fmla="val 9524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62000" y="5029200"/>
            <a:ext cx="590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贴边停车轨迹：沿停车框下沿平移，覆盖框内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贴边</a:t>
            </a:r>
            <a:r>
              <a:rPr lang="en-US" sz="120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框外三阶段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62000" y="5276850"/>
            <a:ext cx="590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微软雅黑"/>
                <a:ea typeface="微软雅黑"/>
              </a:rPr>
              <a:t>4 </a:t>
            </a: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场景</a:t>
            </a:r>
            <a:r>
              <a:rPr lang="en-US" sz="1350" b="1">
                <a:solidFill>
                  <a:srgbClr val="0E3F8C"/>
                </a:solidFill>
                <a:latin typeface="微软雅黑"/>
                <a:ea typeface="微软雅黑"/>
              </a:rPr>
              <a:t> × 121 </a:t>
            </a: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历元，</a:t>
            </a:r>
            <a:r>
              <a:rPr lang="en-US" sz="1350" b="1">
                <a:solidFill>
                  <a:srgbClr val="0E3F8C"/>
                </a:solidFill>
                <a:latin typeface="微软雅黑"/>
                <a:ea typeface="微软雅黑"/>
              </a:rPr>
              <a:t>1 Hz </a:t>
            </a: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采样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7429500" y="971550"/>
            <a:ext cx="4381500" cy="512445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658100" y="1200150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3D7BD9"/>
                </a:solidFill>
                <a:latin typeface="微软雅黑"/>
                <a:ea typeface="微软雅黑"/>
              </a:rPr>
              <a:t>干扰机理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7658100" y="1466850"/>
            <a:ext cx="3924300" cy="771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0E3F8C"/>
                </a:solidFill>
                <a:latin typeface="微软雅黑"/>
                <a:ea typeface="微软雅黑"/>
              </a:rPr>
              <a:t>三类失效</a:t>
            </a:r>
            <a:endParaRPr/>
          </a:p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0E3F8C"/>
                </a:solidFill>
                <a:latin typeface="微软雅黑"/>
                <a:ea typeface="微软雅黑"/>
              </a:rPr>
              <a:t>对应三种物理成因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658100" y="2409825"/>
            <a:ext cx="392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多径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658100" y="2667000"/>
            <a:ext cx="3924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高楼反射使部分通道伪距偏长，坐标被拉出框外，但观测看起来仍然</a:t>
            </a: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"</a:t>
            </a: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正常</a:t>
            </a:r>
            <a:r>
              <a:rPr lang="en-US" sz="1125">
                <a:solidFill>
                  <a:srgbClr val="4A5568"/>
                </a:solidFill>
                <a:latin typeface="微软雅黑"/>
                <a:ea typeface="微软雅黑"/>
              </a:rPr>
              <a:t>"</a:t>
            </a: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7658100" y="3352800"/>
            <a:ext cx="392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慢拉欺骗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658100" y="3609975"/>
            <a:ext cx="3924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偏置随时间缓慢增大，早期与钟差变化难以区分，位置被逐步牵引偏离。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658100" y="4295775"/>
            <a:ext cx="392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局部拒止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658100" y="4552950"/>
            <a:ext cx="3924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微软雅黑"/>
                <a:ea typeface="微软雅黑"/>
              </a:rPr>
              <a:t>可用卫星数骤降或通道被压制，几何结构退化，解算不可用。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7658100" y="5162550"/>
            <a:ext cx="39243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791450" y="5219700"/>
            <a:ext cx="365760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参数写在代码中，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第三方可用同一测试集复算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16 / 25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4733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04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主要研究内容及实现思路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47339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实验结果：误扣费率</a:t>
            </a:r>
            <a:r>
              <a:rPr lang="en-US" sz="2100" b="1">
                <a:solidFill>
                  <a:srgbClr val="FFFFFF"/>
                </a:solidFill>
                <a:latin typeface="微软雅黑"/>
                <a:ea typeface="微软雅黑"/>
              </a:rPr>
              <a:t> 84.2% → 10.5%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17 / 25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381000" y="971550"/>
            <a:ext cx="7620000" cy="4572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215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381000" y="971550"/>
            <a:ext cx="7620000" cy="4572000"/>
          </a:xfrm>
          <a:prstGeom prst="roundRect">
            <a:avLst>
              <a:gd name="adj" fmla="val 1667"/>
            </a:avLst>
          </a:prstGeom>
          <a:ln/>
        </p:spPr>
      </p:pic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191500" y="97155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3D7BD9"/>
                </a:solidFill>
                <a:latin typeface="微软雅黑"/>
                <a:ea typeface="微软雅黑"/>
              </a:rPr>
              <a:t>所以呢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191500" y="1219200"/>
            <a:ext cx="3619500" cy="704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误扣率下降的代价，</a:t>
            </a:r>
            <a:endParaRPr/>
          </a:p>
          <a:p>
            <a:pPr>
              <a:lnSpc>
                <a:spcPct val="145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是</a:t>
            </a:r>
            <a:r>
              <a:rPr lang="en-US" sz="1575" b="1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不可信</a:t>
            </a:r>
            <a:r>
              <a:rPr lang="en-US" sz="1575" b="1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占比升高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191500" y="2038350"/>
            <a:ext cx="36195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A5568"/>
                </a:solidFill>
                <a:latin typeface="微软雅黑"/>
                <a:ea typeface="微软雅黑"/>
              </a:rPr>
              <a:t>我们不扣费，是因为这一次的位置判不准。用户不会被冤枉，平台把这一单转人工复核。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8191500" y="2800350"/>
            <a:ext cx="3619500" cy="590550"/>
          </a:xfrm>
          <a:prstGeom prst="roundRect">
            <a:avLst>
              <a:gd name="adj" fmla="val 12903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343900" y="3000375"/>
            <a:ext cx="1114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城市多径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HOLD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0934700" y="2971800"/>
            <a:ext cx="723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微软雅黑"/>
                <a:ea typeface="微软雅黑"/>
              </a:rPr>
              <a:t>43.8%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8191500" y="3467100"/>
            <a:ext cx="3619500" cy="590550"/>
          </a:xfrm>
          <a:prstGeom prst="roundRect">
            <a:avLst>
              <a:gd name="adj" fmla="val 12903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343900" y="3667125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多径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+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欺骗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HOLD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0934700" y="3638550"/>
            <a:ext cx="723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微软雅黑"/>
                <a:ea typeface="微软雅黑"/>
              </a:rPr>
              <a:t>79.3%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8191500" y="4133850"/>
            <a:ext cx="3619500" cy="590550"/>
          </a:xfrm>
          <a:prstGeom prst="roundRect">
            <a:avLst>
              <a:gd name="adj" fmla="val 12903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343900" y="4333875"/>
            <a:ext cx="1114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局部拒止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HOLD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0934700" y="4305300"/>
            <a:ext cx="723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微软雅黑"/>
                <a:ea typeface="微软雅黑"/>
              </a:rPr>
              <a:t>71.1%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8191500" y="4838700"/>
            <a:ext cx="3619500" cy="704850"/>
          </a:xfrm>
          <a:prstGeom prst="roundRect">
            <a:avLst>
              <a:gd name="adj" fmla="val 10811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305800" y="4924425"/>
            <a:ext cx="3390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0E3F8C"/>
                </a:solidFill>
                <a:latin typeface="微软雅黑"/>
                <a:ea typeface="微软雅黑"/>
              </a:rPr>
              <a:t>清洁场景</a:t>
            </a:r>
            <a:r>
              <a:rPr lang="en-US" sz="1125">
                <a:solidFill>
                  <a:srgbClr val="0E3F8C"/>
                </a:solidFill>
                <a:latin typeface="微软雅黑"/>
                <a:ea typeface="微软雅黑"/>
              </a:rPr>
              <a:t> 5.3% → 5.3% </a:t>
            </a:r>
            <a:r>
              <a:rPr lang="zh-CN" sz="1125">
                <a:solidFill>
                  <a:srgbClr val="0E3F8C"/>
                </a:solidFill>
                <a:latin typeface="微软雅黑"/>
                <a:ea typeface="微软雅黑"/>
              </a:rPr>
              <a:t>不劣化，说明阈值卡在干扰上，而非无差别触发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381000" y="5695950"/>
            <a:ext cx="11430000" cy="400050"/>
          </a:xfrm>
          <a:prstGeom prst="roundRect">
            <a:avLst>
              <a:gd name="adj" fmla="val 19048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71500" y="5800725"/>
            <a:ext cx="6362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/>
                </a:solidFill>
                <a:latin typeface="微软雅黑"/>
                <a:ea typeface="微软雅黑"/>
              </a:rPr>
              <a:t>HOLD </a:t>
            </a:r>
            <a:r>
              <a:rPr lang="zh-CN" sz="1275">
                <a:solidFill>
                  <a:srgbClr val="FFFFFF"/>
                </a:solidFill>
                <a:latin typeface="微软雅黑"/>
                <a:ea typeface="微软雅黑"/>
              </a:rPr>
              <a:t>比例与误扣率是同一根阈值上的两端——按运营偏好做</a:t>
            </a:r>
            <a:r>
              <a:rPr lang="en-US" sz="1275">
                <a:solidFill>
                  <a:srgbClr val="FFFFFF"/>
                </a:solidFill>
                <a:latin typeface="微软雅黑"/>
                <a:ea typeface="微软雅黑"/>
              </a:rPr>
              <a:t> ROC </a:t>
            </a:r>
            <a:r>
              <a:rPr lang="zh-CN" sz="1275">
                <a:solidFill>
                  <a:srgbClr val="FFFFFF"/>
                </a:solidFill>
                <a:latin typeface="微软雅黑"/>
                <a:ea typeface="微软雅黑"/>
              </a:rPr>
              <a:t>式标定，而非技术限制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17 / 25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3733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04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主要研究内容及实现思路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3733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证据：多径把解算坐标拉出框外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18 / 25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381000" y="933450"/>
            <a:ext cx="11430000" cy="42481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242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381000" y="933450"/>
            <a:ext cx="11430000" cy="4248150"/>
          </a:xfrm>
          <a:prstGeom prst="roundRect">
            <a:avLst>
              <a:gd name="adj" fmla="val 1794"/>
            </a:avLst>
          </a:prstGeom>
          <a:ln/>
        </p:spPr>
      </p:pic>
      <p:sp>
        <p:nvSpPr>
          <p:cNvPr id="243" name=""/>
          <p:cNvSpPr/>
          <p:nvPr/>
        </p:nvSpPr>
        <p:spPr>
          <a:xfrm rot="0" flipH="0" flipV="0">
            <a:off x="381000" y="5334000"/>
            <a:ext cx="2857500" cy="762000"/>
          </a:xfrm>
          <a:prstGeom prst="roundRect">
            <a:avLst>
              <a:gd name="adj" fmla="val 10000"/>
            </a:avLst>
          </a:prstGeom>
          <a:solidFill>
            <a:srgbClr val="FCEBEB"/>
          </a:solidFill>
          <a:ln w="12700">
            <a:solidFill>
              <a:srgbClr val="D9534F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552450" y="56197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旧逻辑误扣风险点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2867025" y="5534025"/>
            <a:ext cx="2000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D9534F"/>
                </a:solidFill>
                <a:latin typeface="微软雅黑"/>
                <a:ea typeface="微软雅黑"/>
              </a:rPr>
              <a:t>8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3390900" y="5334000"/>
            <a:ext cx="2857500" cy="762000"/>
          </a:xfrm>
          <a:prstGeom prst="roundRect">
            <a:avLst>
              <a:gd name="adj" fmla="val 10000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3562350" y="5619750"/>
            <a:ext cx="895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本方案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HOLD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5686425" y="5534025"/>
            <a:ext cx="3905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4FA8"/>
                </a:solidFill>
                <a:latin typeface="微软雅黑"/>
                <a:ea typeface="微软雅黑"/>
              </a:rPr>
              <a:t>18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6400800" y="5334000"/>
            <a:ext cx="5410200" cy="7620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553200" y="5438775"/>
            <a:ext cx="5105400" cy="552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误扣的减少不靠放宽阈值——阈值未动，而是把不确定的历元显式标出，</a:t>
            </a:r>
            <a:endParaRPr/>
          </a:p>
          <a:p>
            <a:pPr>
              <a:lnSpc>
                <a:spcPct val="150000"/>
              </a:lnSpc>
            </a:pP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而不是硬把它归入</a:t>
            </a:r>
            <a:r>
              <a:rPr lang="en-US" sz="1200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框外</a:t>
            </a:r>
            <a:r>
              <a:rPr lang="en-US" sz="1200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18 / 25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5915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04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主要研究内容及实现思路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59150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证据：旧逻辑大面积误判，</a:t>
            </a:r>
            <a:r>
              <a:rPr lang="en-US" sz="2100" b="1">
                <a:solidFill>
                  <a:srgbClr val="FFFFFF"/>
                </a:solidFill>
                <a:latin typeface="微软雅黑"/>
                <a:ea typeface="微软雅黑"/>
              </a:rPr>
              <a:t>HOLD </a:t>
            </a: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覆盖不确定历元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19 / 25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381000" y="933450"/>
            <a:ext cx="11430000" cy="4572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261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381000" y="933450"/>
            <a:ext cx="11430000" cy="4572000"/>
          </a:xfrm>
          <a:prstGeom prst="roundRect">
            <a:avLst>
              <a:gd name="adj" fmla="val 1667"/>
            </a:avLst>
          </a:prstGeom>
          <a:ln/>
        </p:spPr>
      </p:pic>
      <p:sp>
        <p:nvSpPr>
          <p:cNvPr id="262" name=""/>
          <p:cNvSpPr/>
          <p:nvPr/>
        </p:nvSpPr>
        <p:spPr>
          <a:xfrm rot="0" flipH="0" flipV="0">
            <a:off x="381000" y="5657850"/>
            <a:ext cx="11430000" cy="438150"/>
          </a:xfrm>
          <a:prstGeom prst="roundRect">
            <a:avLst>
              <a:gd name="adj" fmla="val 17391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571500" y="5781675"/>
            <a:ext cx="6591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/>
                </a:solidFill>
                <a:latin typeface="微软雅黑"/>
                <a:ea typeface="微软雅黑"/>
              </a:rPr>
              <a:t>旧逻辑被迫二选一；本方案把</a:t>
            </a:r>
            <a:r>
              <a:rPr lang="en-US" sz="1275">
                <a:solidFill>
                  <a:srgbClr val="FFFFFF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FFFFF"/>
                </a:solidFill>
                <a:latin typeface="微软雅黑"/>
                <a:ea typeface="微软雅黑"/>
              </a:rPr>
              <a:t>不确定</a:t>
            </a:r>
            <a:r>
              <a:rPr lang="en-US" sz="1275">
                <a:solidFill>
                  <a:srgbClr val="FFFFFF"/>
                </a:solidFill>
                <a:latin typeface="微软雅黑"/>
                <a:ea typeface="微软雅黑"/>
              </a:rPr>
              <a:t>"</a:t>
            </a:r>
            <a:r>
              <a:rPr lang="zh-CN" sz="1275">
                <a:solidFill>
                  <a:srgbClr val="FFFFFF"/>
                </a:solidFill>
                <a:latin typeface="微软雅黑"/>
                <a:ea typeface="微软雅黑"/>
              </a:rPr>
              <a:t>显式标为</a:t>
            </a:r>
            <a:r>
              <a:rPr lang="en-US" sz="1275">
                <a:solidFill>
                  <a:srgbClr val="FFFFFF"/>
                </a:solidFill>
                <a:latin typeface="微软雅黑"/>
                <a:ea typeface="微软雅黑"/>
              </a:rPr>
              <a:t> HOLD</a:t>
            </a:r>
            <a:r>
              <a:rPr lang="zh-CN" sz="1275">
                <a:solidFill>
                  <a:srgbClr val="FFFFFF"/>
                </a:solidFill>
                <a:latin typeface="微软雅黑"/>
                <a:ea typeface="微软雅黑"/>
              </a:rPr>
              <a:t>，在最有把握的区段才输出合规或违停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19 / 25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523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04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主要研究内容及实现思路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52387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边缘可部署性：同一套规则跑在</a:t>
            </a:r>
            <a:r>
              <a:rPr lang="en-US" sz="2100" b="1">
                <a:solidFill>
                  <a:srgbClr val="FFFFFF"/>
                </a:solidFill>
                <a:latin typeface="微软雅黑"/>
                <a:ea typeface="微软雅黑"/>
              </a:rPr>
              <a:t> Zynq PS </a:t>
            </a: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上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20 / 25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381000" y="971550"/>
            <a:ext cx="6572250" cy="42672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310" name=""/>
          <p:cNvPicPr>
            <a:picLocks noChangeAspect="1"/>
          </p:cNvPicPr>
          <p:nvPr/>
        </p:nvPicPr>
        <p:blipFill>
          <a:blip r:embed="rId1"/>
          <a:srcRect l="0" t="5" r="0" b="5"/>
          <a:stretch>
            <a:fillRect/>
          </a:stretch>
        </p:blipFill>
        <p:spPr>
          <a:xfrm rot="0" flipH="0" flipV="0">
            <a:off x="381000" y="971550"/>
            <a:ext cx="6572250" cy="4267200"/>
          </a:xfrm>
          <a:prstGeom prst="roundRect">
            <a:avLst>
              <a:gd name="adj" fmla="val 1786"/>
            </a:avLst>
          </a:prstGeom>
          <a:ln/>
        </p:spPr>
      </p:pic>
      <p:sp>
        <p:nvSpPr>
          <p:cNvPr id="311" name=""/>
          <p:cNvSpPr/>
          <p:nvPr/>
        </p:nvSpPr>
        <p:spPr>
          <a:xfrm rot="0" flipH="0" flipV="0">
            <a:off x="381000" y="5353050"/>
            <a:ext cx="6572250" cy="742950"/>
          </a:xfrm>
          <a:prstGeom prst="roundRect">
            <a:avLst>
              <a:gd name="adj" fmla="val 1025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514350" y="5495925"/>
            <a:ext cx="6305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JTAG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下载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→ PS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批处理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→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结果邮箱回读（截图：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0x150A4 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起，魔数</a:t>
            </a:r>
            <a:r>
              <a:rPr lang="en-US" sz="1275">
                <a:solidFill>
                  <a:srgbClr val="4A5568"/>
                </a:solidFill>
                <a:latin typeface="微软雅黑"/>
                <a:ea typeface="微软雅黑"/>
              </a:rPr>
              <a:t> 46454E45</a:t>
            </a:r>
            <a:r>
              <a:rPr lang="zh-CN" sz="1275">
                <a:solidFill>
                  <a:srgbClr val="4A5568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514350" y="5753100"/>
            <a:ext cx="630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微软雅黑"/>
                <a:ea typeface="微软雅黑"/>
              </a:rPr>
              <a:t>4 </a:t>
            </a: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场景</a:t>
            </a:r>
            <a:r>
              <a:rPr lang="en-US" sz="1350" b="1">
                <a:solidFill>
                  <a:srgbClr val="0E3F8C"/>
                </a:solidFill>
                <a:latin typeface="微软雅黑"/>
                <a:ea typeface="微软雅黑"/>
              </a:rPr>
              <a:t> × 121 </a:t>
            </a: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历元，与</a:t>
            </a:r>
            <a:r>
              <a:rPr lang="en-US" sz="1350" b="1">
                <a:solidFill>
                  <a:srgbClr val="0E3F8C"/>
                </a:solidFill>
                <a:latin typeface="微软雅黑"/>
                <a:ea typeface="微软雅黑"/>
              </a:rPr>
              <a:t> PC </a:t>
            </a: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同源测试集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7334250" y="971550"/>
            <a:ext cx="4476750" cy="2171700"/>
          </a:xfrm>
          <a:prstGeom prst="roundRect">
            <a:avLst>
              <a:gd name="adj" fmla="val 3509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7524750" y="1162050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1E4FA8"/>
                </a:solidFill>
                <a:latin typeface="微软雅黑"/>
                <a:ea typeface="微软雅黑"/>
              </a:rPr>
              <a:t>验证了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7524750" y="1409700"/>
            <a:ext cx="40957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同源测试集可在边缘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SoC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上批处理，产出同口径指标；清洁场景误扣率与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PC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金标准一致（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0.053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）。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7524750" y="2724150"/>
            <a:ext cx="409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规则可脱离</a:t>
            </a:r>
            <a:r>
              <a:rPr lang="en-US" sz="1500" b="1">
                <a:solidFill>
                  <a:srgbClr val="0E3F8C"/>
                </a:solidFill>
                <a:latin typeface="微软雅黑"/>
                <a:ea typeface="微软雅黑"/>
              </a:rPr>
              <a:t> PC </a:t>
            </a: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运行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7334250" y="3257550"/>
            <a:ext cx="4476750" cy="1485900"/>
          </a:xfrm>
          <a:prstGeom prst="roundRect">
            <a:avLst>
              <a:gd name="adj" fmla="val 512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7524750" y="3448050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4A5568"/>
                </a:solidFill>
                <a:latin typeface="微软雅黑"/>
                <a:ea typeface="微软雅黑"/>
              </a:rPr>
              <a:t>未验证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524750" y="3695700"/>
            <a:ext cx="40957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射频全链路、天线与信道模拟；硬件加速性能对比。创意类不要求这些。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7334250" y="4857750"/>
            <a:ext cx="4476750" cy="1238250"/>
          </a:xfrm>
          <a:prstGeom prst="roundRect">
            <a:avLst>
              <a:gd name="adj" fmla="val 6154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7524750" y="5048250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B5D4F4"/>
                </a:solidFill>
                <a:latin typeface="微软雅黑"/>
                <a:ea typeface="微软雅黑"/>
              </a:rPr>
              <a:t>量产主路径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7524750" y="5276850"/>
            <a:ext cx="4095750" cy="581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FFFFFF"/>
                </a:solidFill>
                <a:latin typeface="微软雅黑"/>
                <a:ea typeface="微软雅黑"/>
              </a:rPr>
              <a:t>低功耗</a:t>
            </a:r>
            <a:r>
              <a:rPr lang="en-US" sz="1350" b="1">
                <a:solidFill>
                  <a:srgbClr val="FFFFFF"/>
                </a:solidFill>
                <a:latin typeface="微软雅黑"/>
                <a:ea typeface="微软雅黑"/>
              </a:rPr>
              <a:t> MCU / GNSS </a:t>
            </a:r>
            <a:r>
              <a:rPr lang="zh-CN" sz="1350" b="1">
                <a:solidFill>
                  <a:srgbClr val="FFFFFF"/>
                </a:solidFill>
                <a:latin typeface="微软雅黑"/>
                <a:ea typeface="微软雅黑"/>
              </a:rPr>
              <a:t>模组</a:t>
            </a:r>
            <a:endParaRPr/>
          </a:p>
          <a:p>
            <a:pPr>
              <a:lnSpc>
                <a:spcPct val="140000"/>
              </a:lnSpc>
            </a:pPr>
            <a:r>
              <a:rPr lang="en-US" sz="1350" b="1">
                <a:solidFill>
                  <a:srgbClr val="FFFFFF"/>
                </a:solidFill>
                <a:latin typeface="微软雅黑"/>
                <a:ea typeface="微软雅黑"/>
              </a:rPr>
              <a:t>Zynq </a:t>
            </a:r>
            <a:r>
              <a:rPr lang="zh-CN" sz="1350" b="1">
                <a:solidFill>
                  <a:srgbClr val="FFFFFF"/>
                </a:solidFill>
                <a:latin typeface="微软雅黑"/>
                <a:ea typeface="微软雅黑"/>
              </a:rPr>
              <a:t>仅作研发验证与原型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20 / 25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1209675" y="2057400"/>
            <a:ext cx="291465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微软雅黑"/>
                <a:ea typeface="微软雅黑"/>
              </a:rPr>
              <a:t>05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5334000" y="1866900"/>
            <a:ext cx="6172200" cy="6858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600" b="1">
                <a:solidFill>
                  <a:srgbClr val="FFFFFF"/>
                </a:solidFill>
                <a:latin typeface="微软雅黑"/>
                <a:ea typeface="微软雅黑"/>
              </a:rPr>
              <a:t>应用前景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5334000" y="2762250"/>
            <a:ext cx="9144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5334000" y="32289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5524500" y="312420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用户体验：减少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停在停车点仍被扣费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"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的纠纷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5334000" y="37338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5524500" y="362902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城市治理：在秩序与体验之间给出可量化的平衡工具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5334000" y="42386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5524500" y="413385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运营降本：减少人工申诉；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HOLD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样本反哺信标补盲选址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5334000" y="47434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5524500" y="463867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教学科研：可复现场景库可用于课程实验与回归测试</a:t>
            </a:r>
            <a:endParaRPr/>
          </a:p>
        </p:txBody>
      </p:sp>
      <p:pic>
        <p:nvPicPr>
          <p:cNvPr id="3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05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应用前景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21336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谁受益，怎么落地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22 / 25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381000" y="971550"/>
            <a:ext cx="3543300" cy="5124450"/>
          </a:xfrm>
          <a:prstGeom prst="roundRect">
            <a:avLst>
              <a:gd name="adj" fmla="val 2151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47700" y="1238250"/>
            <a:ext cx="3009900" cy="962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微软雅黑"/>
                <a:ea typeface="微软雅黑"/>
              </a:rPr>
              <a:t>四类受益方</a:t>
            </a:r>
            <a:endParaRPr/>
          </a:p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微软雅黑"/>
                <a:ea typeface="微软雅黑"/>
              </a:rPr>
              <a:t>一套低成本路径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647700" y="2390775"/>
            <a:ext cx="6096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47700" y="2638425"/>
            <a:ext cx="3009900" cy="1752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D6E4F7"/>
                </a:solidFill>
                <a:latin typeface="微软雅黑"/>
                <a:ea typeface="微软雅黑"/>
              </a:rPr>
              <a:t>算法运行在既有锁控或模组算力之内，不新增硬件。</a:t>
            </a:r>
            <a:endParaRPr/>
          </a:p>
          <a:p>
            <a:pPr>
              <a:lnSpc>
                <a:spcPct val="180000"/>
              </a:lnSpc>
            </a:pPr>
            <a:r>
              <a:rPr sz="1275">
                <a:solidFill>
                  <a:srgbClr val="D6E4F7"/>
                </a:solidFill>
                <a:latin typeface="微软雅黑"/>
                <a:ea typeface="微软雅黑"/>
              </a:rPr>
              <a:t> </a:t>
            </a:r>
            <a:endParaRPr/>
          </a:p>
          <a:p>
            <a:pPr>
              <a:lnSpc>
                <a:spcPct val="180000"/>
              </a:lnSpc>
            </a:pPr>
            <a:r>
              <a:rPr lang="zh-CN" sz="1275">
                <a:solidFill>
                  <a:srgbClr val="D6E4F7"/>
                </a:solidFill>
                <a:latin typeface="微软雅黑"/>
                <a:ea typeface="微软雅黑"/>
              </a:rPr>
              <a:t>可选蓝牙信标仅用于</a:t>
            </a:r>
            <a:r>
              <a:rPr lang="en-US" sz="1275">
                <a:solidFill>
                  <a:srgbClr val="D6E4F7"/>
                </a:solidFill>
                <a:latin typeface="微软雅黑"/>
                <a:ea typeface="微软雅黑"/>
              </a:rPr>
              <a:t> HOLD </a:t>
            </a:r>
            <a:r>
              <a:rPr lang="zh-CN" sz="1275">
                <a:solidFill>
                  <a:srgbClr val="D6E4F7"/>
                </a:solidFill>
                <a:latin typeface="微软雅黑"/>
                <a:ea typeface="微软雅黑"/>
              </a:rPr>
              <a:t>之后的定点复核，部署密度可远低于全程定位。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647700" y="4953000"/>
            <a:ext cx="3009900" cy="876300"/>
          </a:xfrm>
          <a:prstGeom prst="roundRect">
            <a:avLst>
              <a:gd name="adj" fmla="val 8696"/>
            </a:avLst>
          </a:prstGeom>
          <a:solidFill>
            <a:srgbClr val="14499B"/>
          </a:solidFill>
          <a:ln/>
        </p:spPr>
        <p:txBody>
          <a:bodyPr/>
          <a:p>
            <a:pPr/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800100" y="5181600"/>
            <a:ext cx="2705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5D4F4"/>
                </a:solidFill>
                <a:latin typeface="微软雅黑"/>
                <a:ea typeface="微软雅黑"/>
              </a:rPr>
              <a:t>落地前提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00100" y="5391150"/>
            <a:ext cx="2705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/>
                <a:ea typeface="微软雅黑"/>
              </a:rPr>
              <a:t>不新增硬件成本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4305300" y="971550"/>
            <a:ext cx="7124700" cy="1047750"/>
          </a:xfrm>
          <a:prstGeom prst="roundRect">
            <a:avLst>
              <a:gd name="adj" fmla="val 7273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4495800" y="1371600"/>
            <a:ext cx="1238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用户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5734050" y="1333500"/>
            <a:ext cx="5429250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停对地方不再被扣费，不必为几元调度费自行申诉，纠纷量显著下降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4305300" y="2124075"/>
            <a:ext cx="71247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4495800" y="2524125"/>
            <a:ext cx="1238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微软雅黑"/>
                <a:ea typeface="微软雅黑"/>
              </a:rPr>
              <a:t>城市治理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5734050" y="2324100"/>
            <a:ext cx="54292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在秩序与体验之间给出可量化平衡，误扣率与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HOLD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比例可直接向交管、城管展示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4305300" y="3276600"/>
            <a:ext cx="7124700" cy="1047750"/>
          </a:xfrm>
          <a:prstGeom prst="roundRect">
            <a:avLst>
              <a:gd name="adj" fmla="val 7273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4495800" y="3676650"/>
            <a:ext cx="1238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运营方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5734050" y="3476625"/>
            <a:ext cx="54292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人工申诉处理量下降；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HOLD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样本标记出定位不可靠点位，直接指导信标补盲选址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4305300" y="4429125"/>
            <a:ext cx="71247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495800" y="4829175"/>
            <a:ext cx="1238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微软雅黑"/>
                <a:ea typeface="微软雅黑"/>
              </a:rPr>
              <a:t>教学科研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5734050" y="4791075"/>
            <a:ext cx="5429250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可复现场景库不依赖硬件，可直接用于课程实验与算法回归测试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4305300" y="5581650"/>
            <a:ext cx="7124700" cy="514350"/>
          </a:xfrm>
          <a:prstGeom prst="roundRect">
            <a:avLst>
              <a:gd name="adj" fmla="val 14815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4495800" y="5743575"/>
            <a:ext cx="4371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E3F8C"/>
                </a:solidFill>
                <a:latin typeface="微软雅黑"/>
                <a:ea typeface="微软雅黑"/>
              </a:rPr>
              <a:t>四类受益方共用同一条低成本落地路径：软件规则，不换硬件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22 / 25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1209675" y="2057400"/>
            <a:ext cx="291465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微软雅黑"/>
                <a:ea typeface="微软雅黑"/>
              </a:rPr>
              <a:t>06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5334000" y="1866900"/>
            <a:ext cx="6172200" cy="6858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600" b="1">
                <a:solidFill>
                  <a:srgbClr val="FFFFFF"/>
                </a:solidFill>
                <a:latin typeface="微软雅黑"/>
                <a:ea typeface="微软雅黑"/>
              </a:rPr>
              <a:t>挑战性和不确定性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5334000" y="2762250"/>
            <a:ext cx="9144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5334000" y="32289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5524500" y="312420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科学层面：简化星座降低几何真实性，绝对误差量级需实采再标定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5334000" y="37338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5524500" y="362902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技术层面：阈值需按误扣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/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漏判权衡做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ROC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式运营标定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5334000" y="42386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5524500" y="4133850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攻击层面：近公共偏差的慢拉欺骗可能被钟差吸收而漏检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5334000" y="47434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8FB4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5524500" y="4638675"/>
            <a:ext cx="59817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工程层面：板端数值与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PC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未完全对齐，金标准以</a:t>
            </a:r>
            <a:r>
              <a:rPr lang="en-US" sz="1425">
                <a:solidFill>
                  <a:srgbClr val="D6E4F7"/>
                </a:solidFill>
                <a:latin typeface="微软雅黑"/>
                <a:ea typeface="微软雅黑"/>
              </a:rPr>
              <a:t> PC </a:t>
            </a:r>
            <a:r>
              <a:rPr lang="zh-CN" sz="1425">
                <a:solidFill>
                  <a:srgbClr val="D6E4F7"/>
                </a:solidFill>
                <a:latin typeface="微软雅黑"/>
                <a:ea typeface="微软雅黑"/>
              </a:rPr>
              <a:t>为准</a:t>
            </a:r>
            <a:endParaRPr/>
          </a:p>
        </p:txBody>
      </p:sp>
      <p:pic>
        <p:nvPicPr>
          <p:cNvPr id="3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24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3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381000" y="123825"/>
            <a:ext cx="3467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B5D4F4"/>
                </a:solidFill>
                <a:latin typeface="微软雅黑"/>
                <a:ea typeface="微软雅黑"/>
              </a:rPr>
              <a:t>06 </a:t>
            </a:r>
            <a:r>
              <a:rPr lang="zh-CN" sz="1050" spc="75">
                <a:solidFill>
                  <a:srgbClr val="B5D4F4"/>
                </a:solidFill>
                <a:latin typeface="微软雅黑"/>
                <a:ea typeface="微软雅黑"/>
              </a:rPr>
              <a:t>挑战性和不确定性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381000" y="314325"/>
            <a:ext cx="3467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微软雅黑"/>
                <a:ea typeface="微软雅黑"/>
              </a:rPr>
              <a:t>边界与不确定性（主动说明）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11315700" y="2857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5D4F4"/>
                </a:solidFill>
                <a:latin typeface="微软雅黑"/>
                <a:ea typeface="微软雅黑"/>
              </a:rPr>
              <a:t>24 / 25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381000" y="971550"/>
            <a:ext cx="7239000" cy="5124450"/>
          </a:xfrm>
          <a:prstGeom prst="roundRect">
            <a:avLst>
              <a:gd name="adj" fmla="val 148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09600" y="1200150"/>
            <a:ext cx="67818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微软雅黑"/>
                <a:ea typeface="微软雅黑"/>
              </a:rPr>
              <a:t>当前局限与缓解路径</a:t>
            </a:r>
            <a:endParaRPr/>
          </a:p>
        </p:txBody>
      </p:sp>
      <p:graphicFrame>
        <p:nvGraphicFramePr>
          <p:cNvPr id="393" name=""/>
          <p:cNvGraphicFramePr/>
          <p:nvPr/>
        </p:nvGraphicFramePr>
        <p:xfrm rot="0" flipH="0" flipV="0">
          <a:off x="609600" y="1619250"/>
          <a:ext cx="6781800" cy="3638550"/>
        </p:xfrm>
        <a:graphic>
          <a:graphicData uri="http://schemas.openxmlformats.org/drawingml/2006/table">
            <a:tbl>
              <a:tblGrid>
                <a:gridCol w="1074823">
                  <a:extLst>
                    <a:ext uri="{9D8B030D-6E8A-4147-A177-3AD203B41FA5}">
                      <a16:colId val="1"/>
                    </a:ext>
                  </a:extLst>
                </a:gridCol>
                <a:gridCol w="2599394">
                  <a:extLst>
                    <a:ext uri="{9D8B030D-6E8A-4147-A177-3AD203B41FA5}">
                      <a16:colId val="2"/>
                    </a:ext>
                  </a:extLst>
                </a:gridCol>
                <a:gridCol w="3107584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6064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当前局限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缓解 / 后续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064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几何真实性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简化星座，绝对误差仅作参考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实采数据 + 精密星历再标定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064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阈值策略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当前为演示值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按运营 ROC 式标定，分场景配置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064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欺骗检测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近公共偏差可能被钟差吸收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增加多特征判据 / 低成本 IMU 桥接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064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板端一致性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与 PC 数值未完全对齐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以 PC 金标准为准，统一实现细节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064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实车验证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尚未做实车与实采标定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下一阶段路测采数并复标阈值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394" name=""/>
          <p:cNvSpPr/>
          <p:nvPr/>
        </p:nvSpPr>
        <p:spPr>
          <a:xfrm rot="0" flipH="0" flipV="0">
            <a:off x="609600" y="5391150"/>
            <a:ext cx="6781800" cy="438150"/>
          </a:xfrm>
          <a:prstGeom prst="roundRect">
            <a:avLst>
              <a:gd name="adj" fmla="val 17391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781050" y="5514975"/>
            <a:ext cx="3933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每一条局限都配有明确的缓解路径，而非笼统的</a:t>
            </a:r>
            <a:r>
              <a:rPr lang="en-US" sz="1200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后续改进</a:t>
            </a:r>
            <a:r>
              <a:rPr lang="en-US" sz="1200">
                <a:solidFill>
                  <a:srgbClr val="0E3F8C"/>
                </a:solidFill>
                <a:latin typeface="微软雅黑"/>
                <a:ea typeface="微软雅黑"/>
              </a:rPr>
              <a:t>"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8001000" y="971550"/>
            <a:ext cx="3810000" cy="512445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210550" y="1181100"/>
            <a:ext cx="339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3D7BD9"/>
                </a:solidFill>
                <a:latin typeface="微软雅黑"/>
                <a:ea typeface="微软雅黑"/>
              </a:rPr>
              <a:t>后续工作路线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8210550" y="1447800"/>
            <a:ext cx="3390900" cy="771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0E3F8C"/>
                </a:solidFill>
                <a:latin typeface="微软雅黑"/>
                <a:ea typeface="微软雅黑"/>
              </a:rPr>
              <a:t>四个阶段</a:t>
            </a:r>
            <a:endParaRPr/>
          </a:p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0E3F8C"/>
                </a:solidFill>
                <a:latin typeface="微软雅黑"/>
                <a:ea typeface="微软雅黑"/>
              </a:rPr>
              <a:t>由验证走向实测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8210550" y="24288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8296275" y="24765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591550" y="2428875"/>
            <a:ext cx="2857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实车路测采数，复标阈值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8210550" y="28765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8296275" y="29241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8591550" y="2876550"/>
            <a:ext cx="2857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引入低成本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IMU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，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HOLD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期间短时桥接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8210550" y="33242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296275" y="337185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8591550" y="3324225"/>
            <a:ext cx="2857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扩展多特征欺骗检测，降低漏检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8210550" y="37719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8296275" y="38195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8591550" y="3771900"/>
            <a:ext cx="2857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HOLD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复核与信标补盲选址联动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8210550" y="5162550"/>
            <a:ext cx="3390900" cy="723900"/>
          </a:xfrm>
          <a:prstGeom prst="roundRect">
            <a:avLst>
              <a:gd name="adj" fmla="val 10526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343900" y="5238750"/>
            <a:ext cx="3124200" cy="5715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本期先证明纯北斗规则有效，</a:t>
            </a:r>
            <a:endParaRPr/>
          </a:p>
          <a:p>
            <a:pPr>
              <a:lnSpc>
                <a:spcPct val="155000"/>
              </a:lnSpc>
            </a:pPr>
            <a:r>
              <a:rPr lang="zh-CN" sz="1200">
                <a:solidFill>
                  <a:srgbClr val="0E3F8C"/>
                </a:solidFill>
                <a:latin typeface="微软雅黑"/>
                <a:ea typeface="微软雅黑"/>
              </a:rPr>
              <a:t>融合作为明确的扩展方向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共享单车北斗可信电子围栏　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|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　第八届湖南省大学生智能导航科技创新大赛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11239500" y="646747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24 / 25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3505200" y="1371600"/>
            <a:ext cx="5181600" cy="9715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5100" b="1">
                <a:solidFill>
                  <a:srgbClr val="FFFFFF"/>
                </a:solidFill>
                <a:latin typeface="微软雅黑"/>
                <a:ea typeface="微软雅黑"/>
              </a:rPr>
              <a:t>不可信，就不扣费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5524500" y="2533650"/>
            <a:ext cx="11430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3714750" y="3028950"/>
            <a:ext cx="17907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8FB4E8"/>
                </a:solidFill>
                <a:latin typeface="微软雅黑"/>
                <a:ea typeface="微软雅黑"/>
              </a:rPr>
              <a:t>84%</a:t>
            </a:r>
            <a:endParaRPr/>
          </a:p>
        </p:txBody>
      </p:sp>
      <p:pic>
        <p:nvPicPr>
          <p:cNvPr id="4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829300" y="3324225"/>
            <a:ext cx="533400" cy="285750"/>
          </a:xfrm>
          <a:prstGeom prst="rect">
            <a:avLst/>
          </a:prstGeom>
          <a:ln/>
        </p:spPr>
      </p:pic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6686550" y="3028950"/>
            <a:ext cx="17907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FFFFF"/>
                </a:solidFill>
                <a:latin typeface="微软雅黑"/>
                <a:ea typeface="微软雅黑"/>
              </a:rPr>
              <a:t>11%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3381375" y="4095750"/>
            <a:ext cx="5429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B5D4F4"/>
                </a:solidFill>
                <a:latin typeface="微软雅黑"/>
                <a:ea typeface="微软雅黑"/>
              </a:rPr>
              <a:t>城市多径场景</a:t>
            </a:r>
            <a:r>
              <a:rPr lang="en-US" sz="1425">
                <a:solidFill>
                  <a:srgbClr val="B5D4F4"/>
                </a:solidFill>
                <a:latin typeface="微软雅黑"/>
                <a:ea typeface="微软雅黑"/>
              </a:rPr>
              <a:t> · </a:t>
            </a:r>
            <a:r>
              <a:rPr lang="zh-CN" sz="1425">
                <a:solidFill>
                  <a:srgbClr val="B5D4F4"/>
                </a:solidFill>
                <a:latin typeface="微软雅黑"/>
                <a:ea typeface="微软雅黑"/>
              </a:rPr>
              <a:t>误扣费率（车辆真值在框内却被判违停扣费的比例）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0" y="5619750"/>
            <a:ext cx="12192000" cy="1238250"/>
          </a:xfrm>
          <a:custGeom>
            <a:pathLst>
              <a:path w="1280" h="13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762000" y="5981700"/>
            <a:ext cx="389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FFFFFF"/>
                </a:solidFill>
                <a:latin typeface="微软雅黑"/>
                <a:ea typeface="微软雅黑"/>
              </a:rPr>
              <a:t>谢谢各位评委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762000" y="6334125"/>
            <a:ext cx="389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B4E8"/>
                </a:solidFill>
                <a:latin typeface="微软雅黑"/>
                <a:ea typeface="微软雅黑"/>
              </a:rPr>
              <a:t>规则不绑硬件：</a:t>
            </a:r>
            <a:r>
              <a:rPr lang="en-US" sz="1125">
                <a:solidFill>
                  <a:srgbClr val="8FB4E8"/>
                </a:solidFill>
                <a:latin typeface="微软雅黑"/>
                <a:ea typeface="微软雅黑"/>
              </a:rPr>
              <a:t>MCU </a:t>
            </a:r>
            <a:r>
              <a:rPr lang="zh-CN" sz="1125">
                <a:solidFill>
                  <a:srgbClr val="8FB4E8"/>
                </a:solidFill>
                <a:latin typeface="微软雅黑"/>
                <a:ea typeface="微软雅黑"/>
              </a:rPr>
              <a:t>可量产，</a:t>
            </a:r>
            <a:r>
              <a:rPr lang="en-US" sz="1125">
                <a:solidFill>
                  <a:srgbClr val="8FB4E8"/>
                </a:solidFill>
                <a:latin typeface="微软雅黑"/>
                <a:ea typeface="微软雅黑"/>
              </a:rPr>
              <a:t>PC </a:t>
            </a:r>
            <a:r>
              <a:rPr lang="zh-CN" sz="1125">
                <a:solidFill>
                  <a:srgbClr val="8FB4E8"/>
                </a:solidFill>
                <a:latin typeface="微软雅黑"/>
                <a:ea typeface="微软雅黑"/>
              </a:rPr>
              <a:t>可复现，</a:t>
            </a:r>
            <a:r>
              <a:rPr lang="en-US" sz="1125">
                <a:solidFill>
                  <a:srgbClr val="8FB4E8"/>
                </a:solidFill>
                <a:latin typeface="微软雅黑"/>
                <a:ea typeface="微软雅黑"/>
              </a:rPr>
              <a:t>Zynq </a:t>
            </a:r>
            <a:r>
              <a:rPr lang="zh-CN" sz="1125">
                <a:solidFill>
                  <a:srgbClr val="8FB4E8"/>
                </a:solidFill>
                <a:latin typeface="微软雅黑"/>
                <a:ea typeface="微软雅黑"/>
              </a:rPr>
              <a:t>仅作验证载体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10506075" y="6143625"/>
            <a:ext cx="923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B5D4F4"/>
                </a:solidFill>
                <a:latin typeface="微软雅黑"/>
                <a:ea typeface="微软雅黑"/>
              </a:rPr>
              <a:t>2026 </a:t>
            </a:r>
            <a:r>
              <a:rPr lang="zh-CN" sz="1275">
                <a:solidFill>
                  <a:srgbClr val="B5D4F4"/>
                </a:solidFill>
                <a:latin typeface="微软雅黑"/>
                <a:ea typeface="微软雅黑"/>
              </a:rPr>
              <a:t>年</a:t>
            </a:r>
            <a:r>
              <a:rPr lang="en-US" sz="1275">
                <a:solidFill>
                  <a:srgbClr val="B5D4F4"/>
                </a:solidFill>
                <a:latin typeface="微软雅黑"/>
                <a:ea typeface="微软雅黑"/>
              </a:rPr>
              <a:t> 9 </a:t>
            </a:r>
            <a:r>
              <a:rPr lang="zh-CN" sz="1275">
                <a:solidFill>
                  <a:srgbClr val="B5D4F4"/>
                </a:solidFill>
                <a:latin typeface="微软雅黑"/>
                <a:ea typeface="微软雅黑"/>
              </a:rPr>
              <a:t>月</a:t>
            </a:r>
            <a:endParaRPr/>
          </a:p>
        </p:txBody>
      </p:sp>
      <p:pic>
        <p:nvPicPr>
          <p:cNvPr id="4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0" y="57150"/>
            <a:ext cx="12192000" cy="5562600"/>
          </a:xfrm>
          <a:prstGeom prst="rect">
            <a:avLst/>
          </a:prstGeom>
          <a:ln/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2026-09-15T20:40:33Z</dcterms:created>
  <dcterms:modified xsi:type="dcterms:W3CDTF">2026-09-15T20:40:33Z</dcterms:modified>
</cp:coreProperties>
</file>