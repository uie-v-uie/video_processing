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 Id="rId6"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73152"/>
            <a:ext cx="2926080" cy="164592"/>
          </a:xfrm>
          <a:prstGeom prst="rect">
            <a:avLst/>
          </a:prstGeom>
          <a:noFill/>
        </p:spPr>
        <p:txBody>
          <a:bodyPr wrap="square" lIns="0" rIns="0" tIns="0" bIns="0" anchor="t">
            <a:spAutoFit/>
          </a:bodyPr>
          <a:lstStyle/>
          <a:p>
            <a:pPr algn="l">
              <a:lnSpc>
                <a:spcPct val="100000"/>
              </a:lnSpc>
            </a:pPr>
            <a:r>
              <a:rPr sz="750" b="0">
                <a:solidFill>
                  <a:srgbClr val="5C5C5C"/>
                </a:solidFill>
                <a:latin typeface="Arial"/>
              </a:rPr>
              <a:t>(c) 2026 Uie_Team  |  AMD FPGA Innovation Design Competition</a:t>
            </a:r>
          </a:p>
        </p:txBody>
      </p:sp>
      <p:sp>
        <p:nvSpPr>
          <p:cNvPr id="3" name="TextBox 2"/>
          <p:cNvSpPr txBox="1"/>
          <p:nvPr/>
        </p:nvSpPr>
        <p:spPr>
          <a:xfrm>
            <a:off x="384048" y="301752"/>
            <a:ext cx="7863840" cy="502920"/>
          </a:xfrm>
          <a:prstGeom prst="rect">
            <a:avLst/>
          </a:prstGeom>
          <a:noFill/>
        </p:spPr>
        <p:txBody>
          <a:bodyPr wrap="square" lIns="0" rIns="0" tIns="0" bIns="0" anchor="t">
            <a:spAutoFit/>
          </a:bodyPr>
          <a:lstStyle/>
          <a:p>
            <a:pPr algn="l">
              <a:lnSpc>
                <a:spcPct val="100000"/>
              </a:lnSpc>
            </a:pPr>
            <a:r>
              <a:rPr sz="3100" b="1">
                <a:solidFill>
                  <a:srgbClr val="202020"/>
                </a:solidFill>
                <a:latin typeface="Times New Roman"/>
              </a:rPr>
              <a:t>ONE FRAME. TWO TRUTHS.</a:t>
            </a:r>
          </a:p>
        </p:txBody>
      </p:sp>
      <p:sp>
        <p:nvSpPr>
          <p:cNvPr id="4" name="TextBox 3"/>
          <p:cNvSpPr txBox="1"/>
          <p:nvPr/>
        </p:nvSpPr>
        <p:spPr>
          <a:xfrm>
            <a:off x="402336" y="804672"/>
            <a:ext cx="7772400" cy="274320"/>
          </a:xfrm>
          <a:prstGeom prst="rect">
            <a:avLst/>
          </a:prstGeom>
          <a:noFill/>
        </p:spPr>
        <p:txBody>
          <a:bodyPr wrap="square" lIns="0" rIns="0" tIns="0" bIns="0" anchor="t">
            <a:spAutoFit/>
          </a:bodyPr>
          <a:lstStyle/>
          <a:p>
            <a:pPr algn="l">
              <a:lnSpc>
                <a:spcPct val="100000"/>
              </a:lnSpc>
            </a:pPr>
            <a:r>
              <a:rPr sz="1350" b="0">
                <a:solidFill>
                  <a:srgbClr val="5C5C5C"/>
                </a:solidFill>
                <a:latin typeface="Times New Roman"/>
              </a:rPr>
              <a:t>A full-hardware video node on Zynq-7020</a:t>
            </a:r>
          </a:p>
        </p:txBody>
      </p:sp>
      <p:sp>
        <p:nvSpPr>
          <p:cNvPr id="5" name="TextBox 4"/>
          <p:cNvSpPr txBox="1"/>
          <p:nvPr/>
        </p:nvSpPr>
        <p:spPr>
          <a:xfrm>
            <a:off x="402336" y="1060704"/>
            <a:ext cx="7589520" cy="228600"/>
          </a:xfrm>
          <a:prstGeom prst="rect">
            <a:avLst/>
          </a:prstGeom>
          <a:noFill/>
        </p:spPr>
        <p:txBody>
          <a:bodyPr wrap="square" lIns="0" rIns="0" tIns="0" bIns="0" anchor="t">
            <a:spAutoFit/>
          </a:bodyPr>
          <a:lstStyle/>
          <a:p>
            <a:pPr algn="l">
              <a:lnSpc>
                <a:spcPct val="100000"/>
              </a:lnSpc>
            </a:pPr>
            <a:r>
              <a:rPr sz="1100" b="0">
                <a:solidFill>
                  <a:srgbClr val="7A2D5E"/>
                </a:solidFill>
                <a:latin typeface="Microsoft YaHei"/>
              </a:rPr>
              <a:t>多源视频同帧对照处理系统</a:t>
            </a:r>
          </a:p>
        </p:txBody>
      </p:sp>
      <p:sp>
        <p:nvSpPr>
          <p:cNvPr id="6" name="TextBox 5"/>
          <p:cNvSpPr txBox="1"/>
          <p:nvPr/>
        </p:nvSpPr>
        <p:spPr>
          <a:xfrm>
            <a:off x="402336" y="1271016"/>
            <a:ext cx="7589520" cy="210312"/>
          </a:xfrm>
          <a:prstGeom prst="rect">
            <a:avLst/>
          </a:prstGeom>
          <a:noFill/>
        </p:spPr>
        <p:txBody>
          <a:bodyPr wrap="square" lIns="0" rIns="0" tIns="0" bIns="0" anchor="t">
            <a:spAutoFit/>
          </a:bodyPr>
          <a:lstStyle/>
          <a:p>
            <a:pPr algn="l">
              <a:lnSpc>
                <a:spcPct val="100000"/>
              </a:lnSpc>
            </a:pPr>
            <a:r>
              <a:rPr sz="1000" b="1">
                <a:solidFill>
                  <a:srgbClr val="202020"/>
                </a:solidFill>
                <a:latin typeface="Times New Roman"/>
              </a:rPr>
              <a:t>Team: </a:t>
            </a:r>
            <a:r>
              <a:rPr sz="1000" b="0">
                <a:solidFill>
                  <a:srgbClr val="202020"/>
                </a:solidFill>
                <a:latin typeface="Times New Roman"/>
              </a:rPr>
              <a:t>Uie_Team  ·  Member: Wang Xu (王旭)</a:t>
            </a:r>
          </a:p>
        </p:txBody>
      </p:sp>
      <p:sp>
        <p:nvSpPr>
          <p:cNvPr id="7" name="TextBox 6"/>
          <p:cNvSpPr txBox="1"/>
          <p:nvPr/>
        </p:nvSpPr>
        <p:spPr>
          <a:xfrm>
            <a:off x="402336" y="1490472"/>
            <a:ext cx="7589520" cy="201168"/>
          </a:xfrm>
          <a:prstGeom prst="rect">
            <a:avLst/>
          </a:prstGeom>
          <a:noFill/>
        </p:spPr>
        <p:txBody>
          <a:bodyPr wrap="square" lIns="0" rIns="0" tIns="0" bIns="0" anchor="t">
            <a:spAutoFit/>
          </a:bodyPr>
          <a:lstStyle/>
          <a:p>
            <a:pPr algn="l">
              <a:lnSpc>
                <a:spcPct val="100000"/>
              </a:lnSpc>
            </a:pPr>
            <a:r>
              <a:rPr sz="950" b="1">
                <a:solidFill>
                  <a:srgbClr val="202020"/>
                </a:solidFill>
                <a:latin typeface="Times New Roman"/>
              </a:rPr>
              <a:t>Advisors: </a:t>
            </a:r>
            <a:r>
              <a:rPr sz="950" b="0">
                <a:solidFill>
                  <a:srgbClr val="202020"/>
                </a:solidFill>
                <a:latin typeface="Times New Roman"/>
              </a:rPr>
              <a:t>Tan Huisheng (谭会生), Liang Jiaojiao (梁娇娇)</a:t>
            </a:r>
          </a:p>
        </p:txBody>
      </p:sp>
      <p:pic>
        <p:nvPicPr>
          <p:cNvPr id="8" name="Picture 7" descr="hut_emblem.png"/>
          <p:cNvPicPr>
            <a:picLocks noChangeAspect="1"/>
          </p:cNvPicPr>
          <p:nvPr/>
        </p:nvPicPr>
        <p:blipFill>
          <a:blip r:embed="rId2"/>
          <a:stretch>
            <a:fillRect/>
          </a:stretch>
        </p:blipFill>
        <p:spPr>
          <a:xfrm>
            <a:off x="8213326" y="91440"/>
            <a:ext cx="636050" cy="658368"/>
          </a:xfrm>
          <a:prstGeom prst="rect">
            <a:avLst/>
          </a:prstGeom>
        </p:spPr>
      </p:pic>
      <p:sp>
        <p:nvSpPr>
          <p:cNvPr id="9" name="TextBox 8"/>
          <p:cNvSpPr txBox="1"/>
          <p:nvPr/>
        </p:nvSpPr>
        <p:spPr>
          <a:xfrm>
            <a:off x="8869680" y="109728"/>
            <a:ext cx="1243584" cy="237744"/>
          </a:xfrm>
          <a:prstGeom prst="rect">
            <a:avLst/>
          </a:prstGeom>
          <a:noFill/>
        </p:spPr>
        <p:txBody>
          <a:bodyPr wrap="square" lIns="0" rIns="0" tIns="0" bIns="0" anchor="t">
            <a:spAutoFit/>
          </a:bodyPr>
          <a:lstStyle/>
          <a:p>
            <a:pPr algn="l">
              <a:lnSpc>
                <a:spcPct val="100000"/>
              </a:lnSpc>
            </a:pPr>
            <a:r>
              <a:rPr sz="950" b="1">
                <a:solidFill>
                  <a:srgbClr val="7A2D5E"/>
                </a:solidFill>
                <a:latin typeface="Microsoft YaHei"/>
              </a:rPr>
              <a:t>湖南工业大学</a:t>
            </a:r>
          </a:p>
        </p:txBody>
      </p:sp>
      <p:sp>
        <p:nvSpPr>
          <p:cNvPr id="10" name="TextBox 9"/>
          <p:cNvSpPr txBox="1"/>
          <p:nvPr/>
        </p:nvSpPr>
        <p:spPr>
          <a:xfrm>
            <a:off x="8869680" y="365760"/>
            <a:ext cx="1243584" cy="310896"/>
          </a:xfrm>
          <a:prstGeom prst="rect">
            <a:avLst/>
          </a:prstGeom>
          <a:noFill/>
        </p:spPr>
        <p:txBody>
          <a:bodyPr wrap="square" lIns="0" rIns="0" tIns="0" bIns="0" anchor="t">
            <a:spAutoFit/>
          </a:bodyPr>
          <a:lstStyle/>
          <a:p>
            <a:pPr algn="l">
              <a:lnSpc>
                <a:spcPct val="100000"/>
              </a:lnSpc>
            </a:pPr>
            <a:r>
              <a:rPr sz="560" b="1">
                <a:solidFill>
                  <a:srgbClr val="7A2D5E"/>
                </a:solidFill>
                <a:latin typeface="Arial"/>
              </a:rPr>
              <a:t>HUNAN UNIVERSITY
OF TECHNOLOGY</a:t>
            </a:r>
          </a:p>
        </p:txBody>
      </p:sp>
      <p:pic>
        <p:nvPicPr>
          <p:cNvPr id="11" name="Picture 10" descr="amd_logo_black.png"/>
          <p:cNvPicPr>
            <a:picLocks noChangeAspect="1"/>
          </p:cNvPicPr>
          <p:nvPr/>
        </p:nvPicPr>
        <p:blipFill>
          <a:blip r:embed="rId3"/>
          <a:stretch>
            <a:fillRect/>
          </a:stretch>
        </p:blipFill>
        <p:spPr>
          <a:xfrm>
            <a:off x="8211312" y="842051"/>
            <a:ext cx="1143000" cy="272712"/>
          </a:xfrm>
          <a:prstGeom prst="rect">
            <a:avLst/>
          </a:prstGeom>
        </p:spPr>
      </p:pic>
      <p:sp>
        <p:nvSpPr>
          <p:cNvPr id="12" name="TextBox 11"/>
          <p:cNvSpPr txBox="1"/>
          <p:nvPr/>
        </p:nvSpPr>
        <p:spPr>
          <a:xfrm>
            <a:off x="8211312" y="1143000"/>
            <a:ext cx="1143000" cy="182880"/>
          </a:xfrm>
          <a:prstGeom prst="rect">
            <a:avLst/>
          </a:prstGeom>
          <a:noFill/>
        </p:spPr>
        <p:txBody>
          <a:bodyPr wrap="square" lIns="0" rIns="0" tIns="0" bIns="0" anchor="t">
            <a:spAutoFit/>
          </a:bodyPr>
          <a:lstStyle/>
          <a:p>
            <a:pPr algn="l">
              <a:lnSpc>
                <a:spcPct val="100000"/>
              </a:lnSpc>
            </a:pPr>
            <a:r>
              <a:rPr sz="750" b="1">
                <a:solidFill>
                  <a:srgbClr val="5C5C5C"/>
                </a:solidFill>
                <a:latin typeface="Arial"/>
              </a:rPr>
              <a:t>ZYNQ-7020</a:t>
            </a:r>
          </a:p>
        </p:txBody>
      </p:sp>
      <p:pic>
        <p:nvPicPr>
          <p:cNvPr id="13" name="Picture 12" descr="poster_board.jpg"/>
          <p:cNvPicPr>
            <a:picLocks noChangeAspect="1"/>
          </p:cNvPicPr>
          <p:nvPr/>
        </p:nvPicPr>
        <p:blipFill>
          <a:blip r:embed="rId4"/>
          <a:stretch>
            <a:fillRect/>
          </a:stretch>
        </p:blipFill>
        <p:spPr>
          <a:xfrm>
            <a:off x="10195560" y="112268"/>
            <a:ext cx="1737360" cy="1302510"/>
          </a:xfrm>
          <a:prstGeom prst="rect">
            <a:avLst/>
          </a:prstGeom>
        </p:spPr>
      </p:pic>
      <p:sp>
        <p:nvSpPr>
          <p:cNvPr id="14" name="TextBox 13"/>
          <p:cNvSpPr txBox="1"/>
          <p:nvPr/>
        </p:nvSpPr>
        <p:spPr>
          <a:xfrm>
            <a:off x="10149840" y="1481328"/>
            <a:ext cx="1783080" cy="283464"/>
          </a:xfrm>
          <a:prstGeom prst="rect">
            <a:avLst/>
          </a:prstGeom>
          <a:noFill/>
        </p:spPr>
        <p:txBody>
          <a:bodyPr wrap="square" lIns="0" rIns="0" tIns="0" bIns="0" anchor="t">
            <a:spAutoFit/>
          </a:bodyPr>
          <a:lstStyle/>
          <a:p>
            <a:pPr algn="l">
              <a:lnSpc>
                <a:spcPct val="100000"/>
              </a:lnSpc>
            </a:pPr>
            <a:r>
              <a:rPr sz="720" b="0">
                <a:solidFill>
                  <a:srgbClr val="5C5C5C"/>
                </a:solidFill>
                <a:latin typeface="Arial"/>
              </a:rPr>
              <a:t>RK-ZYNQ7020-F V1.0
xc7z020clg484-2 · 1 GbE</a:t>
            </a:r>
          </a:p>
        </p:txBody>
      </p:sp>
      <p:cxnSp>
        <p:nvCxnSpPr>
          <p:cNvPr id="15" name="Connector 14"/>
          <p:cNvCxnSpPr/>
          <p:nvPr/>
        </p:nvCxnSpPr>
        <p:spPr>
          <a:xfrm>
            <a:off x="274320" y="1719072"/>
            <a:ext cx="11658600" cy="0"/>
          </a:xfrm>
          <a:prstGeom prst="line">
            <a:avLst/>
          </a:prstGeom>
          <a:ln w="15240">
            <a:solidFill>
              <a:srgbClr val="3C3C3C"/>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274320" y="1847088"/>
            <a:ext cx="3456432" cy="347472"/>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lIns="109728" rIns="73152" tIns="0" bIns="0"/>
          <a:lstStyle/>
          <a:p>
            <a:pPr algn="l"/>
            <a:r>
              <a:rPr sz="1500" b="1">
                <a:solidFill>
                  <a:srgbClr val="FFFFFF"/>
                </a:solidFill>
                <a:latin typeface="Arial Black"/>
              </a:rPr>
              <a:t>INTRODUCTION</a:t>
            </a:r>
          </a:p>
        </p:txBody>
      </p:sp>
      <p:sp>
        <p:nvSpPr>
          <p:cNvPr id="17" name="TextBox 16"/>
          <p:cNvSpPr txBox="1"/>
          <p:nvPr/>
        </p:nvSpPr>
        <p:spPr>
          <a:xfrm>
            <a:off x="310896" y="2267712"/>
            <a:ext cx="3383280" cy="1417320"/>
          </a:xfrm>
          <a:prstGeom prst="rect">
            <a:avLst/>
          </a:prstGeom>
          <a:noFill/>
        </p:spPr>
        <p:txBody>
          <a:bodyPr wrap="square" lIns="0" rIns="0" tIns="0" bIns="0" anchor="t">
            <a:spAutoFit/>
          </a:bodyPr>
          <a:lstStyle/>
          <a:p>
            <a:pPr algn="l">
              <a:lnSpc>
                <a:spcPct val="100000"/>
              </a:lnSpc>
            </a:pPr>
            <a:r>
              <a:rPr sz="919" b="0">
                <a:solidFill>
                  <a:srgbClr val="202020"/>
                </a:solidFill>
                <a:latin typeface="Times New Roman"/>
              </a:rPr>
              <a:t>Remote video nodes usually have one Ethernet cable and no PC. The operator must know whether the frame arrived, whether processing took effect, and how old the picture is. This node answers all three from one frame: 512x300 RGB565 enters RGMII, is reassembled and committed to DDR only after three gates, then read back once for both panes. The left pane is the original; the right pane is the same frame after geometry and a fixed 15-cycle effect chain. The seam is a per-pixel decision, not two screenshots.</a:t>
            </a:r>
          </a:p>
        </p:txBody>
      </p:sp>
      <p:pic>
        <p:nvPicPr>
          <p:cNvPr id="18" name="Picture 17" descr="poster_frame_split.png"/>
          <p:cNvPicPr>
            <a:picLocks noChangeAspect="1"/>
          </p:cNvPicPr>
          <p:nvPr/>
        </p:nvPicPr>
        <p:blipFill>
          <a:blip r:embed="rId5"/>
          <a:stretch>
            <a:fillRect/>
          </a:stretch>
        </p:blipFill>
        <p:spPr>
          <a:xfrm>
            <a:off x="413735" y="3657600"/>
            <a:ext cx="3058728" cy="1792224"/>
          </a:xfrm>
          <a:prstGeom prst="rect">
            <a:avLst/>
          </a:prstGeom>
        </p:spPr>
      </p:pic>
      <p:sp>
        <p:nvSpPr>
          <p:cNvPr id="19" name="TextBox 18"/>
          <p:cNvSpPr txBox="1"/>
          <p:nvPr/>
        </p:nvSpPr>
        <p:spPr>
          <a:xfrm>
            <a:off x="310896" y="5477256"/>
            <a:ext cx="3383280" cy="237744"/>
          </a:xfrm>
          <a:prstGeom prst="rect">
            <a:avLst/>
          </a:prstGeom>
          <a:noFill/>
        </p:spPr>
        <p:txBody>
          <a:bodyPr wrap="square" lIns="0" rIns="0" tIns="0" bIns="0" anchor="t">
            <a:spAutoFit/>
          </a:bodyPr>
          <a:lstStyle/>
          <a:p>
            <a:pPr algn="l">
              <a:lnSpc>
                <a:spcPct val="100000"/>
              </a:lnSpc>
            </a:pPr>
            <a:r>
              <a:rPr sz="720" b="0">
                <a:solidFill>
                  <a:srgbClr val="5C5C5C"/>
                </a:solidFill>
                <a:latin typeface="Arial"/>
              </a:rPr>
              <a:t>Same 512x300 frame  ·  seam 50/50  ·  right pane 0 deg + Sobel</a:t>
            </a:r>
          </a:p>
        </p:txBody>
      </p:sp>
      <p:sp>
        <p:nvSpPr>
          <p:cNvPr id="20" name="TextBox 19"/>
          <p:cNvSpPr txBox="1"/>
          <p:nvPr/>
        </p:nvSpPr>
        <p:spPr>
          <a:xfrm>
            <a:off x="310896" y="5733288"/>
            <a:ext cx="3383280" cy="182880"/>
          </a:xfrm>
          <a:prstGeom prst="rect">
            <a:avLst/>
          </a:prstGeom>
          <a:noFill/>
        </p:spPr>
        <p:txBody>
          <a:bodyPr wrap="square" lIns="0" rIns="0" tIns="0" bIns="0" anchor="t">
            <a:spAutoFit/>
          </a:bodyPr>
          <a:lstStyle/>
          <a:p>
            <a:pPr algn="l">
              <a:lnSpc>
                <a:spcPct val="100000"/>
              </a:lnSpc>
            </a:pPr>
            <a:r>
              <a:rPr sz="900" b="1">
                <a:solidFill>
                  <a:srgbClr val="7A2D5E"/>
                </a:solidFill>
                <a:latin typeface="Times New Roman"/>
              </a:rPr>
              <a:t>Key technical issues addressed:</a:t>
            </a:r>
          </a:p>
        </p:txBody>
      </p:sp>
      <p:sp>
        <p:nvSpPr>
          <p:cNvPr id="21" name="TextBox 20"/>
          <p:cNvSpPr txBox="1"/>
          <p:nvPr/>
        </p:nvSpPr>
        <p:spPr>
          <a:xfrm>
            <a:off x="310896" y="5925312"/>
            <a:ext cx="3383280" cy="585216"/>
          </a:xfrm>
          <a:prstGeom prst="rect">
            <a:avLst/>
          </a:prstGeom>
          <a:noFill/>
        </p:spPr>
        <p:txBody>
          <a:bodyPr wrap="square" lIns="0" rIns="0" tIns="0" bIns="0" anchor="t">
            <a:spAutoFit/>
          </a:bodyPr>
          <a:lstStyle/>
          <a:p>
            <a:pPr algn="l">
              <a:lnSpc>
                <a:spcPct val="90000"/>
              </a:lnSpc>
            </a:pPr>
            <a:r>
              <a:rPr sz="670" b="0">
                <a:solidFill>
                  <a:srgbClr val="202020"/>
                </a:solidFill>
                <a:latin typeface="Times New Roman"/>
              </a:rPr>
              <a:t>1. 1 GbE UDP: offset reassembly; commit = bytes + 300 rows + no bad packet.
2. Same-frame A/B: one coordinate stream, one row map, 15-cycle chain.
3. Telemetry: aborts, rows_max, gaps, pane_bad; drop 1/100 reddens it.</a:t>
            </a:r>
          </a:p>
        </p:txBody>
      </p:sp>
      <p:sp>
        <p:nvSpPr>
          <p:cNvPr id="22" name="Rectangle 21"/>
          <p:cNvSpPr/>
          <p:nvPr/>
        </p:nvSpPr>
        <p:spPr>
          <a:xfrm>
            <a:off x="3931920" y="1847088"/>
            <a:ext cx="3794760" cy="347472"/>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lIns="109728" rIns="73152" tIns="0" bIns="0"/>
          <a:lstStyle/>
          <a:p>
            <a:pPr algn="l"/>
            <a:r>
              <a:rPr sz="1500" b="1">
                <a:solidFill>
                  <a:srgbClr val="FFFFFF"/>
                </a:solidFill>
                <a:latin typeface="Arial Black"/>
              </a:rPr>
              <a:t>SYSTEM ARCHITECTURE</a:t>
            </a:r>
          </a:p>
        </p:txBody>
      </p:sp>
      <p:pic>
        <p:nvPicPr>
          <p:cNvPr id="23" name="Picture 22" descr="poster_arch.png"/>
          <p:cNvPicPr>
            <a:picLocks noChangeAspect="1"/>
          </p:cNvPicPr>
          <p:nvPr/>
        </p:nvPicPr>
        <p:blipFill>
          <a:blip r:embed="rId6"/>
          <a:stretch>
            <a:fillRect/>
          </a:stretch>
        </p:blipFill>
        <p:spPr>
          <a:xfrm>
            <a:off x="3943694" y="2267712"/>
            <a:ext cx="3771211" cy="1709928"/>
          </a:xfrm>
          <a:prstGeom prst="rect">
            <a:avLst/>
          </a:prstGeom>
        </p:spPr>
      </p:pic>
      <p:sp>
        <p:nvSpPr>
          <p:cNvPr id="24" name="TextBox 23"/>
          <p:cNvSpPr txBox="1"/>
          <p:nvPr/>
        </p:nvSpPr>
        <p:spPr>
          <a:xfrm>
            <a:off x="3931920" y="4005072"/>
            <a:ext cx="3794760" cy="219456"/>
          </a:xfrm>
          <a:prstGeom prst="rect">
            <a:avLst/>
          </a:prstGeom>
          <a:noFill/>
        </p:spPr>
        <p:txBody>
          <a:bodyPr wrap="square" lIns="0" rIns="0" tIns="0" bIns="0" anchor="t">
            <a:spAutoFit/>
          </a:bodyPr>
          <a:lstStyle/>
          <a:p>
            <a:pPr algn="l">
              <a:lnSpc>
                <a:spcPct val="100000"/>
              </a:lnSpc>
            </a:pPr>
            <a:r>
              <a:rPr sz="700" b="0">
                <a:solidFill>
                  <a:srgbClr val="5C5C5C"/>
                </a:solidFill>
                <a:latin typeface="Arial"/>
              </a:rPr>
              <a:t>RGMII -&gt; UDP -&gt; DDR ping-pong -&gt; geometry -&gt; effects -&gt; A/B seam -&gt; HDMI</a:t>
            </a:r>
          </a:p>
        </p:txBody>
      </p:sp>
      <p:sp>
        <p:nvSpPr>
          <p:cNvPr id="25" name="Rounded Rectangle 24"/>
          <p:cNvSpPr/>
          <p:nvPr/>
        </p:nvSpPr>
        <p:spPr>
          <a:xfrm>
            <a:off x="3931920" y="4389120"/>
            <a:ext cx="3794760" cy="1005840"/>
          </a:xfrm>
          <a:prstGeom prst="roundRect">
            <a:avLst>
              <a:gd name="adj" fmla="val 8000"/>
            </a:avLst>
          </a:prstGeom>
          <a:solidFill>
            <a:srgbClr val="FFFFFF"/>
          </a:solidFill>
          <a:ln w="1143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wrap="square" lIns="146304" rIns="128016" tIns="73152" bIns="54864"/>
          <a:lstStyle/>
          <a:p>
            <a:pPr algn="ctr">
              <a:spcAft>
                <a:spcPts val="300"/>
              </a:spcAft>
            </a:pPr>
            <a:r>
              <a:rPr sz="1050" b="1">
                <a:solidFill>
                  <a:srgbClr val="7A2D5E"/>
                </a:solidFill>
                <a:latin typeface="Arial"/>
              </a:rPr>
              <a:t>THREE-GATE COMMIT</a:t>
            </a:r>
          </a:p>
          <a:p>
            <a:pPr>
              <a:lnSpc>
                <a:spcPct val="100000"/>
              </a:lnSpc>
            </a:pPr>
            <a:r>
              <a:rPr sz="850">
                <a:solidFill>
                  <a:srgbClr val="202020"/>
                </a:solidFill>
                <a:latin typeface="Times New Roman"/>
              </a:rPr>
              <a:t>A frame is committed only when 307200 bytes arrived, all 300 source rows were written, and no packet failed. Otherwise the last good frame stays on screen and aborts + rows_max expose the reason.</a:t>
            </a:r>
          </a:p>
        </p:txBody>
      </p:sp>
      <p:sp>
        <p:nvSpPr>
          <p:cNvPr id="26" name="Rounded Rectangle 25"/>
          <p:cNvSpPr/>
          <p:nvPr/>
        </p:nvSpPr>
        <p:spPr>
          <a:xfrm>
            <a:off x="3931920" y="5504688"/>
            <a:ext cx="3794760" cy="1005840"/>
          </a:xfrm>
          <a:prstGeom prst="roundRect">
            <a:avLst>
              <a:gd name="adj" fmla="val 8000"/>
            </a:avLst>
          </a:prstGeom>
          <a:solidFill>
            <a:srgbClr val="FFFFFF"/>
          </a:solidFill>
          <a:ln w="1143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wrap="square" lIns="146304" rIns="128016" tIns="73152" bIns="54864"/>
          <a:lstStyle/>
          <a:p>
            <a:pPr algn="ctr">
              <a:spcAft>
                <a:spcPts val="300"/>
              </a:spcAft>
            </a:pPr>
            <a:r>
              <a:rPr sz="1050" b="1">
                <a:solidFill>
                  <a:srgbClr val="7A2D5E"/>
                </a:solidFill>
                <a:latin typeface="Arial"/>
              </a:rPr>
              <a:t>SAME-FRAME A/B</a:t>
            </a:r>
          </a:p>
          <a:p>
            <a:pPr>
              <a:lnSpc>
                <a:spcPct val="100000"/>
              </a:lnSpc>
            </a:pPr>
            <a:r>
              <a:rPr sz="850">
                <a:solidFill>
                  <a:srgbClr val="202020"/>
                </a:solidFill>
                <a:latin typeface="Times New Roman"/>
              </a:rPr>
              <a:t>Original and processed panes share one source-coordinate stream, one row map and one 15-cycle effect chain. The seam is a per-pixel select; rotation or stacked effects cannot make the panes disagree.</a:t>
            </a:r>
          </a:p>
        </p:txBody>
      </p:sp>
      <p:sp>
        <p:nvSpPr>
          <p:cNvPr id="27" name="Rectangle 26"/>
          <p:cNvSpPr/>
          <p:nvPr/>
        </p:nvSpPr>
        <p:spPr>
          <a:xfrm>
            <a:off x="7909560" y="1847088"/>
            <a:ext cx="4023360" cy="347472"/>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lIns="109728" rIns="73152" tIns="0" bIns="0"/>
          <a:lstStyle/>
          <a:p>
            <a:pPr algn="l"/>
            <a:r>
              <a:rPr sz="1500" b="1">
                <a:solidFill>
                  <a:srgbClr val="FFFFFF"/>
                </a:solidFill>
                <a:latin typeface="Arial Black"/>
              </a:rPr>
              <a:t>RESULT</a:t>
            </a:r>
          </a:p>
        </p:txBody>
      </p:sp>
      <p:sp>
        <p:nvSpPr>
          <p:cNvPr id="28" name="TextBox 27"/>
          <p:cNvSpPr txBox="1"/>
          <p:nvPr/>
        </p:nvSpPr>
        <p:spPr>
          <a:xfrm>
            <a:off x="7955279" y="2267712"/>
            <a:ext cx="3931920" cy="502920"/>
          </a:xfrm>
          <a:prstGeom prst="rect">
            <a:avLst/>
          </a:prstGeom>
          <a:noFill/>
        </p:spPr>
        <p:txBody>
          <a:bodyPr wrap="square" lIns="0" rIns="0" tIns="0" bIns="0" anchor="t">
            <a:spAutoFit/>
          </a:bodyPr>
          <a:lstStyle/>
          <a:p>
            <a:pPr algn="l">
              <a:lnSpc>
                <a:spcPct val="100000"/>
              </a:lnSpc>
            </a:pPr>
            <a:r>
              <a:rPr sz="919" b="0">
                <a:solidFill>
                  <a:srgbClr val="202020"/>
                </a:solidFill>
                <a:latin typeface="Times New Roman"/>
              </a:rPr>
              <a:t>RGMII -&gt; HDMI entirely in PL; PS only control, SD playback and telemetry. 1024x600 at 59.5 Hz, 1 GbE UDP ingest.</a:t>
            </a:r>
          </a:p>
        </p:txBody>
      </p:sp>
      <p:sp>
        <p:nvSpPr>
          <p:cNvPr id="29" name="Rectangle 28"/>
          <p:cNvSpPr/>
          <p:nvPr/>
        </p:nvSpPr>
        <p:spPr>
          <a:xfrm>
            <a:off x="7955279" y="2880360"/>
            <a:ext cx="3931920" cy="22860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0144" y="2907791"/>
            <a:ext cx="1234440" cy="173736"/>
          </a:xfrm>
          <a:prstGeom prst="rect">
            <a:avLst/>
          </a:prstGeom>
          <a:noFill/>
        </p:spPr>
        <p:txBody>
          <a:bodyPr wrap="square" lIns="0" rIns="0" tIns="0" bIns="0" anchor="t">
            <a:spAutoFit/>
          </a:bodyPr>
          <a:lstStyle/>
          <a:p>
            <a:pPr algn="l">
              <a:lnSpc>
                <a:spcPct val="100000"/>
              </a:lnSpc>
            </a:pPr>
            <a:r>
              <a:rPr sz="800" b="1">
                <a:solidFill>
                  <a:srgbClr val="5C5C5C"/>
                </a:solidFill>
                <a:latin typeface="Arial"/>
              </a:rPr>
              <a:t>Setup WNS</a:t>
            </a:r>
          </a:p>
        </p:txBody>
      </p:sp>
      <p:sp>
        <p:nvSpPr>
          <p:cNvPr id="31" name="TextBox 30"/>
          <p:cNvSpPr txBox="1"/>
          <p:nvPr/>
        </p:nvSpPr>
        <p:spPr>
          <a:xfrm>
            <a:off x="9235440" y="2907791"/>
            <a:ext cx="2578608" cy="173736"/>
          </a:xfrm>
          <a:prstGeom prst="rect">
            <a:avLst/>
          </a:prstGeom>
          <a:noFill/>
        </p:spPr>
        <p:txBody>
          <a:bodyPr wrap="square" lIns="0" rIns="0" tIns="0" bIns="0" anchor="t">
            <a:spAutoFit/>
          </a:bodyPr>
          <a:lstStyle/>
          <a:p>
            <a:pPr algn="l">
              <a:lnSpc>
                <a:spcPct val="100000"/>
              </a:lnSpc>
            </a:pPr>
            <a:r>
              <a:rPr sz="840" b="0">
                <a:solidFill>
                  <a:srgbClr val="202020"/>
                </a:solidFill>
                <a:latin typeface="Arial"/>
              </a:rPr>
              <a:t>1.341 ns  ·  0 failing endpoints</a:t>
            </a:r>
          </a:p>
        </p:txBody>
      </p:sp>
      <p:sp>
        <p:nvSpPr>
          <p:cNvPr id="32" name="Rectangle 31"/>
          <p:cNvSpPr/>
          <p:nvPr/>
        </p:nvSpPr>
        <p:spPr>
          <a:xfrm>
            <a:off x="7955279" y="3127248"/>
            <a:ext cx="3931920" cy="228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10144" y="3154679"/>
            <a:ext cx="1234440" cy="173736"/>
          </a:xfrm>
          <a:prstGeom prst="rect">
            <a:avLst/>
          </a:prstGeom>
          <a:noFill/>
        </p:spPr>
        <p:txBody>
          <a:bodyPr wrap="square" lIns="0" rIns="0" tIns="0" bIns="0" anchor="t">
            <a:spAutoFit/>
          </a:bodyPr>
          <a:lstStyle/>
          <a:p>
            <a:pPr algn="l">
              <a:lnSpc>
                <a:spcPct val="100000"/>
              </a:lnSpc>
            </a:pPr>
            <a:r>
              <a:rPr sz="800" b="1">
                <a:solidFill>
                  <a:srgbClr val="5C5C5C"/>
                </a:solidFill>
                <a:latin typeface="Arial"/>
              </a:rPr>
              <a:t>Hold WHS</a:t>
            </a:r>
          </a:p>
        </p:txBody>
      </p:sp>
      <p:sp>
        <p:nvSpPr>
          <p:cNvPr id="34" name="TextBox 33"/>
          <p:cNvSpPr txBox="1"/>
          <p:nvPr/>
        </p:nvSpPr>
        <p:spPr>
          <a:xfrm>
            <a:off x="9235440" y="3154679"/>
            <a:ext cx="2578608" cy="173736"/>
          </a:xfrm>
          <a:prstGeom prst="rect">
            <a:avLst/>
          </a:prstGeom>
          <a:noFill/>
        </p:spPr>
        <p:txBody>
          <a:bodyPr wrap="square" lIns="0" rIns="0" tIns="0" bIns="0" anchor="t">
            <a:spAutoFit/>
          </a:bodyPr>
          <a:lstStyle/>
          <a:p>
            <a:pPr algn="l">
              <a:lnSpc>
                <a:spcPct val="100000"/>
              </a:lnSpc>
            </a:pPr>
            <a:r>
              <a:rPr sz="840" b="0">
                <a:solidFill>
                  <a:srgbClr val="202020"/>
                </a:solidFill>
                <a:latin typeface="Arial"/>
              </a:rPr>
              <a:t>0.025 ns  ·  positive margin</a:t>
            </a:r>
          </a:p>
        </p:txBody>
      </p:sp>
      <p:sp>
        <p:nvSpPr>
          <p:cNvPr id="35" name="Rectangle 34"/>
          <p:cNvSpPr/>
          <p:nvPr/>
        </p:nvSpPr>
        <p:spPr>
          <a:xfrm>
            <a:off x="7955279" y="3374136"/>
            <a:ext cx="3931920" cy="22860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10144" y="3401568"/>
            <a:ext cx="1234440" cy="173736"/>
          </a:xfrm>
          <a:prstGeom prst="rect">
            <a:avLst/>
          </a:prstGeom>
          <a:noFill/>
        </p:spPr>
        <p:txBody>
          <a:bodyPr wrap="square" lIns="0" rIns="0" tIns="0" bIns="0" anchor="t">
            <a:spAutoFit/>
          </a:bodyPr>
          <a:lstStyle/>
          <a:p>
            <a:pPr algn="l">
              <a:lnSpc>
                <a:spcPct val="100000"/>
              </a:lnSpc>
            </a:pPr>
            <a:r>
              <a:rPr sz="800" b="1">
                <a:solidFill>
                  <a:srgbClr val="5C5C5C"/>
                </a:solidFill>
                <a:latin typeface="Arial"/>
              </a:rPr>
              <a:t>BRAM</a:t>
            </a:r>
          </a:p>
        </p:txBody>
      </p:sp>
      <p:sp>
        <p:nvSpPr>
          <p:cNvPr id="37" name="TextBox 36"/>
          <p:cNvSpPr txBox="1"/>
          <p:nvPr/>
        </p:nvSpPr>
        <p:spPr>
          <a:xfrm>
            <a:off x="9235440" y="3401568"/>
            <a:ext cx="2578608" cy="173736"/>
          </a:xfrm>
          <a:prstGeom prst="rect">
            <a:avLst/>
          </a:prstGeom>
          <a:noFill/>
        </p:spPr>
        <p:txBody>
          <a:bodyPr wrap="square" lIns="0" rIns="0" tIns="0" bIns="0" anchor="t">
            <a:spAutoFit/>
          </a:bodyPr>
          <a:lstStyle/>
          <a:p>
            <a:pPr algn="l">
              <a:lnSpc>
                <a:spcPct val="100000"/>
              </a:lnSpc>
            </a:pPr>
            <a:r>
              <a:rPr sz="840" b="0">
                <a:solidFill>
                  <a:srgbClr val="202020"/>
                </a:solidFill>
                <a:latin typeface="Arial"/>
              </a:rPr>
              <a:t>70.0%  ·  98 / 140 tiles</a:t>
            </a:r>
          </a:p>
        </p:txBody>
      </p:sp>
      <p:sp>
        <p:nvSpPr>
          <p:cNvPr id="38" name="Rectangle 37"/>
          <p:cNvSpPr/>
          <p:nvPr/>
        </p:nvSpPr>
        <p:spPr>
          <a:xfrm>
            <a:off x="7955279" y="3621024"/>
            <a:ext cx="3931920" cy="228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10144" y="3648456"/>
            <a:ext cx="1234440" cy="173736"/>
          </a:xfrm>
          <a:prstGeom prst="rect">
            <a:avLst/>
          </a:prstGeom>
          <a:noFill/>
        </p:spPr>
        <p:txBody>
          <a:bodyPr wrap="square" lIns="0" rIns="0" tIns="0" bIns="0" anchor="t">
            <a:spAutoFit/>
          </a:bodyPr>
          <a:lstStyle/>
          <a:p>
            <a:pPr algn="l">
              <a:lnSpc>
                <a:spcPct val="100000"/>
              </a:lnSpc>
            </a:pPr>
            <a:r>
              <a:rPr sz="800" b="1">
                <a:solidFill>
                  <a:srgbClr val="5C5C5C"/>
                </a:solidFill>
                <a:latin typeface="Arial"/>
              </a:rPr>
              <a:t>8 s stream</a:t>
            </a:r>
          </a:p>
        </p:txBody>
      </p:sp>
      <p:sp>
        <p:nvSpPr>
          <p:cNvPr id="40" name="TextBox 39"/>
          <p:cNvSpPr txBox="1"/>
          <p:nvPr/>
        </p:nvSpPr>
        <p:spPr>
          <a:xfrm>
            <a:off x="9235440" y="3648456"/>
            <a:ext cx="2578608" cy="173736"/>
          </a:xfrm>
          <a:prstGeom prst="rect">
            <a:avLst/>
          </a:prstGeom>
          <a:noFill/>
        </p:spPr>
        <p:txBody>
          <a:bodyPr wrap="square" lIns="0" rIns="0" tIns="0" bIns="0" anchor="t">
            <a:spAutoFit/>
          </a:bodyPr>
          <a:lstStyle/>
          <a:p>
            <a:pPr algn="l">
              <a:lnSpc>
                <a:spcPct val="100000"/>
              </a:lnSpc>
            </a:pPr>
            <a:r>
              <a:rPr sz="840" b="0">
                <a:solidFill>
                  <a:srgbClr val="202020"/>
                </a:solidFill>
                <a:latin typeface="Arial"/>
              </a:rPr>
              <a:t>241 frames  ·  29.95 fps</a:t>
            </a:r>
          </a:p>
        </p:txBody>
      </p:sp>
      <p:sp>
        <p:nvSpPr>
          <p:cNvPr id="41" name="Rectangle 40"/>
          <p:cNvSpPr/>
          <p:nvPr/>
        </p:nvSpPr>
        <p:spPr>
          <a:xfrm>
            <a:off x="7955279" y="3867912"/>
            <a:ext cx="3931920" cy="22860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10144" y="3895344"/>
            <a:ext cx="1234440" cy="173736"/>
          </a:xfrm>
          <a:prstGeom prst="rect">
            <a:avLst/>
          </a:prstGeom>
          <a:noFill/>
        </p:spPr>
        <p:txBody>
          <a:bodyPr wrap="square" lIns="0" rIns="0" tIns="0" bIns="0" anchor="t">
            <a:spAutoFit/>
          </a:bodyPr>
          <a:lstStyle/>
          <a:p>
            <a:pPr algn="l">
              <a:lnSpc>
                <a:spcPct val="100000"/>
              </a:lnSpc>
            </a:pPr>
            <a:r>
              <a:rPr sz="800" b="1">
                <a:solidFill>
                  <a:srgbClr val="5C5C5C"/>
                </a:solidFill>
                <a:latin typeface="Arial"/>
              </a:rPr>
              <a:t>UART battery</a:t>
            </a:r>
          </a:p>
        </p:txBody>
      </p:sp>
      <p:sp>
        <p:nvSpPr>
          <p:cNvPr id="43" name="TextBox 42"/>
          <p:cNvSpPr txBox="1"/>
          <p:nvPr/>
        </p:nvSpPr>
        <p:spPr>
          <a:xfrm>
            <a:off x="9235440" y="3895344"/>
            <a:ext cx="2578608" cy="173736"/>
          </a:xfrm>
          <a:prstGeom prst="rect">
            <a:avLst/>
          </a:prstGeom>
          <a:noFill/>
        </p:spPr>
        <p:txBody>
          <a:bodyPr wrap="square" lIns="0" rIns="0" tIns="0" bIns="0" anchor="t">
            <a:spAutoFit/>
          </a:bodyPr>
          <a:lstStyle/>
          <a:p>
            <a:pPr algn="l">
              <a:lnSpc>
                <a:spcPct val="100000"/>
              </a:lnSpc>
            </a:pPr>
            <a:r>
              <a:rPr sz="840" b="0">
                <a:solidFill>
                  <a:srgbClr val="202020"/>
                </a:solidFill>
                <a:latin typeface="Arial"/>
              </a:rPr>
              <a:t>105 commands  ·  PASS</a:t>
            </a:r>
          </a:p>
        </p:txBody>
      </p:sp>
      <p:sp>
        <p:nvSpPr>
          <p:cNvPr id="44" name="Rectangle 43"/>
          <p:cNvSpPr/>
          <p:nvPr/>
        </p:nvSpPr>
        <p:spPr>
          <a:xfrm>
            <a:off x="7955279" y="4114800"/>
            <a:ext cx="3931920" cy="228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10144" y="4142232"/>
            <a:ext cx="1234440" cy="173736"/>
          </a:xfrm>
          <a:prstGeom prst="rect">
            <a:avLst/>
          </a:prstGeom>
          <a:noFill/>
        </p:spPr>
        <p:txBody>
          <a:bodyPr wrap="square" lIns="0" rIns="0" tIns="0" bIns="0" anchor="t">
            <a:spAutoFit/>
          </a:bodyPr>
          <a:lstStyle/>
          <a:p>
            <a:pPr algn="l">
              <a:lnSpc>
                <a:spcPct val="100000"/>
              </a:lnSpc>
            </a:pPr>
            <a:r>
              <a:rPr sz="800" b="1">
                <a:solidFill>
                  <a:srgbClr val="5C5C5C"/>
                </a:solidFill>
                <a:latin typeface="Arial"/>
              </a:rPr>
              <a:t>QSPI cold boot</a:t>
            </a:r>
          </a:p>
        </p:txBody>
      </p:sp>
      <p:sp>
        <p:nvSpPr>
          <p:cNvPr id="46" name="TextBox 45"/>
          <p:cNvSpPr txBox="1"/>
          <p:nvPr/>
        </p:nvSpPr>
        <p:spPr>
          <a:xfrm>
            <a:off x="9235440" y="4142232"/>
            <a:ext cx="2578608" cy="173736"/>
          </a:xfrm>
          <a:prstGeom prst="rect">
            <a:avLst/>
          </a:prstGeom>
          <a:noFill/>
        </p:spPr>
        <p:txBody>
          <a:bodyPr wrap="square" lIns="0" rIns="0" tIns="0" bIns="0" anchor="t">
            <a:spAutoFit/>
          </a:bodyPr>
          <a:lstStyle/>
          <a:p>
            <a:pPr algn="l">
              <a:lnSpc>
                <a:spcPct val="100000"/>
              </a:lnSpc>
            </a:pPr>
            <a:r>
              <a:rPr sz="840" b="0">
                <a:solidFill>
                  <a:srgbClr val="202020"/>
                </a:solidFill>
                <a:latin typeface="Arial"/>
              </a:rPr>
              <a:t>DONE / EOS  ·  no CRC error</a:t>
            </a:r>
          </a:p>
        </p:txBody>
      </p:sp>
      <p:sp>
        <p:nvSpPr>
          <p:cNvPr id="47" name="Rectangle 46"/>
          <p:cNvSpPr/>
          <p:nvPr/>
        </p:nvSpPr>
        <p:spPr>
          <a:xfrm>
            <a:off x="7955279" y="4361688"/>
            <a:ext cx="3931920" cy="22860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10144" y="4389120"/>
            <a:ext cx="1234440" cy="173736"/>
          </a:xfrm>
          <a:prstGeom prst="rect">
            <a:avLst/>
          </a:prstGeom>
          <a:noFill/>
        </p:spPr>
        <p:txBody>
          <a:bodyPr wrap="square" lIns="0" rIns="0" tIns="0" bIns="0" anchor="t">
            <a:spAutoFit/>
          </a:bodyPr>
          <a:lstStyle/>
          <a:p>
            <a:pPr algn="l">
              <a:lnSpc>
                <a:spcPct val="100000"/>
              </a:lnSpc>
            </a:pPr>
            <a:r>
              <a:rPr sz="800" b="1">
                <a:solidFill>
                  <a:srgbClr val="5C5C5C"/>
                </a:solidFill>
                <a:latin typeface="Arial"/>
              </a:rPr>
              <a:t>Fault injection</a:t>
            </a:r>
          </a:p>
        </p:txBody>
      </p:sp>
      <p:sp>
        <p:nvSpPr>
          <p:cNvPr id="49" name="TextBox 48"/>
          <p:cNvSpPr txBox="1"/>
          <p:nvPr/>
        </p:nvSpPr>
        <p:spPr>
          <a:xfrm>
            <a:off x="9235440" y="4389120"/>
            <a:ext cx="2578608" cy="173736"/>
          </a:xfrm>
          <a:prstGeom prst="rect">
            <a:avLst/>
          </a:prstGeom>
          <a:noFill/>
        </p:spPr>
        <p:txBody>
          <a:bodyPr wrap="square" lIns="0" rIns="0" tIns="0" bIns="0" anchor="t">
            <a:spAutoFit/>
          </a:bodyPr>
          <a:lstStyle/>
          <a:p>
            <a:pPr algn="l">
              <a:lnSpc>
                <a:spcPct val="100000"/>
              </a:lnSpc>
            </a:pPr>
            <a:r>
              <a:rPr sz="840" b="0">
                <a:solidFill>
                  <a:srgbClr val="202020"/>
                </a:solidFill>
                <a:latin typeface="Arial"/>
              </a:rPr>
              <a:t>22.0 / 0 / 18.9 fps  ·  PASS</a:t>
            </a:r>
          </a:p>
        </p:txBody>
      </p:sp>
      <p:sp>
        <p:nvSpPr>
          <p:cNvPr id="50" name="Rectangle 49"/>
          <p:cNvSpPr/>
          <p:nvPr/>
        </p:nvSpPr>
        <p:spPr>
          <a:xfrm>
            <a:off x="7955279" y="4608576"/>
            <a:ext cx="3931920" cy="228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010144" y="4636008"/>
            <a:ext cx="1234440" cy="173736"/>
          </a:xfrm>
          <a:prstGeom prst="rect">
            <a:avLst/>
          </a:prstGeom>
          <a:noFill/>
        </p:spPr>
        <p:txBody>
          <a:bodyPr wrap="square" lIns="0" rIns="0" tIns="0" bIns="0" anchor="t">
            <a:spAutoFit/>
          </a:bodyPr>
          <a:lstStyle/>
          <a:p>
            <a:pPr algn="l">
              <a:lnSpc>
                <a:spcPct val="100000"/>
              </a:lnSpc>
            </a:pPr>
            <a:r>
              <a:rPr sz="800" b="1">
                <a:solidFill>
                  <a:srgbClr val="5C5C5C"/>
                </a:solidFill>
                <a:latin typeface="Arial"/>
              </a:rPr>
              <a:t>LUT / FF / DSP</a:t>
            </a:r>
          </a:p>
        </p:txBody>
      </p:sp>
      <p:sp>
        <p:nvSpPr>
          <p:cNvPr id="52" name="TextBox 51"/>
          <p:cNvSpPr txBox="1"/>
          <p:nvPr/>
        </p:nvSpPr>
        <p:spPr>
          <a:xfrm>
            <a:off x="9235440" y="4636008"/>
            <a:ext cx="2578608" cy="173736"/>
          </a:xfrm>
          <a:prstGeom prst="rect">
            <a:avLst/>
          </a:prstGeom>
          <a:noFill/>
        </p:spPr>
        <p:txBody>
          <a:bodyPr wrap="square" lIns="0" rIns="0" tIns="0" bIns="0" anchor="t">
            <a:spAutoFit/>
          </a:bodyPr>
          <a:lstStyle/>
          <a:p>
            <a:pPr algn="l">
              <a:lnSpc>
                <a:spcPct val="100000"/>
              </a:lnSpc>
            </a:pPr>
            <a:r>
              <a:rPr sz="840" b="0">
                <a:solidFill>
                  <a:srgbClr val="202020"/>
                </a:solidFill>
                <a:latin typeface="Arial"/>
              </a:rPr>
              <a:t>28.13 / 8.55 / 8.64 %</a:t>
            </a:r>
          </a:p>
        </p:txBody>
      </p:sp>
      <p:sp>
        <p:nvSpPr>
          <p:cNvPr id="53" name="TextBox 52"/>
          <p:cNvSpPr txBox="1"/>
          <p:nvPr/>
        </p:nvSpPr>
        <p:spPr>
          <a:xfrm>
            <a:off x="7955279" y="4965192"/>
            <a:ext cx="3931920" cy="201168"/>
          </a:xfrm>
          <a:prstGeom prst="rect">
            <a:avLst/>
          </a:prstGeom>
          <a:noFill/>
        </p:spPr>
        <p:txBody>
          <a:bodyPr wrap="square" lIns="0" rIns="0" tIns="0" bIns="0" anchor="t">
            <a:spAutoFit/>
          </a:bodyPr>
          <a:lstStyle/>
          <a:p>
            <a:pPr algn="l">
              <a:lnSpc>
                <a:spcPct val="100000"/>
              </a:lnSpc>
            </a:pPr>
            <a:r>
              <a:rPr sz="1050" b="1">
                <a:solidFill>
                  <a:srgbClr val="7A2D5E"/>
                </a:solidFill>
                <a:latin typeface="Arial Black"/>
              </a:rPr>
              <a:t>OBSERVABILITY</a:t>
            </a:r>
          </a:p>
        </p:txBody>
      </p:sp>
      <p:sp>
        <p:nvSpPr>
          <p:cNvPr id="54" name="TextBox 53"/>
          <p:cNvSpPr txBox="1"/>
          <p:nvPr/>
        </p:nvSpPr>
        <p:spPr>
          <a:xfrm>
            <a:off x="7955279" y="5193792"/>
            <a:ext cx="3931920" cy="530352"/>
          </a:xfrm>
          <a:prstGeom prst="rect">
            <a:avLst/>
          </a:prstGeom>
          <a:noFill/>
        </p:spPr>
        <p:txBody>
          <a:bodyPr wrap="square" lIns="0" rIns="0" tIns="0" bIns="0" anchor="t">
            <a:spAutoFit/>
          </a:bodyPr>
          <a:lstStyle/>
          <a:p>
            <a:pPr algn="l">
              <a:lnSpc>
                <a:spcPct val="100000"/>
              </a:lnSpc>
            </a:pPr>
            <a:r>
              <a:rPr sz="860" b="0">
                <a:solidFill>
                  <a:srgbClr val="202020"/>
                </a:solidFill>
                <a:latin typeface="Times New Roman"/>
              </a:rPr>
              <a:t>link / 1 Hz UDP telemetry: aborts, rows_max, stall, gap_min/max and pane_bad. The same counters are readable over UART, JTAG and the wire.</a:t>
            </a:r>
          </a:p>
        </p:txBody>
      </p:sp>
      <p:sp>
        <p:nvSpPr>
          <p:cNvPr id="55" name="Rounded Rectangle 54"/>
          <p:cNvSpPr/>
          <p:nvPr/>
        </p:nvSpPr>
        <p:spPr>
          <a:xfrm>
            <a:off x="7955279" y="5797296"/>
            <a:ext cx="3931920" cy="365760"/>
          </a:xfrm>
          <a:prstGeom prst="roundRect">
            <a:avLst>
              <a:gd name="adj" fmla="val 15000"/>
            </a:avLst>
          </a:prstGeom>
          <a:solidFill>
            <a:srgbClr val="F5ECF1"/>
          </a:solidFill>
          <a:ln w="11430">
            <a:solidFill>
              <a:srgbClr val="7A2D5E"/>
            </a:solidFill>
          </a:ln>
        </p:spPr>
        <p:style>
          <a:lnRef idx="1">
            <a:schemeClr val="accent1"/>
          </a:lnRef>
          <a:fillRef idx="3">
            <a:schemeClr val="accent1"/>
          </a:fillRef>
          <a:effectRef idx="2">
            <a:schemeClr val="accent1"/>
          </a:effectRef>
          <a:fontRef idx="minor">
            <a:schemeClr val="lt1"/>
          </a:fontRef>
        </p:style>
        <p:txBody>
          <a:bodyPr rtlCol="0" anchor="ctr" lIns="109728" tIns="0" bIns="0"/>
          <a:lstStyle/>
          <a:p>
            <a:pPr algn="ctr"/>
            <a:r>
              <a:rPr sz="860" b="1">
                <a:solidFill>
                  <a:srgbClr val="7A2D5E"/>
                </a:solidFill>
                <a:latin typeface="Arial"/>
              </a:rPr>
              <a:t>DROP 1 IN 100  -&gt;  ABORTS RISE  -&gt;  RECOVERY</a:t>
            </a:r>
          </a:p>
        </p:txBody>
      </p:sp>
      <p:sp>
        <p:nvSpPr>
          <p:cNvPr id="56" name="TextBox 55"/>
          <p:cNvSpPr txBox="1"/>
          <p:nvPr/>
        </p:nvSpPr>
        <p:spPr>
          <a:xfrm>
            <a:off x="7955279" y="6254496"/>
            <a:ext cx="3931920" cy="256032"/>
          </a:xfrm>
          <a:prstGeom prst="rect">
            <a:avLst/>
          </a:prstGeom>
          <a:noFill/>
        </p:spPr>
        <p:txBody>
          <a:bodyPr wrap="square" lIns="0" rIns="0" tIns="0" bIns="0" anchor="t">
            <a:spAutoFit/>
          </a:bodyPr>
          <a:lstStyle/>
          <a:p>
            <a:pPr algn="l">
              <a:lnSpc>
                <a:spcPct val="100000"/>
              </a:lnSpc>
            </a:pPr>
            <a:r>
              <a:rPr sz="670" b="0">
                <a:solidFill>
                  <a:srgbClr val="5C5C5C"/>
                </a:solidFill>
                <a:latin typeface="Times New Roman"/>
              </a:rPr>
              <a:t>Conclusion: one frame, two panes, one wire-readable account.  Next: 1080p, dual-stream, close RGMII TX hold.</a:t>
            </a:r>
          </a:p>
        </p:txBody>
      </p:sp>
      <p:cxnSp>
        <p:nvCxnSpPr>
          <p:cNvPr id="57" name="Connector 56"/>
          <p:cNvCxnSpPr/>
          <p:nvPr/>
        </p:nvCxnSpPr>
        <p:spPr>
          <a:xfrm>
            <a:off x="274320" y="6565392"/>
            <a:ext cx="11658600" cy="0"/>
          </a:xfrm>
          <a:prstGeom prst="line">
            <a:avLst/>
          </a:prstGeom>
          <a:ln w="8890">
            <a:solidFill>
              <a:srgbClr val="BEBEBE"/>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274320" y="6611112"/>
            <a:ext cx="8961120" cy="164592"/>
          </a:xfrm>
          <a:prstGeom prst="rect">
            <a:avLst/>
          </a:prstGeom>
          <a:noFill/>
        </p:spPr>
        <p:txBody>
          <a:bodyPr wrap="square" lIns="0" rIns="0" tIns="0" bIns="0" anchor="t">
            <a:spAutoFit/>
          </a:bodyPr>
          <a:lstStyle/>
          <a:p>
            <a:pPr algn="l">
              <a:lnSpc>
                <a:spcPct val="100000"/>
              </a:lnSpc>
            </a:pPr>
            <a:r>
              <a:rPr sz="620" b="0">
                <a:solidFill>
                  <a:srgbClr val="5C5C5C"/>
                </a:solidFill>
                <a:latin typeface="Arial"/>
              </a:rPr>
              <a:t>AMD, the AMD Arrow logo and combinations thereof are trademarks of Advanced Micro Devices, Inc. Zynq is a trademark of AMD. All other trademarks are the property of their respective owners.</a:t>
            </a:r>
          </a:p>
        </p:txBody>
      </p:sp>
      <p:pic>
        <p:nvPicPr>
          <p:cNvPr id="59" name="Picture 58" descr="amd_logo_black.png"/>
          <p:cNvPicPr>
            <a:picLocks noChangeAspect="1"/>
          </p:cNvPicPr>
          <p:nvPr/>
        </p:nvPicPr>
        <p:blipFill>
          <a:blip r:embed="rId3"/>
          <a:stretch>
            <a:fillRect/>
          </a:stretch>
        </p:blipFill>
        <p:spPr>
          <a:xfrm>
            <a:off x="11292840" y="6500358"/>
            <a:ext cx="621792" cy="14835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