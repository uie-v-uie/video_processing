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 Id="rId6"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73152"/>
            <a:ext cx="2926080" cy="164592"/>
          </a:xfrm>
          <a:prstGeom prst="rect">
            <a:avLst/>
          </a:prstGeom>
          <a:noFill/>
        </p:spPr>
        <p:txBody>
          <a:bodyPr wrap="square" lIns="0" rIns="0" tIns="0" bIns="0" anchor="t">
            <a:spAutoFit/>
          </a:bodyPr>
          <a:lstStyle/>
          <a:p>
            <a:pPr algn="l">
              <a:lnSpc>
                <a:spcPct val="100000"/>
              </a:lnSpc>
            </a:pPr>
            <a:r>
              <a:rPr sz="750" b="0">
                <a:solidFill>
                  <a:srgbClr val="5C5C5C"/>
                </a:solidFill>
                <a:latin typeface="Arial"/>
              </a:rPr>
              <a:t>(c) 2026 Uie_Team  |  AMD FPGA Innovation Design Competition</a:t>
            </a:r>
          </a:p>
        </p:txBody>
      </p:sp>
      <p:sp>
        <p:nvSpPr>
          <p:cNvPr id="3" name="TextBox 2"/>
          <p:cNvSpPr txBox="1"/>
          <p:nvPr/>
        </p:nvSpPr>
        <p:spPr>
          <a:xfrm>
            <a:off x="384048" y="301752"/>
            <a:ext cx="7863840" cy="502920"/>
          </a:xfrm>
          <a:prstGeom prst="rect">
            <a:avLst/>
          </a:prstGeom>
          <a:noFill/>
        </p:spPr>
        <p:txBody>
          <a:bodyPr wrap="square" lIns="0" rIns="0" tIns="0" bIns="0" anchor="t">
            <a:spAutoFit/>
          </a:bodyPr>
          <a:lstStyle/>
          <a:p>
            <a:pPr algn="l">
              <a:lnSpc>
                <a:spcPct val="100000"/>
              </a:lnSpc>
            </a:pPr>
            <a:r>
              <a:rPr sz="3100" b="1">
                <a:solidFill>
                  <a:srgbClr val="202020"/>
                </a:solidFill>
                <a:latin typeface="Times New Roman"/>
              </a:rPr>
              <a:t>ONE FRAME. TWO TRUTHS.</a:t>
            </a:r>
          </a:p>
        </p:txBody>
      </p:sp>
      <p:sp>
        <p:nvSpPr>
          <p:cNvPr id="4" name="TextBox 3"/>
          <p:cNvSpPr txBox="1"/>
          <p:nvPr/>
        </p:nvSpPr>
        <p:spPr>
          <a:xfrm>
            <a:off x="402336" y="804672"/>
            <a:ext cx="7772400" cy="274320"/>
          </a:xfrm>
          <a:prstGeom prst="rect">
            <a:avLst/>
          </a:prstGeom>
          <a:noFill/>
        </p:spPr>
        <p:txBody>
          <a:bodyPr wrap="square" lIns="0" rIns="0" tIns="0" bIns="0" anchor="t">
            <a:spAutoFit/>
          </a:bodyPr>
          <a:lstStyle/>
          <a:p>
            <a:pPr algn="l">
              <a:lnSpc>
                <a:spcPct val="100000"/>
              </a:lnSpc>
            </a:pPr>
            <a:r>
              <a:rPr sz="1350" b="0">
                <a:solidFill>
                  <a:srgbClr val="5C5C5C"/>
                </a:solidFill>
                <a:latin typeface="Times New Roman"/>
              </a:rPr>
              <a:t>A full-hardware video node on Zynq-7020</a:t>
            </a:r>
          </a:p>
        </p:txBody>
      </p:sp>
      <p:sp>
        <p:nvSpPr>
          <p:cNvPr id="5" name="TextBox 4"/>
          <p:cNvSpPr txBox="1"/>
          <p:nvPr/>
        </p:nvSpPr>
        <p:spPr>
          <a:xfrm>
            <a:off x="402336" y="1060704"/>
            <a:ext cx="7589520" cy="228600"/>
          </a:xfrm>
          <a:prstGeom prst="rect">
            <a:avLst/>
          </a:prstGeom>
          <a:noFill/>
        </p:spPr>
        <p:txBody>
          <a:bodyPr wrap="square" lIns="0" rIns="0" tIns="0" bIns="0" anchor="t">
            <a:spAutoFit/>
          </a:bodyPr>
          <a:lstStyle/>
          <a:p>
            <a:pPr algn="l">
              <a:lnSpc>
                <a:spcPct val="100000"/>
              </a:lnSpc>
            </a:pPr>
            <a:r>
              <a:rPr sz="1100" b="0">
                <a:solidFill>
                  <a:srgbClr val="7A2D5E"/>
                </a:solidFill>
                <a:latin typeface="Microsoft YaHei"/>
              </a:rPr>
              <a:t>多源视频同帧对照处理系统</a:t>
            </a:r>
          </a:p>
        </p:txBody>
      </p:sp>
      <p:sp>
        <p:nvSpPr>
          <p:cNvPr id="6" name="TextBox 5"/>
          <p:cNvSpPr txBox="1"/>
          <p:nvPr/>
        </p:nvSpPr>
        <p:spPr>
          <a:xfrm>
            <a:off x="402336" y="1271016"/>
            <a:ext cx="7589520" cy="210312"/>
          </a:xfrm>
          <a:prstGeom prst="rect">
            <a:avLst/>
          </a:prstGeom>
          <a:noFill/>
        </p:spPr>
        <p:txBody>
          <a:bodyPr wrap="square" lIns="0" rIns="0" tIns="0" bIns="0" anchor="t">
            <a:spAutoFit/>
          </a:bodyPr>
          <a:lstStyle/>
          <a:p>
            <a:pPr algn="l">
              <a:lnSpc>
                <a:spcPct val="100000"/>
              </a:lnSpc>
            </a:pPr>
            <a:r>
              <a:rPr sz="1000" b="1">
                <a:solidFill>
                  <a:srgbClr val="202020"/>
                </a:solidFill>
                <a:latin typeface="Times New Roman"/>
              </a:rPr>
              <a:t>Team: </a:t>
            </a:r>
            <a:r>
              <a:rPr sz="1000" b="0">
                <a:solidFill>
                  <a:srgbClr val="202020"/>
                </a:solidFill>
                <a:latin typeface="Times New Roman"/>
              </a:rPr>
              <a:t>Uie_Team  ·  Member: Wang Xu (王旭)</a:t>
            </a:r>
          </a:p>
        </p:txBody>
      </p:sp>
      <p:sp>
        <p:nvSpPr>
          <p:cNvPr id="7" name="TextBox 6"/>
          <p:cNvSpPr txBox="1"/>
          <p:nvPr/>
        </p:nvSpPr>
        <p:spPr>
          <a:xfrm>
            <a:off x="402336" y="1490472"/>
            <a:ext cx="7589520" cy="201168"/>
          </a:xfrm>
          <a:prstGeom prst="rect">
            <a:avLst/>
          </a:prstGeom>
          <a:noFill/>
        </p:spPr>
        <p:txBody>
          <a:bodyPr wrap="square" lIns="0" rIns="0" tIns="0" bIns="0" anchor="t">
            <a:spAutoFit/>
          </a:bodyPr>
          <a:lstStyle/>
          <a:p>
            <a:pPr algn="l">
              <a:lnSpc>
                <a:spcPct val="100000"/>
              </a:lnSpc>
            </a:pPr>
            <a:r>
              <a:rPr sz="950" b="1">
                <a:solidFill>
                  <a:srgbClr val="202020"/>
                </a:solidFill>
                <a:latin typeface="Times New Roman"/>
              </a:rPr>
              <a:t>Advisors: </a:t>
            </a:r>
            <a:r>
              <a:rPr sz="950" b="0">
                <a:solidFill>
                  <a:srgbClr val="202020"/>
                </a:solidFill>
                <a:latin typeface="Times New Roman"/>
              </a:rPr>
              <a:t>Tan Huisheng (谭会生), Liang Jiaojiao (梁娇娇)</a:t>
            </a:r>
          </a:p>
        </p:txBody>
      </p:sp>
      <p:pic>
        <p:nvPicPr>
          <p:cNvPr id="8" name="Picture 7" descr="hut_emblem.png"/>
          <p:cNvPicPr>
            <a:picLocks noChangeAspect="1"/>
          </p:cNvPicPr>
          <p:nvPr/>
        </p:nvPicPr>
        <p:blipFill>
          <a:blip r:embed="rId2"/>
          <a:stretch>
            <a:fillRect/>
          </a:stretch>
        </p:blipFill>
        <p:spPr>
          <a:xfrm>
            <a:off x="8213326" y="91440"/>
            <a:ext cx="636050" cy="658368"/>
          </a:xfrm>
          <a:prstGeom prst="rect">
            <a:avLst/>
          </a:prstGeom>
        </p:spPr>
      </p:pic>
      <p:sp>
        <p:nvSpPr>
          <p:cNvPr id="9" name="TextBox 8"/>
          <p:cNvSpPr txBox="1"/>
          <p:nvPr/>
        </p:nvSpPr>
        <p:spPr>
          <a:xfrm>
            <a:off x="8869680" y="109728"/>
            <a:ext cx="1243584" cy="237744"/>
          </a:xfrm>
          <a:prstGeom prst="rect">
            <a:avLst/>
          </a:prstGeom>
          <a:noFill/>
        </p:spPr>
        <p:txBody>
          <a:bodyPr wrap="square" lIns="0" rIns="0" tIns="0" bIns="0" anchor="t">
            <a:spAutoFit/>
          </a:bodyPr>
          <a:lstStyle/>
          <a:p>
            <a:pPr algn="l">
              <a:lnSpc>
                <a:spcPct val="100000"/>
              </a:lnSpc>
            </a:pPr>
            <a:r>
              <a:rPr sz="950" b="1">
                <a:solidFill>
                  <a:srgbClr val="7A2D5E"/>
                </a:solidFill>
                <a:latin typeface="Microsoft YaHei"/>
              </a:rPr>
              <a:t>湖南工业大学</a:t>
            </a:r>
          </a:p>
        </p:txBody>
      </p:sp>
      <p:sp>
        <p:nvSpPr>
          <p:cNvPr id="10" name="TextBox 9"/>
          <p:cNvSpPr txBox="1"/>
          <p:nvPr/>
        </p:nvSpPr>
        <p:spPr>
          <a:xfrm>
            <a:off x="8869680" y="365760"/>
            <a:ext cx="1243584" cy="310896"/>
          </a:xfrm>
          <a:prstGeom prst="rect">
            <a:avLst/>
          </a:prstGeom>
          <a:noFill/>
        </p:spPr>
        <p:txBody>
          <a:bodyPr wrap="square" lIns="0" rIns="0" tIns="0" bIns="0" anchor="t">
            <a:spAutoFit/>
          </a:bodyPr>
          <a:lstStyle/>
          <a:p>
            <a:pPr algn="l">
              <a:lnSpc>
                <a:spcPct val="100000"/>
              </a:lnSpc>
            </a:pPr>
            <a:r>
              <a:rPr sz="560" b="1">
                <a:solidFill>
                  <a:srgbClr val="7A2D5E"/>
                </a:solidFill>
                <a:latin typeface="Arial"/>
              </a:rPr>
              <a:t>HUNAN UNIVERSITY
OF TECHNOLOGY</a:t>
            </a:r>
          </a:p>
        </p:txBody>
      </p:sp>
      <p:pic>
        <p:nvPicPr>
          <p:cNvPr id="11" name="Picture 10" descr="amd_logo_black.png"/>
          <p:cNvPicPr>
            <a:picLocks noChangeAspect="1"/>
          </p:cNvPicPr>
          <p:nvPr/>
        </p:nvPicPr>
        <p:blipFill>
          <a:blip r:embed="rId3"/>
          <a:stretch>
            <a:fillRect/>
          </a:stretch>
        </p:blipFill>
        <p:spPr>
          <a:xfrm>
            <a:off x="8211312" y="842051"/>
            <a:ext cx="1143000" cy="272712"/>
          </a:xfrm>
          <a:prstGeom prst="rect">
            <a:avLst/>
          </a:prstGeom>
        </p:spPr>
      </p:pic>
      <p:sp>
        <p:nvSpPr>
          <p:cNvPr id="12" name="TextBox 11"/>
          <p:cNvSpPr txBox="1"/>
          <p:nvPr/>
        </p:nvSpPr>
        <p:spPr>
          <a:xfrm>
            <a:off x="8211312" y="1143000"/>
            <a:ext cx="1143000" cy="182880"/>
          </a:xfrm>
          <a:prstGeom prst="rect">
            <a:avLst/>
          </a:prstGeom>
          <a:noFill/>
        </p:spPr>
        <p:txBody>
          <a:bodyPr wrap="square" lIns="0" rIns="0" tIns="0" bIns="0" anchor="t">
            <a:spAutoFit/>
          </a:bodyPr>
          <a:lstStyle/>
          <a:p>
            <a:pPr algn="l">
              <a:lnSpc>
                <a:spcPct val="100000"/>
              </a:lnSpc>
            </a:pPr>
            <a:r>
              <a:rPr sz="750" b="1">
                <a:solidFill>
                  <a:srgbClr val="5C5C5C"/>
                </a:solidFill>
                <a:latin typeface="Arial"/>
              </a:rPr>
              <a:t>ZYNQ-7020</a:t>
            </a:r>
          </a:p>
        </p:txBody>
      </p:sp>
      <p:pic>
        <p:nvPicPr>
          <p:cNvPr id="13" name="Picture 12" descr="poster_overview.jpg"/>
          <p:cNvPicPr>
            <a:picLocks noChangeAspect="1"/>
          </p:cNvPicPr>
          <p:nvPr/>
        </p:nvPicPr>
        <p:blipFill>
          <a:blip r:embed="rId4"/>
          <a:stretch>
            <a:fillRect/>
          </a:stretch>
        </p:blipFill>
        <p:spPr>
          <a:xfrm>
            <a:off x="10058400" y="109728"/>
            <a:ext cx="1828800" cy="914400"/>
          </a:xfrm>
          <a:prstGeom prst="rect">
            <a:avLst/>
          </a:prstGeom>
        </p:spPr>
      </p:pic>
      <p:sp>
        <p:nvSpPr>
          <p:cNvPr id="14" name="TextBox 13"/>
          <p:cNvSpPr txBox="1"/>
          <p:nvPr/>
        </p:nvSpPr>
        <p:spPr>
          <a:xfrm>
            <a:off x="10149840" y="1481328"/>
            <a:ext cx="1783080" cy="283464"/>
          </a:xfrm>
          <a:prstGeom prst="rect">
            <a:avLst/>
          </a:prstGeom>
          <a:noFill/>
        </p:spPr>
        <p:txBody>
          <a:bodyPr wrap="square" lIns="0" rIns="0" tIns="0" bIns="0" anchor="t">
            <a:spAutoFit/>
          </a:bodyPr>
          <a:lstStyle/>
          <a:p>
            <a:pPr algn="l">
              <a:lnSpc>
                <a:spcPct val="100000"/>
              </a:lnSpc>
            </a:pPr>
            <a:r>
              <a:rPr sz="720" b="0">
                <a:solidFill>
                  <a:srgbClr val="5C5C5C"/>
                </a:solidFill>
                <a:latin typeface="Arial"/>
              </a:rPr>
              <a:t>RK-ZYNQ7020-F V1.0
xc7z020clg484-2 · 1 GbE</a:t>
            </a:r>
          </a:p>
        </p:txBody>
      </p:sp>
      <p:cxnSp>
        <p:nvCxnSpPr>
          <p:cNvPr id="15" name="Connector 14"/>
          <p:cNvCxnSpPr/>
          <p:nvPr/>
        </p:nvCxnSpPr>
        <p:spPr>
          <a:xfrm>
            <a:off x="274320" y="1719072"/>
            <a:ext cx="11658600" cy="0"/>
          </a:xfrm>
          <a:prstGeom prst="line">
            <a:avLst/>
          </a:prstGeom>
          <a:ln w="15240">
            <a:solidFill>
              <a:srgbClr val="3C3C3C"/>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274320" y="1847088"/>
            <a:ext cx="3456432"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INTRODUCTION</a:t>
            </a:r>
          </a:p>
        </p:txBody>
      </p:sp>
      <p:sp>
        <p:nvSpPr>
          <p:cNvPr id="17" name="TextBox 16"/>
          <p:cNvSpPr txBox="1"/>
          <p:nvPr/>
        </p:nvSpPr>
        <p:spPr>
          <a:xfrm>
            <a:off x="310896" y="2267712"/>
            <a:ext cx="3383280" cy="1417320"/>
          </a:xfrm>
          <a:prstGeom prst="rect">
            <a:avLst/>
          </a:prstGeom>
          <a:noFill/>
        </p:spPr>
        <p:txBody>
          <a:bodyPr wrap="square" lIns="0" rIns="0" tIns="0" bIns="0" anchor="t">
            <a:spAutoFit/>
          </a:bodyPr>
          <a:lstStyle/>
          <a:p>
            <a:pPr algn="l">
              <a:lnSpc>
                <a:spcPct val="100000"/>
              </a:lnSpc>
            </a:pPr>
            <a:r>
              <a:rPr sz="919" b="0">
                <a:solidFill>
                  <a:srgbClr val="202020"/>
                </a:solidFill>
                <a:latin typeface="Times New Roman"/>
              </a:rPr>
              <a:t>Remote video nodes usually have one Ethernet cable and no PC. The operator must know whether the frame arrived, whether processing took effect, and how old the picture is. This node answers all three from one frame: 512x300 RGB565 enters RGMII, is reassembled and committed to DDR only after three gates, then read back once for both panes. The left pane is the original; the right pane is the same frame after geometry and a fixed 15-cycle effect chain. The seam is a per-pixel decision, not two screenshots.</a:t>
            </a:r>
          </a:p>
        </p:txBody>
      </p:sp>
      <p:pic>
        <p:nvPicPr>
          <p:cNvPr id="18" name="Picture 17" descr="poster_frame_split.png"/>
          <p:cNvPicPr>
            <a:picLocks noChangeAspect="1"/>
          </p:cNvPicPr>
          <p:nvPr/>
        </p:nvPicPr>
        <p:blipFill>
          <a:blip r:embed="rId5"/>
          <a:stretch>
            <a:fillRect/>
          </a:stretch>
        </p:blipFill>
        <p:spPr>
          <a:xfrm>
            <a:off x="413735" y="3657600"/>
            <a:ext cx="3058728" cy="1792224"/>
          </a:xfrm>
          <a:prstGeom prst="rect">
            <a:avLst/>
          </a:prstGeom>
        </p:spPr>
      </p:pic>
      <p:sp>
        <p:nvSpPr>
          <p:cNvPr id="19" name="TextBox 18"/>
          <p:cNvSpPr txBox="1"/>
          <p:nvPr/>
        </p:nvSpPr>
        <p:spPr>
          <a:xfrm>
            <a:off x="310896" y="5477256"/>
            <a:ext cx="3383280" cy="237744"/>
          </a:xfrm>
          <a:prstGeom prst="rect">
            <a:avLst/>
          </a:prstGeom>
          <a:noFill/>
        </p:spPr>
        <p:txBody>
          <a:bodyPr wrap="square" lIns="0" rIns="0" tIns="0" bIns="0" anchor="t">
            <a:spAutoFit/>
          </a:bodyPr>
          <a:lstStyle/>
          <a:p>
            <a:pPr algn="l">
              <a:lnSpc>
                <a:spcPct val="100000"/>
              </a:lnSpc>
            </a:pPr>
            <a:r>
              <a:rPr sz="720" b="0">
                <a:solidFill>
                  <a:srgbClr val="5C5C5C"/>
                </a:solidFill>
                <a:latin typeface="Arial"/>
              </a:rPr>
              <a:t>Same 512x300 frame  ·  seam 50/50  ·  right pane 0 deg + Sobel</a:t>
            </a:r>
          </a:p>
        </p:txBody>
      </p:sp>
      <p:sp>
        <p:nvSpPr>
          <p:cNvPr id="20" name="TextBox 19"/>
          <p:cNvSpPr txBox="1"/>
          <p:nvPr/>
        </p:nvSpPr>
        <p:spPr>
          <a:xfrm>
            <a:off x="310896" y="5733288"/>
            <a:ext cx="3383280" cy="182880"/>
          </a:xfrm>
          <a:prstGeom prst="rect">
            <a:avLst/>
          </a:prstGeom>
          <a:noFill/>
        </p:spPr>
        <p:txBody>
          <a:bodyPr wrap="square" lIns="0" rIns="0" tIns="0" bIns="0" anchor="t">
            <a:spAutoFit/>
          </a:bodyPr>
          <a:lstStyle/>
          <a:p>
            <a:pPr algn="l">
              <a:lnSpc>
                <a:spcPct val="100000"/>
              </a:lnSpc>
            </a:pPr>
            <a:r>
              <a:rPr sz="900" b="1">
                <a:solidFill>
                  <a:srgbClr val="7A2D5E"/>
                </a:solidFill>
                <a:latin typeface="Times New Roman"/>
              </a:rPr>
              <a:t>Key technical issues addressed:</a:t>
            </a:r>
          </a:p>
        </p:txBody>
      </p:sp>
      <p:sp>
        <p:nvSpPr>
          <p:cNvPr id="21" name="TextBox 20"/>
          <p:cNvSpPr txBox="1"/>
          <p:nvPr/>
        </p:nvSpPr>
        <p:spPr>
          <a:xfrm>
            <a:off x="310896" y="5925312"/>
            <a:ext cx="3383280" cy="585216"/>
          </a:xfrm>
          <a:prstGeom prst="rect">
            <a:avLst/>
          </a:prstGeom>
          <a:noFill/>
        </p:spPr>
        <p:txBody>
          <a:bodyPr wrap="square" lIns="0" rIns="0" tIns="0" bIns="0" anchor="t">
            <a:spAutoFit/>
          </a:bodyPr>
          <a:lstStyle/>
          <a:p>
            <a:pPr algn="l">
              <a:lnSpc>
                <a:spcPct val="90000"/>
              </a:lnSpc>
            </a:pPr>
            <a:r>
              <a:rPr sz="700" b="0">
                <a:solidFill>
                  <a:srgbClr val="202020"/>
                </a:solidFill>
                <a:latin typeface="Times New Roman"/>
              </a:rPr>
              <a:t>1. 1 GbE UDP: offset reassembly; commit = bytes + 300 rows + no bad packet.
2. Same-frame A/B: one coordinate stream, one row map, 15-cycle chain.
3. Telemetry: aborts, rows_max, gaps, pane_bad; drop 1/100 reddens it.</a:t>
            </a:r>
          </a:p>
        </p:txBody>
      </p:sp>
      <p:sp>
        <p:nvSpPr>
          <p:cNvPr id="22" name="Rectangle 21"/>
          <p:cNvSpPr/>
          <p:nvPr/>
        </p:nvSpPr>
        <p:spPr>
          <a:xfrm>
            <a:off x="3931920" y="1847088"/>
            <a:ext cx="3794760"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SYSTEM ARCHITECTURE</a:t>
            </a:r>
          </a:p>
        </p:txBody>
      </p:sp>
      <p:pic>
        <p:nvPicPr>
          <p:cNvPr id="23" name="Picture 22" descr="poster_arch_simple.png"/>
          <p:cNvPicPr>
            <a:picLocks noChangeAspect="1"/>
          </p:cNvPicPr>
          <p:nvPr/>
        </p:nvPicPr>
        <p:blipFill>
          <a:blip r:embed="rId6"/>
          <a:stretch>
            <a:fillRect/>
          </a:stretch>
        </p:blipFill>
        <p:spPr>
          <a:xfrm>
            <a:off x="3948379" y="2267712"/>
            <a:ext cx="3761841" cy="1709928"/>
          </a:xfrm>
          <a:prstGeom prst="rect">
            <a:avLst/>
          </a:prstGeom>
        </p:spPr>
      </p:pic>
      <p:sp>
        <p:nvSpPr>
          <p:cNvPr id="24" name="TextBox 23"/>
          <p:cNvSpPr txBox="1"/>
          <p:nvPr/>
        </p:nvSpPr>
        <p:spPr>
          <a:xfrm>
            <a:off x="3931920" y="4005072"/>
            <a:ext cx="3794760" cy="219456"/>
          </a:xfrm>
          <a:prstGeom prst="rect">
            <a:avLst/>
          </a:prstGeom>
          <a:noFill/>
        </p:spPr>
        <p:txBody>
          <a:bodyPr wrap="square" lIns="0" rIns="0" tIns="0" bIns="0" anchor="t">
            <a:spAutoFit/>
          </a:bodyPr>
          <a:lstStyle/>
          <a:p>
            <a:pPr algn="l">
              <a:lnSpc>
                <a:spcPct val="100000"/>
              </a:lnSpc>
            </a:pPr>
            <a:r>
              <a:rPr sz="680" b="0">
                <a:solidFill>
                  <a:srgbClr val="5C5C5C"/>
                </a:solidFill>
                <a:latin typeface="Arial"/>
              </a:rPr>
              <a:t>RGMII -&gt; UDP -&gt; DDR ping-pong -&gt; geometry -&gt; effects -&gt; A/B seam -&gt; HDMI</a:t>
            </a:r>
          </a:p>
        </p:txBody>
      </p:sp>
      <p:sp>
        <p:nvSpPr>
          <p:cNvPr id="25" name="Rectangle 24"/>
          <p:cNvSpPr/>
          <p:nvPr/>
        </p:nvSpPr>
        <p:spPr>
          <a:xfrm>
            <a:off x="3931920" y="4224528"/>
            <a:ext cx="3794760" cy="274320"/>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250" b="1">
                <a:solidFill>
                  <a:srgbClr val="FFFFFF"/>
                </a:solidFill>
                <a:latin typeface="Arial Black"/>
              </a:rPr>
              <a:t>CREATIVE DESIGN</a:t>
            </a:r>
          </a:p>
        </p:txBody>
      </p:sp>
      <p:sp>
        <p:nvSpPr>
          <p:cNvPr id="26" name="Rounded Rectangle 25"/>
          <p:cNvSpPr/>
          <p:nvPr/>
        </p:nvSpPr>
        <p:spPr>
          <a:xfrm>
            <a:off x="3931920" y="4572000"/>
            <a:ext cx="3794760" cy="932688"/>
          </a:xfrm>
          <a:prstGeom prst="roundRect">
            <a:avLst>
              <a:gd name="adj" fmla="val 8000"/>
            </a:avLst>
          </a:prstGeom>
          <a:solidFill>
            <a:srgbClr val="FFFFFF"/>
          </a:solidFill>
          <a:ln w="1143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wrap="square" lIns="146304" rIns="128016" tIns="73152" bIns="54864"/>
          <a:lstStyle/>
          <a:p>
            <a:pPr algn="ctr">
              <a:spcAft>
                <a:spcPts val="300"/>
              </a:spcAft>
            </a:pPr>
            <a:r>
              <a:rPr sz="1050" b="1">
                <a:solidFill>
                  <a:srgbClr val="7A2D5E"/>
                </a:solidFill>
                <a:latin typeface="Arial"/>
              </a:rPr>
              <a:t>THREE-GATE COMMIT</a:t>
            </a:r>
          </a:p>
          <a:p>
            <a:pPr>
              <a:lnSpc>
                <a:spcPct val="100000"/>
              </a:lnSpc>
            </a:pPr>
            <a:r>
              <a:rPr sz="850">
                <a:solidFill>
                  <a:srgbClr val="202020"/>
                </a:solidFill>
                <a:latin typeface="Times New Roman"/>
              </a:rPr>
              <a:t>A frame is committed only when 307200 bytes arrived, all 300 source rows were written, and no packet failed. Otherwise the last good frame stays on screen and aborts + rows_max expose the reason.</a:t>
            </a:r>
          </a:p>
        </p:txBody>
      </p:sp>
      <p:sp>
        <p:nvSpPr>
          <p:cNvPr id="27" name="Rounded Rectangle 26"/>
          <p:cNvSpPr/>
          <p:nvPr/>
        </p:nvSpPr>
        <p:spPr>
          <a:xfrm>
            <a:off x="3931920" y="5577840"/>
            <a:ext cx="3794760" cy="932688"/>
          </a:xfrm>
          <a:prstGeom prst="roundRect">
            <a:avLst>
              <a:gd name="adj" fmla="val 8000"/>
            </a:avLst>
          </a:prstGeom>
          <a:solidFill>
            <a:srgbClr val="FFFFFF"/>
          </a:solidFill>
          <a:ln w="1143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wrap="square" lIns="146304" rIns="128016" tIns="73152" bIns="54864"/>
          <a:lstStyle/>
          <a:p>
            <a:pPr algn="ctr">
              <a:spcAft>
                <a:spcPts val="300"/>
              </a:spcAft>
            </a:pPr>
            <a:r>
              <a:rPr sz="1050" b="1">
                <a:solidFill>
                  <a:srgbClr val="7A2D5E"/>
                </a:solidFill>
                <a:latin typeface="Arial"/>
              </a:rPr>
              <a:t>SAME-FRAME A/B</a:t>
            </a:r>
          </a:p>
          <a:p>
            <a:pPr>
              <a:lnSpc>
                <a:spcPct val="100000"/>
              </a:lnSpc>
            </a:pPr>
            <a:r>
              <a:rPr sz="850">
                <a:solidFill>
                  <a:srgbClr val="202020"/>
                </a:solidFill>
                <a:latin typeface="Times New Roman"/>
              </a:rPr>
              <a:t>The original tap is delay-aligned to the 15-cycle processed path; both panes share one coordinate stream and one row map. The seam is a per-pixel select; rotation or stacked effects cannot make the panes disagree.</a:t>
            </a:r>
          </a:p>
        </p:txBody>
      </p:sp>
      <p:sp>
        <p:nvSpPr>
          <p:cNvPr id="28" name="Rectangle 27"/>
          <p:cNvSpPr/>
          <p:nvPr/>
        </p:nvSpPr>
        <p:spPr>
          <a:xfrm>
            <a:off x="7909560" y="1847088"/>
            <a:ext cx="4023360" cy="347472"/>
          </a:xfrm>
          <a:prstGeom prst="rect">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lIns="109728" rIns="73152" tIns="0" bIns="0"/>
          <a:lstStyle/>
          <a:p>
            <a:pPr algn="l"/>
            <a:r>
              <a:rPr sz="1500" b="1">
                <a:solidFill>
                  <a:srgbClr val="FFFFFF"/>
                </a:solidFill>
                <a:latin typeface="Arial Black"/>
              </a:rPr>
              <a:t>RESULT</a:t>
            </a:r>
          </a:p>
        </p:txBody>
      </p:sp>
      <p:sp>
        <p:nvSpPr>
          <p:cNvPr id="29" name="TextBox 28"/>
          <p:cNvSpPr txBox="1"/>
          <p:nvPr/>
        </p:nvSpPr>
        <p:spPr>
          <a:xfrm>
            <a:off x="7955279" y="2267712"/>
            <a:ext cx="3931920" cy="530352"/>
          </a:xfrm>
          <a:prstGeom prst="rect">
            <a:avLst/>
          </a:prstGeom>
          <a:noFill/>
        </p:spPr>
        <p:txBody>
          <a:bodyPr wrap="square" lIns="0" rIns="0" tIns="0" bIns="0" anchor="t">
            <a:spAutoFit/>
          </a:bodyPr>
          <a:lstStyle/>
          <a:p>
            <a:pPr algn="l">
              <a:lnSpc>
                <a:spcPct val="100000"/>
              </a:lnSpc>
            </a:pPr>
            <a:r>
              <a:rPr sz="890" b="0">
                <a:solidFill>
                  <a:srgbClr val="202020"/>
                </a:solidFill>
                <a:latin typeface="Times New Roman"/>
              </a:rPr>
              <a:t>RGMII -&gt; HDMI entirely in PL; PS only control, SD playback and serial status. 1024x600 at 59.5 Hz; 74 Mb/s payload on 1 GbE; PL-internal latency 2-16 ms.</a:t>
            </a:r>
          </a:p>
        </p:txBody>
      </p:sp>
      <p:sp>
        <p:nvSpPr>
          <p:cNvPr id="30" name="Rectangle 29"/>
          <p:cNvSpPr/>
          <p:nvPr/>
        </p:nvSpPr>
        <p:spPr>
          <a:xfrm>
            <a:off x="7955279" y="2880360"/>
            <a:ext cx="3931920" cy="2286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0144" y="2907791"/>
            <a:ext cx="1234440" cy="173736"/>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Setup WNS</a:t>
            </a:r>
          </a:p>
        </p:txBody>
      </p:sp>
      <p:sp>
        <p:nvSpPr>
          <p:cNvPr id="32" name="TextBox 31"/>
          <p:cNvSpPr txBox="1"/>
          <p:nvPr/>
        </p:nvSpPr>
        <p:spPr>
          <a:xfrm>
            <a:off x="9235440" y="2907791"/>
            <a:ext cx="2578608" cy="173736"/>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1.341 ns  ·  0 failing endpoints</a:t>
            </a:r>
          </a:p>
        </p:txBody>
      </p:sp>
      <p:sp>
        <p:nvSpPr>
          <p:cNvPr id="33" name="Rectangle 32"/>
          <p:cNvSpPr/>
          <p:nvPr/>
        </p:nvSpPr>
        <p:spPr>
          <a:xfrm>
            <a:off x="7955279" y="3127248"/>
            <a:ext cx="3931920" cy="228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10144" y="3154679"/>
            <a:ext cx="1234440" cy="173736"/>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Hold WHS</a:t>
            </a:r>
          </a:p>
        </p:txBody>
      </p:sp>
      <p:sp>
        <p:nvSpPr>
          <p:cNvPr id="35" name="TextBox 34"/>
          <p:cNvSpPr txBox="1"/>
          <p:nvPr/>
        </p:nvSpPr>
        <p:spPr>
          <a:xfrm>
            <a:off x="9235440" y="3154679"/>
            <a:ext cx="2578608" cy="173736"/>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0.025 ns  ·  positive margin</a:t>
            </a:r>
          </a:p>
        </p:txBody>
      </p:sp>
      <p:sp>
        <p:nvSpPr>
          <p:cNvPr id="36" name="Rectangle 35"/>
          <p:cNvSpPr/>
          <p:nvPr/>
        </p:nvSpPr>
        <p:spPr>
          <a:xfrm>
            <a:off x="7955279" y="3374136"/>
            <a:ext cx="3931920" cy="2286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10144" y="3401568"/>
            <a:ext cx="1234440" cy="173736"/>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BRAM</a:t>
            </a:r>
          </a:p>
        </p:txBody>
      </p:sp>
      <p:sp>
        <p:nvSpPr>
          <p:cNvPr id="38" name="TextBox 37"/>
          <p:cNvSpPr txBox="1"/>
          <p:nvPr/>
        </p:nvSpPr>
        <p:spPr>
          <a:xfrm>
            <a:off x="9235440" y="3401568"/>
            <a:ext cx="2578608" cy="173736"/>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70.0%  ·  98 / 140 tiles</a:t>
            </a:r>
          </a:p>
        </p:txBody>
      </p:sp>
      <p:sp>
        <p:nvSpPr>
          <p:cNvPr id="39" name="Rectangle 38"/>
          <p:cNvSpPr/>
          <p:nvPr/>
        </p:nvSpPr>
        <p:spPr>
          <a:xfrm>
            <a:off x="7955279" y="3621024"/>
            <a:ext cx="3931920" cy="228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10144" y="3648456"/>
            <a:ext cx="1234440" cy="173736"/>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8.05 s stream</a:t>
            </a:r>
          </a:p>
        </p:txBody>
      </p:sp>
      <p:sp>
        <p:nvSpPr>
          <p:cNvPr id="41" name="TextBox 40"/>
          <p:cNvSpPr txBox="1"/>
          <p:nvPr/>
        </p:nvSpPr>
        <p:spPr>
          <a:xfrm>
            <a:off x="9235440" y="3648456"/>
            <a:ext cx="2578608" cy="173736"/>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241 frames  ·  29.95 fps</a:t>
            </a:r>
          </a:p>
        </p:txBody>
      </p:sp>
      <p:sp>
        <p:nvSpPr>
          <p:cNvPr id="42" name="Rectangle 41"/>
          <p:cNvSpPr/>
          <p:nvPr/>
        </p:nvSpPr>
        <p:spPr>
          <a:xfrm>
            <a:off x="7955279" y="3867912"/>
            <a:ext cx="3931920" cy="2286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10144" y="3895344"/>
            <a:ext cx="1234440" cy="173736"/>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UART battery</a:t>
            </a:r>
          </a:p>
        </p:txBody>
      </p:sp>
      <p:sp>
        <p:nvSpPr>
          <p:cNvPr id="44" name="TextBox 43"/>
          <p:cNvSpPr txBox="1"/>
          <p:nvPr/>
        </p:nvSpPr>
        <p:spPr>
          <a:xfrm>
            <a:off x="9235440" y="3895344"/>
            <a:ext cx="2578608" cy="173736"/>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105 commands  ·  PASS</a:t>
            </a:r>
          </a:p>
        </p:txBody>
      </p:sp>
      <p:sp>
        <p:nvSpPr>
          <p:cNvPr id="45" name="Rectangle 44"/>
          <p:cNvSpPr/>
          <p:nvPr/>
        </p:nvSpPr>
        <p:spPr>
          <a:xfrm>
            <a:off x="7955279" y="4114800"/>
            <a:ext cx="3931920" cy="228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10144" y="4142232"/>
            <a:ext cx="1234440" cy="173736"/>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QSPI cold boot</a:t>
            </a:r>
          </a:p>
        </p:txBody>
      </p:sp>
      <p:sp>
        <p:nvSpPr>
          <p:cNvPr id="47" name="TextBox 46"/>
          <p:cNvSpPr txBox="1"/>
          <p:nvPr/>
        </p:nvSpPr>
        <p:spPr>
          <a:xfrm>
            <a:off x="9235440" y="4142232"/>
            <a:ext cx="2578608" cy="173736"/>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DONE / EOS  ·  no CRC error</a:t>
            </a:r>
          </a:p>
        </p:txBody>
      </p:sp>
      <p:sp>
        <p:nvSpPr>
          <p:cNvPr id="48" name="Rectangle 47"/>
          <p:cNvSpPr/>
          <p:nvPr/>
        </p:nvSpPr>
        <p:spPr>
          <a:xfrm>
            <a:off x="7955279" y="4361688"/>
            <a:ext cx="3931920" cy="2286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10144" y="4389120"/>
            <a:ext cx="1234440" cy="173736"/>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Fault inject (C/L/R)</a:t>
            </a:r>
          </a:p>
        </p:txBody>
      </p:sp>
      <p:sp>
        <p:nvSpPr>
          <p:cNvPr id="50" name="TextBox 49"/>
          <p:cNvSpPr txBox="1"/>
          <p:nvPr/>
        </p:nvSpPr>
        <p:spPr>
          <a:xfrm>
            <a:off x="9235440" y="4389120"/>
            <a:ext cx="2578608" cy="173736"/>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22.0 / 0 / 18.9 fps  ·  PASS</a:t>
            </a:r>
          </a:p>
        </p:txBody>
      </p:sp>
      <p:sp>
        <p:nvSpPr>
          <p:cNvPr id="51" name="Rectangle 50"/>
          <p:cNvSpPr/>
          <p:nvPr/>
        </p:nvSpPr>
        <p:spPr>
          <a:xfrm>
            <a:off x="7955279" y="4608576"/>
            <a:ext cx="3931920" cy="228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10144" y="4636008"/>
            <a:ext cx="1234440" cy="173736"/>
          </a:xfrm>
          <a:prstGeom prst="rect">
            <a:avLst/>
          </a:prstGeom>
          <a:noFill/>
        </p:spPr>
        <p:txBody>
          <a:bodyPr wrap="square" lIns="0" rIns="0" tIns="0" bIns="0" anchor="t">
            <a:spAutoFit/>
          </a:bodyPr>
          <a:lstStyle/>
          <a:p>
            <a:pPr algn="l">
              <a:lnSpc>
                <a:spcPct val="100000"/>
              </a:lnSpc>
            </a:pPr>
            <a:r>
              <a:rPr sz="819" b="1">
                <a:solidFill>
                  <a:srgbClr val="5C5C5C"/>
                </a:solidFill>
                <a:latin typeface="Arial"/>
              </a:rPr>
              <a:t>LUT / FF / DSP</a:t>
            </a:r>
          </a:p>
        </p:txBody>
      </p:sp>
      <p:sp>
        <p:nvSpPr>
          <p:cNvPr id="53" name="TextBox 52"/>
          <p:cNvSpPr txBox="1"/>
          <p:nvPr/>
        </p:nvSpPr>
        <p:spPr>
          <a:xfrm>
            <a:off x="9235440" y="4636008"/>
            <a:ext cx="2578608" cy="173736"/>
          </a:xfrm>
          <a:prstGeom prst="rect">
            <a:avLst/>
          </a:prstGeom>
          <a:noFill/>
        </p:spPr>
        <p:txBody>
          <a:bodyPr wrap="square" lIns="0" rIns="0" tIns="0" bIns="0" anchor="t">
            <a:spAutoFit/>
          </a:bodyPr>
          <a:lstStyle/>
          <a:p>
            <a:pPr algn="l">
              <a:lnSpc>
                <a:spcPct val="100000"/>
              </a:lnSpc>
            </a:pPr>
            <a:r>
              <a:rPr sz="860" b="0">
                <a:solidFill>
                  <a:srgbClr val="202020"/>
                </a:solidFill>
                <a:latin typeface="Arial"/>
              </a:rPr>
              <a:t>28.13 / 8.55 / 8.64 %</a:t>
            </a:r>
          </a:p>
        </p:txBody>
      </p:sp>
      <p:sp>
        <p:nvSpPr>
          <p:cNvPr id="54" name="TextBox 53"/>
          <p:cNvSpPr txBox="1"/>
          <p:nvPr/>
        </p:nvSpPr>
        <p:spPr>
          <a:xfrm>
            <a:off x="7955279" y="4965192"/>
            <a:ext cx="3931920" cy="201168"/>
          </a:xfrm>
          <a:prstGeom prst="rect">
            <a:avLst/>
          </a:prstGeom>
          <a:noFill/>
        </p:spPr>
        <p:txBody>
          <a:bodyPr wrap="square" lIns="0" rIns="0" tIns="0" bIns="0" anchor="t">
            <a:spAutoFit/>
          </a:bodyPr>
          <a:lstStyle/>
          <a:p>
            <a:pPr algn="l">
              <a:lnSpc>
                <a:spcPct val="100000"/>
              </a:lnSpc>
            </a:pPr>
            <a:r>
              <a:rPr sz="1050" b="1">
                <a:solidFill>
                  <a:srgbClr val="7A2D5E"/>
                </a:solidFill>
                <a:latin typeface="Arial Black"/>
              </a:rPr>
              <a:t>OBSERVABILITY</a:t>
            </a:r>
          </a:p>
        </p:txBody>
      </p:sp>
      <p:sp>
        <p:nvSpPr>
          <p:cNvPr id="55" name="TextBox 54"/>
          <p:cNvSpPr txBox="1"/>
          <p:nvPr/>
        </p:nvSpPr>
        <p:spPr>
          <a:xfrm>
            <a:off x="7955279" y="5175504"/>
            <a:ext cx="3931920" cy="530352"/>
          </a:xfrm>
          <a:prstGeom prst="rect">
            <a:avLst/>
          </a:prstGeom>
          <a:noFill/>
        </p:spPr>
        <p:txBody>
          <a:bodyPr wrap="square" lIns="0" rIns="0" tIns="0" bIns="0" anchor="t">
            <a:spAutoFit/>
          </a:bodyPr>
          <a:lstStyle/>
          <a:p>
            <a:pPr algn="l">
              <a:lnSpc>
                <a:spcPct val="100000"/>
              </a:lnSpc>
            </a:pPr>
            <a:r>
              <a:rPr sz="819" b="0">
                <a:solidFill>
                  <a:srgbClr val="202020"/>
                </a:solidFill>
                <a:latin typeface="Times New Roman"/>
              </a:rPr>
              <a:t>UART link gives stall and gap_min/max; the 1 Hz PL UDP beacon gives frames, packets, aborts, rows_max, pane_bad and latency. Both read the same counters.</a:t>
            </a:r>
          </a:p>
        </p:txBody>
      </p:sp>
      <p:sp>
        <p:nvSpPr>
          <p:cNvPr id="56" name="TextBox 55"/>
          <p:cNvSpPr txBox="1"/>
          <p:nvPr/>
        </p:nvSpPr>
        <p:spPr>
          <a:xfrm>
            <a:off x="7955279" y="5669280"/>
            <a:ext cx="3931920" cy="182880"/>
          </a:xfrm>
          <a:prstGeom prst="rect">
            <a:avLst/>
          </a:prstGeom>
          <a:noFill/>
        </p:spPr>
        <p:txBody>
          <a:bodyPr wrap="square" lIns="0" rIns="0" tIns="0" bIns="0" anchor="t">
            <a:spAutoFit/>
          </a:bodyPr>
          <a:lstStyle/>
          <a:p>
            <a:pPr algn="l">
              <a:lnSpc>
                <a:spcPct val="100000"/>
              </a:lnSpc>
            </a:pPr>
            <a:r>
              <a:rPr sz="840" b="1">
                <a:solidFill>
                  <a:srgbClr val="7A2D5E"/>
                </a:solidFill>
                <a:latin typeface="Arial"/>
              </a:rPr>
              <a:t>CONCLUSION / NEXT</a:t>
            </a:r>
          </a:p>
        </p:txBody>
      </p:sp>
      <p:sp>
        <p:nvSpPr>
          <p:cNvPr id="57" name="TextBox 56"/>
          <p:cNvSpPr txBox="1"/>
          <p:nvPr/>
        </p:nvSpPr>
        <p:spPr>
          <a:xfrm>
            <a:off x="7955279" y="5897880"/>
            <a:ext cx="3931920" cy="566928"/>
          </a:xfrm>
          <a:prstGeom prst="rect">
            <a:avLst/>
          </a:prstGeom>
          <a:noFill/>
        </p:spPr>
        <p:txBody>
          <a:bodyPr wrap="square" lIns="0" rIns="0" tIns="0" bIns="0" anchor="t">
            <a:spAutoFit/>
          </a:bodyPr>
          <a:lstStyle/>
          <a:p>
            <a:pPr algn="l">
              <a:lnSpc>
                <a:spcPct val="100000"/>
              </a:lnSpc>
            </a:pPr>
            <a:r>
              <a:rPr sz="800" b="0">
                <a:solidFill>
                  <a:srgbClr val="202020"/>
                </a:solidFill>
                <a:latin typeface="Times New Roman"/>
              </a:rPr>
              <a:t>One frame, two panes, one wire-readable account. Next: close RGMII TX hold margin; larger device for higher resolution.</a:t>
            </a:r>
          </a:p>
        </p:txBody>
      </p:sp>
      <p:cxnSp>
        <p:nvCxnSpPr>
          <p:cNvPr id="58" name="Connector 57"/>
          <p:cNvCxnSpPr/>
          <p:nvPr/>
        </p:nvCxnSpPr>
        <p:spPr>
          <a:xfrm>
            <a:off x="274320" y="6565392"/>
            <a:ext cx="11658600" cy="0"/>
          </a:xfrm>
          <a:prstGeom prst="line">
            <a:avLst/>
          </a:prstGeom>
          <a:ln w="8890">
            <a:solidFill>
              <a:srgbClr val="BEBEBE"/>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274320" y="6611112"/>
            <a:ext cx="8961120" cy="164592"/>
          </a:xfrm>
          <a:prstGeom prst="rect">
            <a:avLst/>
          </a:prstGeom>
          <a:noFill/>
        </p:spPr>
        <p:txBody>
          <a:bodyPr wrap="square" lIns="0" rIns="0" tIns="0" bIns="0" anchor="t">
            <a:spAutoFit/>
          </a:bodyPr>
          <a:lstStyle/>
          <a:p>
            <a:pPr algn="l">
              <a:lnSpc>
                <a:spcPct val="100000"/>
              </a:lnSpc>
            </a:pPr>
            <a:r>
              <a:rPr sz="620" b="0">
                <a:solidFill>
                  <a:srgbClr val="5C5C5C"/>
                </a:solidFill>
                <a:latin typeface="Arial"/>
              </a:rPr>
              <a:t>AMD, the AMD Arrow logo and combinations thereof are trademarks of Advanced Micro Devices, Inc. Zynq is a trademark of AMD. All other trademarks are the property of their respective owners.</a:t>
            </a:r>
          </a:p>
        </p:txBody>
      </p:sp>
      <p:pic>
        <p:nvPicPr>
          <p:cNvPr id="60" name="Picture 59" descr="amd_logo_black.png"/>
          <p:cNvPicPr>
            <a:picLocks noChangeAspect="1"/>
          </p:cNvPicPr>
          <p:nvPr/>
        </p:nvPicPr>
        <p:blipFill>
          <a:blip r:embed="rId3"/>
          <a:stretch>
            <a:fillRect/>
          </a:stretch>
        </p:blipFill>
        <p:spPr>
          <a:xfrm>
            <a:off x="11292840" y="6500358"/>
            <a:ext cx="621792" cy="14835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