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6032" y="73152"/>
            <a:ext cx="2926080" cy="164592"/>
          </a:xfrm>
          <a:prstGeom prst="rect">
            <a:avLst/>
          </a:prstGeom>
          <a:noFill/>
        </p:spPr>
        <p:txBody>
          <a:bodyPr wrap="square" lIns="0" rIns="0" tIns="0" bIns="0" anchor="t">
            <a:spAutoFit/>
          </a:bodyPr>
          <a:lstStyle/>
          <a:p>
            <a:pPr algn="l">
              <a:lnSpc>
                <a:spcPct val="100000"/>
              </a:lnSpc>
            </a:pPr>
            <a:r>
              <a:rPr sz="750" b="0">
                <a:solidFill>
                  <a:srgbClr val="5C5C5C"/>
                </a:solidFill>
                <a:latin typeface="Arial"/>
              </a:rPr>
              <a:t>(c) 2026 Uie_Team  |  AMD FPGA Innovation Design Competition</a:t>
            </a:r>
          </a:p>
        </p:txBody>
      </p:sp>
      <p:sp>
        <p:nvSpPr>
          <p:cNvPr id="3" name="TextBox 2"/>
          <p:cNvSpPr txBox="1"/>
          <p:nvPr/>
        </p:nvSpPr>
        <p:spPr>
          <a:xfrm>
            <a:off x="384048" y="301752"/>
            <a:ext cx="7863840" cy="502920"/>
          </a:xfrm>
          <a:prstGeom prst="rect">
            <a:avLst/>
          </a:prstGeom>
          <a:noFill/>
        </p:spPr>
        <p:txBody>
          <a:bodyPr wrap="square" lIns="0" rIns="0" tIns="0" bIns="0" anchor="t">
            <a:spAutoFit/>
          </a:bodyPr>
          <a:lstStyle/>
          <a:p>
            <a:pPr algn="l">
              <a:lnSpc>
                <a:spcPct val="100000"/>
              </a:lnSpc>
            </a:pPr>
            <a:r>
              <a:rPr sz="3100" b="1">
                <a:solidFill>
                  <a:srgbClr val="202020"/>
                </a:solidFill>
                <a:latin typeface="Times New Roman"/>
              </a:rPr>
              <a:t>ONE FRAME. TWO TRUTHS.</a:t>
            </a:r>
          </a:p>
        </p:txBody>
      </p:sp>
      <p:sp>
        <p:nvSpPr>
          <p:cNvPr id="4" name="TextBox 3"/>
          <p:cNvSpPr txBox="1"/>
          <p:nvPr/>
        </p:nvSpPr>
        <p:spPr>
          <a:xfrm>
            <a:off x="402336" y="804672"/>
            <a:ext cx="7772400" cy="274320"/>
          </a:xfrm>
          <a:prstGeom prst="rect">
            <a:avLst/>
          </a:prstGeom>
          <a:noFill/>
        </p:spPr>
        <p:txBody>
          <a:bodyPr wrap="square" lIns="0" rIns="0" tIns="0" bIns="0" anchor="t">
            <a:spAutoFit/>
          </a:bodyPr>
          <a:lstStyle/>
          <a:p>
            <a:pPr algn="l">
              <a:lnSpc>
                <a:spcPct val="100000"/>
              </a:lnSpc>
            </a:pPr>
            <a:r>
              <a:rPr sz="1350" b="0">
                <a:solidFill>
                  <a:srgbClr val="5C5C5C"/>
                </a:solidFill>
                <a:latin typeface="Times New Roman"/>
              </a:rPr>
              <a:t>A full-hardware video node on Zynq-7020</a:t>
            </a:r>
          </a:p>
        </p:txBody>
      </p:sp>
      <p:sp>
        <p:nvSpPr>
          <p:cNvPr id="5" name="TextBox 4"/>
          <p:cNvSpPr txBox="1"/>
          <p:nvPr/>
        </p:nvSpPr>
        <p:spPr>
          <a:xfrm>
            <a:off x="402336" y="1060704"/>
            <a:ext cx="7589520" cy="228600"/>
          </a:xfrm>
          <a:prstGeom prst="rect">
            <a:avLst/>
          </a:prstGeom>
          <a:noFill/>
        </p:spPr>
        <p:txBody>
          <a:bodyPr wrap="square" lIns="0" rIns="0" tIns="0" bIns="0" anchor="t">
            <a:spAutoFit/>
          </a:bodyPr>
          <a:lstStyle/>
          <a:p>
            <a:pPr algn="l">
              <a:lnSpc>
                <a:spcPct val="100000"/>
              </a:lnSpc>
            </a:pPr>
            <a:r>
              <a:rPr sz="1100" b="0">
                <a:solidFill>
                  <a:srgbClr val="7A2D5E"/>
                </a:solidFill>
                <a:latin typeface="Microsoft YaHei"/>
              </a:rPr>
              <a:t>多源视频同帧对照处理系统</a:t>
            </a:r>
          </a:p>
        </p:txBody>
      </p:sp>
      <p:sp>
        <p:nvSpPr>
          <p:cNvPr id="6" name="TextBox 5"/>
          <p:cNvSpPr txBox="1"/>
          <p:nvPr/>
        </p:nvSpPr>
        <p:spPr>
          <a:xfrm>
            <a:off x="402336" y="1307592"/>
            <a:ext cx="7589520" cy="347472"/>
          </a:xfrm>
          <a:prstGeom prst="rect">
            <a:avLst/>
          </a:prstGeom>
          <a:noFill/>
        </p:spPr>
        <p:txBody>
          <a:bodyPr wrap="square" lIns="0" rIns="0" tIns="0" bIns="0" anchor="t">
            <a:spAutoFit/>
          </a:bodyPr>
          <a:lstStyle/>
          <a:p>
            <a:pPr algn="l">
              <a:lnSpc>
                <a:spcPct val="100000"/>
              </a:lnSpc>
            </a:pPr>
            <a:r>
              <a:rPr sz="1050" b="1">
                <a:solidFill>
                  <a:srgbClr val="202020"/>
                </a:solidFill>
                <a:latin typeface="Times New Roman"/>
              </a:rPr>
              <a:t>Team: </a:t>
            </a:r>
            <a:r>
              <a:rPr sz="1050" b="0">
                <a:solidFill>
                  <a:srgbClr val="202020"/>
                </a:solidFill>
                <a:latin typeface="Times New Roman"/>
              </a:rPr>
              <a:t>Uie_Team  ·  Hunan University of Technology (湖南工业大学), Hunan Province</a:t>
            </a:r>
          </a:p>
        </p:txBody>
      </p:sp>
      <p:pic>
        <p:nvPicPr>
          <p:cNvPr id="7" name="Picture 6" descr="hut_emblem.png"/>
          <p:cNvPicPr>
            <a:picLocks noChangeAspect="1"/>
          </p:cNvPicPr>
          <p:nvPr/>
        </p:nvPicPr>
        <p:blipFill>
          <a:blip r:embed="rId2"/>
          <a:stretch>
            <a:fillRect/>
          </a:stretch>
        </p:blipFill>
        <p:spPr>
          <a:xfrm>
            <a:off x="8213326" y="91440"/>
            <a:ext cx="636050" cy="658368"/>
          </a:xfrm>
          <a:prstGeom prst="rect">
            <a:avLst/>
          </a:prstGeom>
        </p:spPr>
      </p:pic>
      <p:sp>
        <p:nvSpPr>
          <p:cNvPr id="8" name="TextBox 7"/>
          <p:cNvSpPr txBox="1"/>
          <p:nvPr/>
        </p:nvSpPr>
        <p:spPr>
          <a:xfrm>
            <a:off x="8869680" y="109728"/>
            <a:ext cx="1243584" cy="237744"/>
          </a:xfrm>
          <a:prstGeom prst="rect">
            <a:avLst/>
          </a:prstGeom>
          <a:noFill/>
        </p:spPr>
        <p:txBody>
          <a:bodyPr wrap="square" lIns="0" rIns="0" tIns="0" bIns="0" anchor="t">
            <a:spAutoFit/>
          </a:bodyPr>
          <a:lstStyle/>
          <a:p>
            <a:pPr algn="l">
              <a:lnSpc>
                <a:spcPct val="100000"/>
              </a:lnSpc>
            </a:pPr>
            <a:r>
              <a:rPr sz="950" b="1">
                <a:solidFill>
                  <a:srgbClr val="7A2D5E"/>
                </a:solidFill>
                <a:latin typeface="Microsoft YaHei"/>
              </a:rPr>
              <a:t>湖南工业大学</a:t>
            </a:r>
          </a:p>
        </p:txBody>
      </p:sp>
      <p:sp>
        <p:nvSpPr>
          <p:cNvPr id="9" name="TextBox 8"/>
          <p:cNvSpPr txBox="1"/>
          <p:nvPr/>
        </p:nvSpPr>
        <p:spPr>
          <a:xfrm>
            <a:off x="8869680" y="365760"/>
            <a:ext cx="1243584" cy="310896"/>
          </a:xfrm>
          <a:prstGeom prst="rect">
            <a:avLst/>
          </a:prstGeom>
          <a:noFill/>
        </p:spPr>
        <p:txBody>
          <a:bodyPr wrap="square" lIns="0" rIns="0" tIns="0" bIns="0" anchor="t">
            <a:spAutoFit/>
          </a:bodyPr>
          <a:lstStyle/>
          <a:p>
            <a:pPr algn="l">
              <a:lnSpc>
                <a:spcPct val="100000"/>
              </a:lnSpc>
            </a:pPr>
            <a:r>
              <a:rPr sz="560" b="1">
                <a:solidFill>
                  <a:srgbClr val="7A2D5E"/>
                </a:solidFill>
                <a:latin typeface="Arial"/>
              </a:rPr>
              <a:t>HUNAN UNIVERSITY
OF TECHNOLOGY</a:t>
            </a:r>
          </a:p>
        </p:txBody>
      </p:sp>
      <p:pic>
        <p:nvPicPr>
          <p:cNvPr id="10" name="Picture 9" descr="amd_logo_black.png"/>
          <p:cNvPicPr>
            <a:picLocks noChangeAspect="1"/>
          </p:cNvPicPr>
          <p:nvPr/>
        </p:nvPicPr>
        <p:blipFill>
          <a:blip r:embed="rId3"/>
          <a:stretch>
            <a:fillRect/>
          </a:stretch>
        </p:blipFill>
        <p:spPr>
          <a:xfrm>
            <a:off x="8211312" y="842051"/>
            <a:ext cx="1143000" cy="272712"/>
          </a:xfrm>
          <a:prstGeom prst="rect">
            <a:avLst/>
          </a:prstGeom>
        </p:spPr>
      </p:pic>
      <p:sp>
        <p:nvSpPr>
          <p:cNvPr id="11" name="TextBox 10"/>
          <p:cNvSpPr txBox="1"/>
          <p:nvPr/>
        </p:nvSpPr>
        <p:spPr>
          <a:xfrm>
            <a:off x="8211312" y="1143000"/>
            <a:ext cx="1143000" cy="182880"/>
          </a:xfrm>
          <a:prstGeom prst="rect">
            <a:avLst/>
          </a:prstGeom>
          <a:noFill/>
        </p:spPr>
        <p:txBody>
          <a:bodyPr wrap="square" lIns="0" rIns="0" tIns="0" bIns="0" anchor="t">
            <a:spAutoFit/>
          </a:bodyPr>
          <a:lstStyle/>
          <a:p>
            <a:pPr algn="l">
              <a:lnSpc>
                <a:spcPct val="100000"/>
              </a:lnSpc>
            </a:pPr>
            <a:r>
              <a:rPr sz="750" b="1">
                <a:solidFill>
                  <a:srgbClr val="5C5C5C"/>
                </a:solidFill>
                <a:latin typeface="Arial"/>
              </a:rPr>
              <a:t>ZYNQ-7020</a:t>
            </a:r>
          </a:p>
        </p:txBody>
      </p:sp>
      <p:pic>
        <p:nvPicPr>
          <p:cNvPr id="12" name="Picture 11" descr="poster_board.jpg"/>
          <p:cNvPicPr>
            <a:picLocks noChangeAspect="1"/>
          </p:cNvPicPr>
          <p:nvPr/>
        </p:nvPicPr>
        <p:blipFill>
          <a:blip r:embed="rId4"/>
          <a:stretch>
            <a:fillRect/>
          </a:stretch>
        </p:blipFill>
        <p:spPr>
          <a:xfrm>
            <a:off x="10195560" y="112268"/>
            <a:ext cx="1737360" cy="1302510"/>
          </a:xfrm>
          <a:prstGeom prst="rect">
            <a:avLst/>
          </a:prstGeom>
        </p:spPr>
      </p:pic>
      <p:sp>
        <p:nvSpPr>
          <p:cNvPr id="13" name="TextBox 12"/>
          <p:cNvSpPr txBox="1"/>
          <p:nvPr/>
        </p:nvSpPr>
        <p:spPr>
          <a:xfrm>
            <a:off x="10149840" y="1481328"/>
            <a:ext cx="1783080" cy="283464"/>
          </a:xfrm>
          <a:prstGeom prst="rect">
            <a:avLst/>
          </a:prstGeom>
          <a:noFill/>
        </p:spPr>
        <p:txBody>
          <a:bodyPr wrap="square" lIns="0" rIns="0" tIns="0" bIns="0" anchor="t">
            <a:spAutoFit/>
          </a:bodyPr>
          <a:lstStyle/>
          <a:p>
            <a:pPr algn="l">
              <a:lnSpc>
                <a:spcPct val="100000"/>
              </a:lnSpc>
            </a:pPr>
            <a:r>
              <a:rPr sz="720" b="0">
                <a:solidFill>
                  <a:srgbClr val="5C5C5C"/>
                </a:solidFill>
                <a:latin typeface="Arial"/>
              </a:rPr>
              <a:t>RK-ZYNQ7020-F V1.0
xc7z020clg484-2 · 1 GbE</a:t>
            </a:r>
          </a:p>
        </p:txBody>
      </p:sp>
      <p:cxnSp>
        <p:nvCxnSpPr>
          <p:cNvPr id="14" name="Connector 13"/>
          <p:cNvCxnSpPr/>
          <p:nvPr/>
        </p:nvCxnSpPr>
        <p:spPr>
          <a:xfrm>
            <a:off x="274320" y="1719072"/>
            <a:ext cx="11658600" cy="0"/>
          </a:xfrm>
          <a:prstGeom prst="line">
            <a:avLst/>
          </a:prstGeom>
          <a:ln w="15240">
            <a:solidFill>
              <a:srgbClr val="3C3C3C"/>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74320" y="1847088"/>
            <a:ext cx="3456432" cy="347472"/>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lIns="109728" rIns="73152" tIns="0" bIns="0"/>
          <a:lstStyle/>
          <a:p>
            <a:pPr algn="l"/>
            <a:r>
              <a:rPr sz="1500" b="1">
                <a:solidFill>
                  <a:srgbClr val="FFFFFF"/>
                </a:solidFill>
                <a:latin typeface="Arial Black"/>
              </a:rPr>
              <a:t>INTRODUCTION</a:t>
            </a:r>
          </a:p>
        </p:txBody>
      </p:sp>
      <p:sp>
        <p:nvSpPr>
          <p:cNvPr id="16" name="TextBox 15"/>
          <p:cNvSpPr txBox="1"/>
          <p:nvPr/>
        </p:nvSpPr>
        <p:spPr>
          <a:xfrm>
            <a:off x="310896" y="2267712"/>
            <a:ext cx="3383280" cy="1417320"/>
          </a:xfrm>
          <a:prstGeom prst="rect">
            <a:avLst/>
          </a:prstGeom>
          <a:noFill/>
        </p:spPr>
        <p:txBody>
          <a:bodyPr wrap="square" lIns="0" rIns="0" tIns="0" bIns="0" anchor="t">
            <a:spAutoFit/>
          </a:bodyPr>
          <a:lstStyle/>
          <a:p>
            <a:pPr algn="l">
              <a:lnSpc>
                <a:spcPct val="100000"/>
              </a:lnSpc>
            </a:pPr>
            <a:r>
              <a:rPr sz="919" b="0">
                <a:solidFill>
                  <a:srgbClr val="202020"/>
                </a:solidFill>
                <a:latin typeface="Times New Roman"/>
              </a:rPr>
              <a:t>Remote video nodes usually have one Ethernet cable and no PC. The operator must know whether the frame arrived, whether processing took effect, and how old the picture is. This node answers all three from one frame: 512x300 RGB565 enters RGMII, is reassembled and committed to DDR only after three gates, then read back once for both panes. The left pane is the original; the right pane is the same frame after geometry and a fixed 15-cycle effect chain. The seam is a per-pixel decision, not two screenshots.</a:t>
            </a:r>
          </a:p>
        </p:txBody>
      </p:sp>
      <p:pic>
        <p:nvPicPr>
          <p:cNvPr id="17" name="Picture 16" descr="poster_frame_split.png"/>
          <p:cNvPicPr>
            <a:picLocks noChangeAspect="1"/>
          </p:cNvPicPr>
          <p:nvPr/>
        </p:nvPicPr>
        <p:blipFill>
          <a:blip r:embed="rId5"/>
          <a:stretch>
            <a:fillRect/>
          </a:stretch>
        </p:blipFill>
        <p:spPr>
          <a:xfrm>
            <a:off x="413735" y="3657600"/>
            <a:ext cx="3058728" cy="1792224"/>
          </a:xfrm>
          <a:prstGeom prst="rect">
            <a:avLst/>
          </a:prstGeom>
        </p:spPr>
      </p:pic>
      <p:sp>
        <p:nvSpPr>
          <p:cNvPr id="18" name="TextBox 17"/>
          <p:cNvSpPr txBox="1"/>
          <p:nvPr/>
        </p:nvSpPr>
        <p:spPr>
          <a:xfrm>
            <a:off x="310896" y="5477256"/>
            <a:ext cx="3383280" cy="237744"/>
          </a:xfrm>
          <a:prstGeom prst="rect">
            <a:avLst/>
          </a:prstGeom>
          <a:noFill/>
        </p:spPr>
        <p:txBody>
          <a:bodyPr wrap="square" lIns="0" rIns="0" tIns="0" bIns="0" anchor="t">
            <a:spAutoFit/>
          </a:bodyPr>
          <a:lstStyle/>
          <a:p>
            <a:pPr algn="l">
              <a:lnSpc>
                <a:spcPct val="100000"/>
              </a:lnSpc>
            </a:pPr>
            <a:r>
              <a:rPr sz="720" b="0">
                <a:solidFill>
                  <a:srgbClr val="5C5C5C"/>
                </a:solidFill>
                <a:latin typeface="Arial"/>
              </a:rPr>
              <a:t>Same 512x300 frame  ·  seam 50/50  ·  right pane 0 deg + Sobel</a:t>
            </a:r>
          </a:p>
        </p:txBody>
      </p:sp>
      <p:sp>
        <p:nvSpPr>
          <p:cNvPr id="19" name="TextBox 18"/>
          <p:cNvSpPr txBox="1"/>
          <p:nvPr/>
        </p:nvSpPr>
        <p:spPr>
          <a:xfrm>
            <a:off x="310896" y="5733288"/>
            <a:ext cx="3383280" cy="182880"/>
          </a:xfrm>
          <a:prstGeom prst="rect">
            <a:avLst/>
          </a:prstGeom>
          <a:noFill/>
        </p:spPr>
        <p:txBody>
          <a:bodyPr wrap="square" lIns="0" rIns="0" tIns="0" bIns="0" anchor="t">
            <a:spAutoFit/>
          </a:bodyPr>
          <a:lstStyle/>
          <a:p>
            <a:pPr algn="l">
              <a:lnSpc>
                <a:spcPct val="100000"/>
              </a:lnSpc>
            </a:pPr>
            <a:r>
              <a:rPr sz="900" b="1">
                <a:solidFill>
                  <a:srgbClr val="7A2D5E"/>
                </a:solidFill>
                <a:latin typeface="Times New Roman"/>
              </a:rPr>
              <a:t>Key technical issues addressed:</a:t>
            </a:r>
          </a:p>
        </p:txBody>
      </p:sp>
      <p:sp>
        <p:nvSpPr>
          <p:cNvPr id="20" name="TextBox 19"/>
          <p:cNvSpPr txBox="1"/>
          <p:nvPr/>
        </p:nvSpPr>
        <p:spPr>
          <a:xfrm>
            <a:off x="310896" y="5925312"/>
            <a:ext cx="3383280" cy="585216"/>
          </a:xfrm>
          <a:prstGeom prst="rect">
            <a:avLst/>
          </a:prstGeom>
          <a:noFill/>
        </p:spPr>
        <p:txBody>
          <a:bodyPr wrap="square" lIns="0" rIns="0" tIns="0" bIns="0" anchor="t">
            <a:spAutoFit/>
          </a:bodyPr>
          <a:lstStyle/>
          <a:p>
            <a:pPr algn="l">
              <a:lnSpc>
                <a:spcPct val="90000"/>
              </a:lnSpc>
            </a:pPr>
            <a:r>
              <a:rPr sz="670" b="0">
                <a:solidFill>
                  <a:srgbClr val="202020"/>
                </a:solidFill>
                <a:latin typeface="Times New Roman"/>
              </a:rPr>
              <a:t>1. 1 GbE UDP: offset reassembly; commit = bytes + 300 rows + no bad packet.
2. Same-frame A/B: one coordinate stream, one row map, 15-cycle chain.
3. Telemetry: aborts, rows_max, gaps, pane_bad; drop 1/100 reddens it.</a:t>
            </a:r>
          </a:p>
        </p:txBody>
      </p:sp>
      <p:sp>
        <p:nvSpPr>
          <p:cNvPr id="21" name="Rectangle 20"/>
          <p:cNvSpPr/>
          <p:nvPr/>
        </p:nvSpPr>
        <p:spPr>
          <a:xfrm>
            <a:off x="3931920" y="1847088"/>
            <a:ext cx="3794760" cy="347472"/>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lIns="109728" rIns="73152" tIns="0" bIns="0"/>
          <a:lstStyle/>
          <a:p>
            <a:pPr algn="l"/>
            <a:r>
              <a:rPr sz="1500" b="1">
                <a:solidFill>
                  <a:srgbClr val="FFFFFF"/>
                </a:solidFill>
                <a:latin typeface="Arial Black"/>
              </a:rPr>
              <a:t>SYSTEM ARCHITECTURE</a:t>
            </a:r>
          </a:p>
        </p:txBody>
      </p:sp>
      <p:pic>
        <p:nvPicPr>
          <p:cNvPr id="22" name="Picture 21" descr="poster_arch.png"/>
          <p:cNvPicPr>
            <a:picLocks noChangeAspect="1"/>
          </p:cNvPicPr>
          <p:nvPr/>
        </p:nvPicPr>
        <p:blipFill>
          <a:blip r:embed="rId6"/>
          <a:stretch>
            <a:fillRect/>
          </a:stretch>
        </p:blipFill>
        <p:spPr>
          <a:xfrm>
            <a:off x="3943694" y="2267712"/>
            <a:ext cx="3771211" cy="1709928"/>
          </a:xfrm>
          <a:prstGeom prst="rect">
            <a:avLst/>
          </a:prstGeom>
        </p:spPr>
      </p:pic>
      <p:sp>
        <p:nvSpPr>
          <p:cNvPr id="23" name="TextBox 22"/>
          <p:cNvSpPr txBox="1"/>
          <p:nvPr/>
        </p:nvSpPr>
        <p:spPr>
          <a:xfrm>
            <a:off x="3931920" y="4005072"/>
            <a:ext cx="3794760" cy="219456"/>
          </a:xfrm>
          <a:prstGeom prst="rect">
            <a:avLst/>
          </a:prstGeom>
          <a:noFill/>
        </p:spPr>
        <p:txBody>
          <a:bodyPr wrap="square" lIns="0" rIns="0" tIns="0" bIns="0" anchor="t">
            <a:spAutoFit/>
          </a:bodyPr>
          <a:lstStyle/>
          <a:p>
            <a:pPr algn="l">
              <a:lnSpc>
                <a:spcPct val="100000"/>
              </a:lnSpc>
            </a:pPr>
            <a:r>
              <a:rPr sz="700" b="0">
                <a:solidFill>
                  <a:srgbClr val="5C5C5C"/>
                </a:solidFill>
                <a:latin typeface="Arial"/>
              </a:rPr>
              <a:t>RGMII -&gt; UDP -&gt; DDR ping-pong -&gt; geometry -&gt; effects -&gt; A/B seam -&gt; HDMI</a:t>
            </a:r>
          </a:p>
        </p:txBody>
      </p:sp>
      <p:sp>
        <p:nvSpPr>
          <p:cNvPr id="24" name="Rounded Rectangle 23"/>
          <p:cNvSpPr/>
          <p:nvPr/>
        </p:nvSpPr>
        <p:spPr>
          <a:xfrm>
            <a:off x="3931920" y="4389120"/>
            <a:ext cx="3794760" cy="1005840"/>
          </a:xfrm>
          <a:prstGeom prst="roundRect">
            <a:avLst>
              <a:gd name="adj" fmla="val 8000"/>
            </a:avLst>
          </a:prstGeom>
          <a:solidFill>
            <a:srgbClr val="FFFFFF"/>
          </a:solidFill>
          <a:ln w="1143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54864"/>
          <a:lstStyle/>
          <a:p>
            <a:pPr algn="ctr">
              <a:spcAft>
                <a:spcPts val="300"/>
              </a:spcAft>
            </a:pPr>
            <a:r>
              <a:rPr sz="1050" b="1">
                <a:solidFill>
                  <a:srgbClr val="7A2D5E"/>
                </a:solidFill>
                <a:latin typeface="Arial"/>
              </a:rPr>
              <a:t>THREE-GATE COMMIT</a:t>
            </a:r>
          </a:p>
          <a:p>
            <a:pPr>
              <a:lnSpc>
                <a:spcPct val="100000"/>
              </a:lnSpc>
            </a:pPr>
            <a:r>
              <a:rPr sz="850">
                <a:solidFill>
                  <a:srgbClr val="202020"/>
                </a:solidFill>
                <a:latin typeface="Times New Roman"/>
              </a:rPr>
              <a:t>A frame is committed only when 307200 bytes arrived, all 300 source rows were written, and no packet failed. Otherwise the last good frame stays on screen and aborts + rows_max expose the reason.</a:t>
            </a:r>
          </a:p>
        </p:txBody>
      </p:sp>
      <p:sp>
        <p:nvSpPr>
          <p:cNvPr id="25" name="Rounded Rectangle 24"/>
          <p:cNvSpPr/>
          <p:nvPr/>
        </p:nvSpPr>
        <p:spPr>
          <a:xfrm>
            <a:off x="3931920" y="5504688"/>
            <a:ext cx="3794760" cy="1005840"/>
          </a:xfrm>
          <a:prstGeom prst="roundRect">
            <a:avLst>
              <a:gd name="adj" fmla="val 8000"/>
            </a:avLst>
          </a:prstGeom>
          <a:solidFill>
            <a:srgbClr val="FFFFFF"/>
          </a:solidFill>
          <a:ln w="1143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54864"/>
          <a:lstStyle/>
          <a:p>
            <a:pPr algn="ctr">
              <a:spcAft>
                <a:spcPts val="300"/>
              </a:spcAft>
            </a:pPr>
            <a:r>
              <a:rPr sz="1050" b="1">
                <a:solidFill>
                  <a:srgbClr val="7A2D5E"/>
                </a:solidFill>
                <a:latin typeface="Arial"/>
              </a:rPr>
              <a:t>SAME-FRAME A/B</a:t>
            </a:r>
          </a:p>
          <a:p>
            <a:pPr>
              <a:lnSpc>
                <a:spcPct val="100000"/>
              </a:lnSpc>
            </a:pPr>
            <a:r>
              <a:rPr sz="850">
                <a:solidFill>
                  <a:srgbClr val="202020"/>
                </a:solidFill>
                <a:latin typeface="Times New Roman"/>
              </a:rPr>
              <a:t>Original and processed panes share one source-coordinate stream, one row map and one 15-cycle effect chain. The seam is a per-pixel select; rotation or stacked effects cannot make the panes disagree.</a:t>
            </a:r>
          </a:p>
        </p:txBody>
      </p:sp>
      <p:sp>
        <p:nvSpPr>
          <p:cNvPr id="26" name="Rectangle 25"/>
          <p:cNvSpPr/>
          <p:nvPr/>
        </p:nvSpPr>
        <p:spPr>
          <a:xfrm>
            <a:off x="7909560" y="1847088"/>
            <a:ext cx="4023360" cy="347472"/>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lIns="109728" rIns="73152" tIns="0" bIns="0"/>
          <a:lstStyle/>
          <a:p>
            <a:pPr algn="l"/>
            <a:r>
              <a:rPr sz="1500" b="1">
                <a:solidFill>
                  <a:srgbClr val="FFFFFF"/>
                </a:solidFill>
                <a:latin typeface="Arial Black"/>
              </a:rPr>
              <a:t>RESULT</a:t>
            </a:r>
          </a:p>
        </p:txBody>
      </p:sp>
      <p:sp>
        <p:nvSpPr>
          <p:cNvPr id="27" name="TextBox 26"/>
          <p:cNvSpPr txBox="1"/>
          <p:nvPr/>
        </p:nvSpPr>
        <p:spPr>
          <a:xfrm>
            <a:off x="7955279" y="2267712"/>
            <a:ext cx="3931920" cy="502920"/>
          </a:xfrm>
          <a:prstGeom prst="rect">
            <a:avLst/>
          </a:prstGeom>
          <a:noFill/>
        </p:spPr>
        <p:txBody>
          <a:bodyPr wrap="square" lIns="0" rIns="0" tIns="0" bIns="0" anchor="t">
            <a:spAutoFit/>
          </a:bodyPr>
          <a:lstStyle/>
          <a:p>
            <a:pPr algn="l">
              <a:lnSpc>
                <a:spcPct val="100000"/>
              </a:lnSpc>
            </a:pPr>
            <a:r>
              <a:rPr sz="919" b="0">
                <a:solidFill>
                  <a:srgbClr val="202020"/>
                </a:solidFill>
                <a:latin typeface="Times New Roman"/>
              </a:rPr>
              <a:t>RGMII -&gt; HDMI entirely in PL; PS only control, SD playback and telemetry. 1024x600 at 59.5 Hz, 1 GbE UDP ingest.</a:t>
            </a:r>
          </a:p>
        </p:txBody>
      </p:sp>
      <p:sp>
        <p:nvSpPr>
          <p:cNvPr id="28" name="Rectangle 27"/>
          <p:cNvSpPr/>
          <p:nvPr/>
        </p:nvSpPr>
        <p:spPr>
          <a:xfrm>
            <a:off x="7955279" y="2880360"/>
            <a:ext cx="3931920" cy="2560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10144" y="2916936"/>
            <a:ext cx="1234440" cy="182880"/>
          </a:xfrm>
          <a:prstGeom prst="rect">
            <a:avLst/>
          </a:prstGeom>
          <a:noFill/>
        </p:spPr>
        <p:txBody>
          <a:bodyPr wrap="square" lIns="0" rIns="0" tIns="0" bIns="0" anchor="t">
            <a:spAutoFit/>
          </a:bodyPr>
          <a:lstStyle/>
          <a:p>
            <a:pPr algn="l">
              <a:lnSpc>
                <a:spcPct val="100000"/>
              </a:lnSpc>
            </a:pPr>
            <a:r>
              <a:rPr sz="819" b="1">
                <a:solidFill>
                  <a:srgbClr val="5C5C5C"/>
                </a:solidFill>
                <a:latin typeface="Arial"/>
              </a:rPr>
              <a:t>Setup WNS</a:t>
            </a:r>
          </a:p>
        </p:txBody>
      </p:sp>
      <p:sp>
        <p:nvSpPr>
          <p:cNvPr id="30" name="TextBox 29"/>
          <p:cNvSpPr txBox="1"/>
          <p:nvPr/>
        </p:nvSpPr>
        <p:spPr>
          <a:xfrm>
            <a:off x="9235440" y="2916936"/>
            <a:ext cx="2578608" cy="182880"/>
          </a:xfrm>
          <a:prstGeom prst="rect">
            <a:avLst/>
          </a:prstGeom>
          <a:noFill/>
        </p:spPr>
        <p:txBody>
          <a:bodyPr wrap="square" lIns="0" rIns="0" tIns="0" bIns="0" anchor="t">
            <a:spAutoFit/>
          </a:bodyPr>
          <a:lstStyle/>
          <a:p>
            <a:pPr algn="l">
              <a:lnSpc>
                <a:spcPct val="100000"/>
              </a:lnSpc>
            </a:pPr>
            <a:r>
              <a:rPr sz="860" b="0">
                <a:solidFill>
                  <a:srgbClr val="202020"/>
                </a:solidFill>
                <a:latin typeface="Arial"/>
              </a:rPr>
              <a:t>1.341 ns  ·  0 failing endpoints</a:t>
            </a:r>
          </a:p>
        </p:txBody>
      </p:sp>
      <p:sp>
        <p:nvSpPr>
          <p:cNvPr id="31" name="Rectangle 30"/>
          <p:cNvSpPr/>
          <p:nvPr/>
        </p:nvSpPr>
        <p:spPr>
          <a:xfrm>
            <a:off x="7955279" y="3154679"/>
            <a:ext cx="393192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10144" y="3191256"/>
            <a:ext cx="1234440" cy="182880"/>
          </a:xfrm>
          <a:prstGeom prst="rect">
            <a:avLst/>
          </a:prstGeom>
          <a:noFill/>
        </p:spPr>
        <p:txBody>
          <a:bodyPr wrap="square" lIns="0" rIns="0" tIns="0" bIns="0" anchor="t">
            <a:spAutoFit/>
          </a:bodyPr>
          <a:lstStyle/>
          <a:p>
            <a:pPr algn="l">
              <a:lnSpc>
                <a:spcPct val="100000"/>
              </a:lnSpc>
            </a:pPr>
            <a:r>
              <a:rPr sz="819" b="1">
                <a:solidFill>
                  <a:srgbClr val="5C5C5C"/>
                </a:solidFill>
                <a:latin typeface="Arial"/>
              </a:rPr>
              <a:t>Hold WHS</a:t>
            </a:r>
          </a:p>
        </p:txBody>
      </p:sp>
      <p:sp>
        <p:nvSpPr>
          <p:cNvPr id="33" name="TextBox 32"/>
          <p:cNvSpPr txBox="1"/>
          <p:nvPr/>
        </p:nvSpPr>
        <p:spPr>
          <a:xfrm>
            <a:off x="9235440" y="3191256"/>
            <a:ext cx="2578608" cy="182880"/>
          </a:xfrm>
          <a:prstGeom prst="rect">
            <a:avLst/>
          </a:prstGeom>
          <a:noFill/>
        </p:spPr>
        <p:txBody>
          <a:bodyPr wrap="square" lIns="0" rIns="0" tIns="0" bIns="0" anchor="t">
            <a:spAutoFit/>
          </a:bodyPr>
          <a:lstStyle/>
          <a:p>
            <a:pPr algn="l">
              <a:lnSpc>
                <a:spcPct val="100000"/>
              </a:lnSpc>
            </a:pPr>
            <a:r>
              <a:rPr sz="860" b="0">
                <a:solidFill>
                  <a:srgbClr val="202020"/>
                </a:solidFill>
                <a:latin typeface="Arial"/>
              </a:rPr>
              <a:t>0.025 ns  ·  positive margin</a:t>
            </a:r>
          </a:p>
        </p:txBody>
      </p:sp>
      <p:sp>
        <p:nvSpPr>
          <p:cNvPr id="34" name="Rectangle 33"/>
          <p:cNvSpPr/>
          <p:nvPr/>
        </p:nvSpPr>
        <p:spPr>
          <a:xfrm>
            <a:off x="7955279" y="3429000"/>
            <a:ext cx="3931920" cy="2560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10144" y="3465576"/>
            <a:ext cx="1234440" cy="182880"/>
          </a:xfrm>
          <a:prstGeom prst="rect">
            <a:avLst/>
          </a:prstGeom>
          <a:noFill/>
        </p:spPr>
        <p:txBody>
          <a:bodyPr wrap="square" lIns="0" rIns="0" tIns="0" bIns="0" anchor="t">
            <a:spAutoFit/>
          </a:bodyPr>
          <a:lstStyle/>
          <a:p>
            <a:pPr algn="l">
              <a:lnSpc>
                <a:spcPct val="100000"/>
              </a:lnSpc>
            </a:pPr>
            <a:r>
              <a:rPr sz="819" b="1">
                <a:solidFill>
                  <a:srgbClr val="5C5C5C"/>
                </a:solidFill>
                <a:latin typeface="Arial"/>
              </a:rPr>
              <a:t>BRAM</a:t>
            </a:r>
          </a:p>
        </p:txBody>
      </p:sp>
      <p:sp>
        <p:nvSpPr>
          <p:cNvPr id="36" name="TextBox 35"/>
          <p:cNvSpPr txBox="1"/>
          <p:nvPr/>
        </p:nvSpPr>
        <p:spPr>
          <a:xfrm>
            <a:off x="9235440" y="3465576"/>
            <a:ext cx="2578608" cy="182880"/>
          </a:xfrm>
          <a:prstGeom prst="rect">
            <a:avLst/>
          </a:prstGeom>
          <a:noFill/>
        </p:spPr>
        <p:txBody>
          <a:bodyPr wrap="square" lIns="0" rIns="0" tIns="0" bIns="0" anchor="t">
            <a:spAutoFit/>
          </a:bodyPr>
          <a:lstStyle/>
          <a:p>
            <a:pPr algn="l">
              <a:lnSpc>
                <a:spcPct val="100000"/>
              </a:lnSpc>
            </a:pPr>
            <a:r>
              <a:rPr sz="860" b="0">
                <a:solidFill>
                  <a:srgbClr val="202020"/>
                </a:solidFill>
                <a:latin typeface="Arial"/>
              </a:rPr>
              <a:t>70.0%  ·  98 / 140 tiles</a:t>
            </a:r>
          </a:p>
        </p:txBody>
      </p:sp>
      <p:sp>
        <p:nvSpPr>
          <p:cNvPr id="37" name="Rectangle 36"/>
          <p:cNvSpPr/>
          <p:nvPr/>
        </p:nvSpPr>
        <p:spPr>
          <a:xfrm>
            <a:off x="7955279" y="3703320"/>
            <a:ext cx="393192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10144" y="3739896"/>
            <a:ext cx="1234440" cy="182880"/>
          </a:xfrm>
          <a:prstGeom prst="rect">
            <a:avLst/>
          </a:prstGeom>
          <a:noFill/>
        </p:spPr>
        <p:txBody>
          <a:bodyPr wrap="square" lIns="0" rIns="0" tIns="0" bIns="0" anchor="t">
            <a:spAutoFit/>
          </a:bodyPr>
          <a:lstStyle/>
          <a:p>
            <a:pPr algn="l">
              <a:lnSpc>
                <a:spcPct val="100000"/>
              </a:lnSpc>
            </a:pPr>
            <a:r>
              <a:rPr sz="819" b="1">
                <a:solidFill>
                  <a:srgbClr val="5C5C5C"/>
                </a:solidFill>
                <a:latin typeface="Arial"/>
              </a:rPr>
              <a:t>8 s stream</a:t>
            </a:r>
          </a:p>
        </p:txBody>
      </p:sp>
      <p:sp>
        <p:nvSpPr>
          <p:cNvPr id="39" name="TextBox 38"/>
          <p:cNvSpPr txBox="1"/>
          <p:nvPr/>
        </p:nvSpPr>
        <p:spPr>
          <a:xfrm>
            <a:off x="9235440" y="3739896"/>
            <a:ext cx="2578608" cy="182880"/>
          </a:xfrm>
          <a:prstGeom prst="rect">
            <a:avLst/>
          </a:prstGeom>
          <a:noFill/>
        </p:spPr>
        <p:txBody>
          <a:bodyPr wrap="square" lIns="0" rIns="0" tIns="0" bIns="0" anchor="t">
            <a:spAutoFit/>
          </a:bodyPr>
          <a:lstStyle/>
          <a:p>
            <a:pPr algn="l">
              <a:lnSpc>
                <a:spcPct val="100000"/>
              </a:lnSpc>
            </a:pPr>
            <a:r>
              <a:rPr sz="860" b="0">
                <a:solidFill>
                  <a:srgbClr val="202020"/>
                </a:solidFill>
                <a:latin typeface="Arial"/>
              </a:rPr>
              <a:t>241 frames  ·  29.95 fps</a:t>
            </a:r>
          </a:p>
        </p:txBody>
      </p:sp>
      <p:sp>
        <p:nvSpPr>
          <p:cNvPr id="40" name="Rectangle 39"/>
          <p:cNvSpPr/>
          <p:nvPr/>
        </p:nvSpPr>
        <p:spPr>
          <a:xfrm>
            <a:off x="7955279" y="3977639"/>
            <a:ext cx="3931920" cy="2560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10144" y="4014215"/>
            <a:ext cx="1234440" cy="182880"/>
          </a:xfrm>
          <a:prstGeom prst="rect">
            <a:avLst/>
          </a:prstGeom>
          <a:noFill/>
        </p:spPr>
        <p:txBody>
          <a:bodyPr wrap="square" lIns="0" rIns="0" tIns="0" bIns="0" anchor="t">
            <a:spAutoFit/>
          </a:bodyPr>
          <a:lstStyle/>
          <a:p>
            <a:pPr algn="l">
              <a:lnSpc>
                <a:spcPct val="100000"/>
              </a:lnSpc>
            </a:pPr>
            <a:r>
              <a:rPr sz="819" b="1">
                <a:solidFill>
                  <a:srgbClr val="5C5C5C"/>
                </a:solidFill>
                <a:latin typeface="Arial"/>
              </a:rPr>
              <a:t>UART battery</a:t>
            </a:r>
          </a:p>
        </p:txBody>
      </p:sp>
      <p:sp>
        <p:nvSpPr>
          <p:cNvPr id="42" name="TextBox 41"/>
          <p:cNvSpPr txBox="1"/>
          <p:nvPr/>
        </p:nvSpPr>
        <p:spPr>
          <a:xfrm>
            <a:off x="9235440" y="4014215"/>
            <a:ext cx="2578608" cy="182880"/>
          </a:xfrm>
          <a:prstGeom prst="rect">
            <a:avLst/>
          </a:prstGeom>
          <a:noFill/>
        </p:spPr>
        <p:txBody>
          <a:bodyPr wrap="square" lIns="0" rIns="0" tIns="0" bIns="0" anchor="t">
            <a:spAutoFit/>
          </a:bodyPr>
          <a:lstStyle/>
          <a:p>
            <a:pPr algn="l">
              <a:lnSpc>
                <a:spcPct val="100000"/>
              </a:lnSpc>
            </a:pPr>
            <a:r>
              <a:rPr sz="860" b="0">
                <a:solidFill>
                  <a:srgbClr val="202020"/>
                </a:solidFill>
                <a:latin typeface="Arial"/>
              </a:rPr>
              <a:t>105 commands  ·  PASS</a:t>
            </a:r>
          </a:p>
        </p:txBody>
      </p:sp>
      <p:sp>
        <p:nvSpPr>
          <p:cNvPr id="43" name="Rectangle 42"/>
          <p:cNvSpPr/>
          <p:nvPr/>
        </p:nvSpPr>
        <p:spPr>
          <a:xfrm>
            <a:off x="7955279" y="4251960"/>
            <a:ext cx="393192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10144" y="4288536"/>
            <a:ext cx="1234440" cy="182880"/>
          </a:xfrm>
          <a:prstGeom prst="rect">
            <a:avLst/>
          </a:prstGeom>
          <a:noFill/>
        </p:spPr>
        <p:txBody>
          <a:bodyPr wrap="square" lIns="0" rIns="0" tIns="0" bIns="0" anchor="t">
            <a:spAutoFit/>
          </a:bodyPr>
          <a:lstStyle/>
          <a:p>
            <a:pPr algn="l">
              <a:lnSpc>
                <a:spcPct val="100000"/>
              </a:lnSpc>
            </a:pPr>
            <a:r>
              <a:rPr sz="819" b="1">
                <a:solidFill>
                  <a:srgbClr val="5C5C5C"/>
                </a:solidFill>
                <a:latin typeface="Arial"/>
              </a:rPr>
              <a:t>QSPI cold boot</a:t>
            </a:r>
          </a:p>
        </p:txBody>
      </p:sp>
      <p:sp>
        <p:nvSpPr>
          <p:cNvPr id="45" name="TextBox 44"/>
          <p:cNvSpPr txBox="1"/>
          <p:nvPr/>
        </p:nvSpPr>
        <p:spPr>
          <a:xfrm>
            <a:off x="9235440" y="4288536"/>
            <a:ext cx="2578608" cy="182880"/>
          </a:xfrm>
          <a:prstGeom prst="rect">
            <a:avLst/>
          </a:prstGeom>
          <a:noFill/>
        </p:spPr>
        <p:txBody>
          <a:bodyPr wrap="square" lIns="0" rIns="0" tIns="0" bIns="0" anchor="t">
            <a:spAutoFit/>
          </a:bodyPr>
          <a:lstStyle/>
          <a:p>
            <a:pPr algn="l">
              <a:lnSpc>
                <a:spcPct val="100000"/>
              </a:lnSpc>
            </a:pPr>
            <a:r>
              <a:rPr sz="860" b="0">
                <a:solidFill>
                  <a:srgbClr val="202020"/>
                </a:solidFill>
                <a:latin typeface="Arial"/>
              </a:rPr>
              <a:t>DONE / EOS  ·  no CRC error</a:t>
            </a:r>
          </a:p>
        </p:txBody>
      </p:sp>
      <p:sp>
        <p:nvSpPr>
          <p:cNvPr id="46" name="Rectangle 45"/>
          <p:cNvSpPr/>
          <p:nvPr/>
        </p:nvSpPr>
        <p:spPr>
          <a:xfrm>
            <a:off x="7955279" y="4526279"/>
            <a:ext cx="3931920" cy="256032"/>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10144" y="4562855"/>
            <a:ext cx="1234440" cy="182880"/>
          </a:xfrm>
          <a:prstGeom prst="rect">
            <a:avLst/>
          </a:prstGeom>
          <a:noFill/>
        </p:spPr>
        <p:txBody>
          <a:bodyPr wrap="square" lIns="0" rIns="0" tIns="0" bIns="0" anchor="t">
            <a:spAutoFit/>
          </a:bodyPr>
          <a:lstStyle/>
          <a:p>
            <a:pPr algn="l">
              <a:lnSpc>
                <a:spcPct val="100000"/>
              </a:lnSpc>
            </a:pPr>
            <a:r>
              <a:rPr sz="819" b="1">
                <a:solidFill>
                  <a:srgbClr val="5C5C5C"/>
                </a:solidFill>
                <a:latin typeface="Arial"/>
              </a:rPr>
              <a:t>Fault injection</a:t>
            </a:r>
          </a:p>
        </p:txBody>
      </p:sp>
      <p:sp>
        <p:nvSpPr>
          <p:cNvPr id="48" name="TextBox 47"/>
          <p:cNvSpPr txBox="1"/>
          <p:nvPr/>
        </p:nvSpPr>
        <p:spPr>
          <a:xfrm>
            <a:off x="9235440" y="4562855"/>
            <a:ext cx="2578608" cy="182880"/>
          </a:xfrm>
          <a:prstGeom prst="rect">
            <a:avLst/>
          </a:prstGeom>
          <a:noFill/>
        </p:spPr>
        <p:txBody>
          <a:bodyPr wrap="square" lIns="0" rIns="0" tIns="0" bIns="0" anchor="t">
            <a:spAutoFit/>
          </a:bodyPr>
          <a:lstStyle/>
          <a:p>
            <a:pPr algn="l">
              <a:lnSpc>
                <a:spcPct val="100000"/>
              </a:lnSpc>
            </a:pPr>
            <a:r>
              <a:rPr sz="860" b="0">
                <a:solidFill>
                  <a:srgbClr val="202020"/>
                </a:solidFill>
                <a:latin typeface="Arial"/>
              </a:rPr>
              <a:t>22.0 / 0 / 18.9 fps  ·  PASS</a:t>
            </a:r>
          </a:p>
        </p:txBody>
      </p:sp>
      <p:sp>
        <p:nvSpPr>
          <p:cNvPr id="49" name="TextBox 48"/>
          <p:cNvSpPr txBox="1"/>
          <p:nvPr/>
        </p:nvSpPr>
        <p:spPr>
          <a:xfrm>
            <a:off x="7955279" y="5010912"/>
            <a:ext cx="3931920" cy="201168"/>
          </a:xfrm>
          <a:prstGeom prst="rect">
            <a:avLst/>
          </a:prstGeom>
          <a:noFill/>
        </p:spPr>
        <p:txBody>
          <a:bodyPr wrap="square" lIns="0" rIns="0" tIns="0" bIns="0" anchor="t">
            <a:spAutoFit/>
          </a:bodyPr>
          <a:lstStyle/>
          <a:p>
            <a:pPr algn="l">
              <a:lnSpc>
                <a:spcPct val="100000"/>
              </a:lnSpc>
            </a:pPr>
            <a:r>
              <a:rPr sz="1050" b="1">
                <a:solidFill>
                  <a:srgbClr val="7A2D5E"/>
                </a:solidFill>
                <a:latin typeface="Arial Black"/>
              </a:rPr>
              <a:t>OBSERVABILITY</a:t>
            </a:r>
          </a:p>
        </p:txBody>
      </p:sp>
      <p:sp>
        <p:nvSpPr>
          <p:cNvPr id="50" name="TextBox 49"/>
          <p:cNvSpPr txBox="1"/>
          <p:nvPr/>
        </p:nvSpPr>
        <p:spPr>
          <a:xfrm>
            <a:off x="7955279" y="5248656"/>
            <a:ext cx="3931920" cy="621792"/>
          </a:xfrm>
          <a:prstGeom prst="rect">
            <a:avLst/>
          </a:prstGeom>
          <a:noFill/>
        </p:spPr>
        <p:txBody>
          <a:bodyPr wrap="square" lIns="0" rIns="0" tIns="0" bIns="0" anchor="t">
            <a:spAutoFit/>
          </a:bodyPr>
          <a:lstStyle/>
          <a:p>
            <a:pPr algn="l">
              <a:lnSpc>
                <a:spcPct val="100000"/>
              </a:lnSpc>
            </a:pPr>
            <a:r>
              <a:rPr sz="860" b="0">
                <a:solidFill>
                  <a:srgbClr val="202020"/>
                </a:solidFill>
                <a:latin typeface="Times New Roman"/>
              </a:rPr>
              <a:t>link / 1 Hz UDP telemetry: aborts, rows_max, stall, gap_min/max and pane_bad. The same counters are readable over UART, JTAG and the wire.</a:t>
            </a:r>
          </a:p>
        </p:txBody>
      </p:sp>
      <p:sp>
        <p:nvSpPr>
          <p:cNvPr id="51" name="Rounded Rectangle 50"/>
          <p:cNvSpPr/>
          <p:nvPr/>
        </p:nvSpPr>
        <p:spPr>
          <a:xfrm>
            <a:off x="7955279" y="5989320"/>
            <a:ext cx="3931920" cy="384048"/>
          </a:xfrm>
          <a:prstGeom prst="roundRect">
            <a:avLst>
              <a:gd name="adj" fmla="val 15000"/>
            </a:avLst>
          </a:prstGeom>
          <a:solidFill>
            <a:srgbClr val="F5ECF1"/>
          </a:solidFill>
          <a:ln w="11430">
            <a:solidFill>
              <a:srgbClr val="7A2D5E"/>
            </a:solidFill>
          </a:ln>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900" b="1">
                <a:solidFill>
                  <a:srgbClr val="7A2D5E"/>
                </a:solidFill>
                <a:latin typeface="Arial"/>
              </a:rPr>
              <a:t>DROP 1 IN 100  -&gt;  ABORTS RISE  -&gt;  RECOVERY</a:t>
            </a:r>
          </a:p>
        </p:txBody>
      </p:sp>
      <p:cxnSp>
        <p:nvCxnSpPr>
          <p:cNvPr id="52" name="Connector 51"/>
          <p:cNvCxnSpPr/>
          <p:nvPr/>
        </p:nvCxnSpPr>
        <p:spPr>
          <a:xfrm>
            <a:off x="274320" y="6565392"/>
            <a:ext cx="11658600" cy="0"/>
          </a:xfrm>
          <a:prstGeom prst="line">
            <a:avLst/>
          </a:prstGeom>
          <a:ln w="8890">
            <a:solidFill>
              <a:srgbClr val="BEBEBE"/>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74320" y="6611112"/>
            <a:ext cx="8961120" cy="164592"/>
          </a:xfrm>
          <a:prstGeom prst="rect">
            <a:avLst/>
          </a:prstGeom>
          <a:noFill/>
        </p:spPr>
        <p:txBody>
          <a:bodyPr wrap="square" lIns="0" rIns="0" tIns="0" bIns="0" anchor="t">
            <a:spAutoFit/>
          </a:bodyPr>
          <a:lstStyle/>
          <a:p>
            <a:pPr algn="l">
              <a:lnSpc>
                <a:spcPct val="100000"/>
              </a:lnSpc>
            </a:pPr>
            <a:r>
              <a:rPr sz="620" b="0">
                <a:solidFill>
                  <a:srgbClr val="5C5C5C"/>
                </a:solidFill>
                <a:latin typeface="Arial"/>
              </a:rPr>
              <a:t>AMD, the AMD Arrow logo and combinations thereof are trademarks of Advanced Micro Devices, Inc. Zynq is a trademark of AMD. All other trademarks are the property of their respective owners.</a:t>
            </a:r>
          </a:p>
        </p:txBody>
      </p:sp>
      <p:pic>
        <p:nvPicPr>
          <p:cNvPr id="54" name="Picture 53" descr="amd_logo_black.png"/>
          <p:cNvPicPr>
            <a:picLocks noChangeAspect="1"/>
          </p:cNvPicPr>
          <p:nvPr/>
        </p:nvPicPr>
        <p:blipFill>
          <a:blip r:embed="rId3"/>
          <a:stretch>
            <a:fillRect/>
          </a:stretch>
        </p:blipFill>
        <p:spPr>
          <a:xfrm>
            <a:off x="11292840" y="6500358"/>
            <a:ext cx="621792" cy="1483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